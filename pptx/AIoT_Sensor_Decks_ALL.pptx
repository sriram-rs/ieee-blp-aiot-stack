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 id="363" r:id="rId115"/>
    <p:sldId id="364" r:id="rId116"/>
    <p:sldId id="365" r:id="rId117"/>
    <p:sldId id="366" r:id="rId118"/>
    <p:sldId id="367" r:id="rId119"/>
    <p:sldId id="368" r:id="rId120"/>
    <p:sldId id="369" r:id="rId121"/>
    <p:sldId id="370" r:id="rId122"/>
    <p:sldId id="371" r:id="rId123"/>
    <p:sldId id="372" r:id="rId124"/>
    <p:sldId id="373" r:id="rId125"/>
    <p:sldId id="374" r:id="rId126"/>
    <p:sldId id="375" r:id="rId127"/>
    <p:sldId id="376" r:id="rId128"/>
    <p:sldId id="377" r:id="rId129"/>
    <p:sldId id="378" r:id="rId130"/>
    <p:sldId id="379" r:id="rId131"/>
    <p:sldId id="380" r:id="rId132"/>
    <p:sldId id="381" r:id="rId133"/>
    <p:sldId id="382" r:id="rId134"/>
    <p:sldId id="383" r:id="rId135"/>
    <p:sldId id="384" r:id="rId136"/>
    <p:sldId id="385" r:id="rId137"/>
    <p:sldId id="386" r:id="rId138"/>
    <p:sldId id="387" r:id="rId139"/>
    <p:sldId id="388" r:id="rId140"/>
    <p:sldId id="389" r:id="rId141"/>
    <p:sldId id="390" r:id="rId142"/>
    <p:sldId id="391" r:id="rId143"/>
    <p:sldId id="392" r:id="rId144"/>
    <p:sldId id="393" r:id="rId145"/>
    <p:sldId id="394" r:id="rId146"/>
    <p:sldId id="395" r:id="rId147"/>
    <p:sldId id="396" r:id="rId14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notesMaster" Target="notesMasters/notesMaster1.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 Id="rId108" Type="http://schemas.openxmlformats.org/officeDocument/2006/relationships/slide" Target="slides/slide101.xml"/><Relationship Id="rId109" Type="http://schemas.openxmlformats.org/officeDocument/2006/relationships/slide" Target="slides/slide102.xml"/><Relationship Id="rId110" Type="http://schemas.openxmlformats.org/officeDocument/2006/relationships/slide" Target="slides/slide103.xml"/><Relationship Id="rId111" Type="http://schemas.openxmlformats.org/officeDocument/2006/relationships/slide" Target="slides/slide104.xml"/><Relationship Id="rId112" Type="http://schemas.openxmlformats.org/officeDocument/2006/relationships/slide" Target="slides/slide105.xml"/><Relationship Id="rId113" Type="http://schemas.openxmlformats.org/officeDocument/2006/relationships/slide" Target="slides/slide106.xml"/><Relationship Id="rId114" Type="http://schemas.openxmlformats.org/officeDocument/2006/relationships/slide" Target="slides/slide107.xml"/><Relationship Id="rId115" Type="http://schemas.openxmlformats.org/officeDocument/2006/relationships/slide" Target="slides/slide108.xml"/><Relationship Id="rId116" Type="http://schemas.openxmlformats.org/officeDocument/2006/relationships/slide" Target="slides/slide109.xml"/><Relationship Id="rId117" Type="http://schemas.openxmlformats.org/officeDocument/2006/relationships/slide" Target="slides/slide110.xml"/><Relationship Id="rId118" Type="http://schemas.openxmlformats.org/officeDocument/2006/relationships/slide" Target="slides/slide111.xml"/><Relationship Id="rId119" Type="http://schemas.openxmlformats.org/officeDocument/2006/relationships/slide" Target="slides/slide112.xml"/><Relationship Id="rId120" Type="http://schemas.openxmlformats.org/officeDocument/2006/relationships/slide" Target="slides/slide113.xml"/><Relationship Id="rId121" Type="http://schemas.openxmlformats.org/officeDocument/2006/relationships/slide" Target="slides/slide114.xml"/><Relationship Id="rId122" Type="http://schemas.openxmlformats.org/officeDocument/2006/relationships/slide" Target="slides/slide115.xml"/><Relationship Id="rId123" Type="http://schemas.openxmlformats.org/officeDocument/2006/relationships/slide" Target="slides/slide116.xml"/><Relationship Id="rId124" Type="http://schemas.openxmlformats.org/officeDocument/2006/relationships/slide" Target="slides/slide117.xml"/><Relationship Id="rId125" Type="http://schemas.openxmlformats.org/officeDocument/2006/relationships/slide" Target="slides/slide118.xml"/><Relationship Id="rId126" Type="http://schemas.openxmlformats.org/officeDocument/2006/relationships/slide" Target="slides/slide119.xml"/><Relationship Id="rId127" Type="http://schemas.openxmlformats.org/officeDocument/2006/relationships/slide" Target="slides/slide120.xml"/><Relationship Id="rId128" Type="http://schemas.openxmlformats.org/officeDocument/2006/relationships/slide" Target="slides/slide121.xml"/><Relationship Id="rId129" Type="http://schemas.openxmlformats.org/officeDocument/2006/relationships/slide" Target="slides/slide122.xml"/><Relationship Id="rId130" Type="http://schemas.openxmlformats.org/officeDocument/2006/relationships/slide" Target="slides/slide123.xml"/><Relationship Id="rId131" Type="http://schemas.openxmlformats.org/officeDocument/2006/relationships/slide" Target="slides/slide124.xml"/><Relationship Id="rId132" Type="http://schemas.openxmlformats.org/officeDocument/2006/relationships/slide" Target="slides/slide125.xml"/><Relationship Id="rId133" Type="http://schemas.openxmlformats.org/officeDocument/2006/relationships/slide" Target="slides/slide126.xml"/><Relationship Id="rId134" Type="http://schemas.openxmlformats.org/officeDocument/2006/relationships/slide" Target="slides/slide127.xml"/><Relationship Id="rId135" Type="http://schemas.openxmlformats.org/officeDocument/2006/relationships/slide" Target="slides/slide128.xml"/><Relationship Id="rId136" Type="http://schemas.openxmlformats.org/officeDocument/2006/relationships/slide" Target="slides/slide129.xml"/><Relationship Id="rId137" Type="http://schemas.openxmlformats.org/officeDocument/2006/relationships/slide" Target="slides/slide130.xml"/><Relationship Id="rId138" Type="http://schemas.openxmlformats.org/officeDocument/2006/relationships/slide" Target="slides/slide131.xml"/><Relationship Id="rId139" Type="http://schemas.openxmlformats.org/officeDocument/2006/relationships/slide" Target="slides/slide132.xml"/><Relationship Id="rId140" Type="http://schemas.openxmlformats.org/officeDocument/2006/relationships/slide" Target="slides/slide133.xml"/><Relationship Id="rId141" Type="http://schemas.openxmlformats.org/officeDocument/2006/relationships/slide" Target="slides/slide134.xml"/><Relationship Id="rId142" Type="http://schemas.openxmlformats.org/officeDocument/2006/relationships/slide" Target="slides/slide135.xml"/><Relationship Id="rId143" Type="http://schemas.openxmlformats.org/officeDocument/2006/relationships/slide" Target="slides/slide136.xml"/><Relationship Id="rId144" Type="http://schemas.openxmlformats.org/officeDocument/2006/relationships/slide" Target="slides/slide137.xml"/><Relationship Id="rId145" Type="http://schemas.openxmlformats.org/officeDocument/2006/relationships/slide" Target="slides/slide138.xml"/><Relationship Id="rId146" Type="http://schemas.openxmlformats.org/officeDocument/2006/relationships/slide" Target="slides/slide139.xml"/><Relationship Id="rId147" Type="http://schemas.openxmlformats.org/officeDocument/2006/relationships/slide" Target="slides/slide140.xml"/><Relationship Id="rId148" Type="http://schemas.openxmlformats.org/officeDocument/2006/relationships/slide" Target="slides/slide14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9.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3.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4.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5.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6.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7.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8.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9.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0.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3.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4.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5.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6.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7.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8.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9.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0.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Think of the last time you looked at a thermometer. You read the number, you decided, maybe you switched the fan on. That is the old way: a person reads a number, a person decides. This course flips it. An AI watches this temperature for you, all day and all night, and it can act on what it sees: switch the fan, raise an alert, or simply make a note. This is not the AI as a helper you ask questions when you are stuck. The AI is the one on duty. It can look up what this sensor is, ask it questions, and double-check its answers, continuously, without getting bored at 3 am. And that changes your role. You are no longer the person who reads the display. You are the person who designs how the watcher thinks. Every deck in this course starts with this same flip, and then asks what this particular sensor contributes to it.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question that decides whether your AI is wise or foolish: what does it know about its own senses? Imagine wearing someone else's glasses without knowing their power. You would see something, and you would trust it far too much. An AI reading a sensor it knows nothing about is in exactly that position. So in this kit, every sensor carries a sensor card: the sensor's ID card, which the AI reads before believing anything. For this thermometer the card says two humble, powerful things. First, trust me between minus 10 and plus 85 degrees; outside that, doubt me. Second, I am honest to about half a degree, and no better. That second line matters daily. When the reading drifts from 25.0 to 25.3, an AI that knows the card shrugs: that could be nothing. An AI without the card would announce a warming trend. Same numbers, completely different wisdom. The difference is what it was told about its senses.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sensor in this course teaches one habit of agentic thinking, and this is the first: predict, then measure. It is the same fun as guessing a cricket score before you check your phone. You commit to a number first, then the truth arrives and grades you. Our AI works the same way. Before the next reading comes in, it says what it expects: this room should be about 26 degrees at 3 pm. Then the sensor answers. If the AI was right, its picture of the room is good. If it was wrong, that is not failure, that is the interesting part: something changed that it did not know about, a window, a crowd, a faulty sensor. And because the card says half a degree of error is normal, the AI never panics over a 0.3 degree wiggle. Notice the split of roles. You design the thinking: what to predict, and what being wrong should trigger. The AI does the watching, every minute, without getting bored. Now let us meet the little chip this all runs 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is the simplest useful question you can ask the physical world? "How warm is it here?" The DS18B20 answers that question in the most convenient form possible: as a finished digital number. Inside the chip, a silicon junction produces a voltage that changes with temperature in a highly predictable way. The chip measures that voltage with its own analog-to-digital converter, applies factory calibration, and hands you a temperature reading in degrees Celsius. You never see a raw voltage, and you never apply a conversion formula, which removes an entire class of student errors before they can happen. Communication happens over a single data line using the One-Wire protocol, so the whole sensor needs only three wires. Every DS18B20 also carries a unique 64-bit serial number, which means several sensors can share the same wire and still be told apart. That one feature, unique addressing on a shared bus, is what makes multi-point temperature mapping possible later in this deck. In the kit, the raw chip lives inside a packaged enclosure with a keyed connector, and it pairs with Sensor Interface Module SIM1, the One-Wire variant. The SIM powers the sensor, runs the bus as master, decodes the bit stream, and broadcasts the temperature as a BLE advertisement that any gateway in range can hear.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Where would you actually meet this sensor? Almost everywhere temperature matters but extreme precision does not. The DS18B20 is a workhorse of cold chain monitoring: refrigerators, freezers, cold rooms, and refrigerated trucks all use sensors of exactly this class to prove that food and medicine stayed within safe limits. It appears in homes, hospitals, server rooms, and stadiums, and a waterproof variant of the same chip lets you immerse it in non-corrosive liquids, so aquariums, water heaters, and fermentation tanks are on the list too. Just as important is knowing where it stops. The accuracy is half a degree, and the ceiling is 125 degrees Celsius. If you need a tenth of a degree in an industrial process, the standard answer is the Pt-100, a platinum resistance detector with roughly ±0.15 degree accuracy and a range up to about 600 degrees. If you need to look inside a furnace at over a thousand degrees, you need a thermocouple. Choosing among them is an engineering decision driven by range, accuracy, environment, mechanical constraints, long-term stability, and cost. This kit deliberately gives you the affordable, digital, good-enough sensor, because for climate and building work, half a degree resolved reliably at many points beats a tenth of a degree at one expensive point.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machine-readable heart of this sensor, the same facts that live in its sensor card on the gateway. The measurand is temperature, over a full range of minus 55 to plus 125 degrees Celsius. Accuracy is plus or minus half a degree, but only between minus 10 and plus 85 degrees: outside that band the error widens, and the sensor card carries that accuracy-versus-range function so an agent reasoning about your data knows exactly how much to trust a reading near the edges. So a reported 25.0 means the true value lies between 24.5 and 25.5. Resolution is configurable from 9 to 12 bits; at 12 bits the step size is one sixteenth of a degree, which is finer than the accuracy, a distinction students should internalise: resolution is not accuracy. The raw chip ships in a TO-92 package about the size of a small transistor, and a waterproof stainless-steel probe variant exists for liquids. The output is fully digital over One-Wire, and the bus supports multiple sensors on the same line. The final packaged sensor dimensions and the keyed connector pinout are placeholders here and will be supplied with the production packaging documents. On the kit side, this sensor connects to SIM1, the One-Wire Sensor Interface Module, which acts as bus master and broadcasts each reading over BLE with a sequence counter and a monotonic tick.</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does a fifty-rupee-class thermometer matter for climate change? Because temperature is the anchor variable of the entire subject, and official weather stations average over kilometres while people live in streets, rooftops, and rooms. With several DS18B20 sensors a student can map an urban heat island directly: measure a shaded park, a paved courtyard, and a tin-roofed room at the same hour and see differences of several degrees that a city-level forecast hides. Because the SIM runs from a power bank, these campaigns can run for days in places with no mains power. On the mitigation side, temperature is how you catch energy waste: a classroom cooled to 19 degrees when 24 would do, or an air conditioner that burns power while barely lowering the room temperature, both show up as measured facts once you log inside and outside temperatures continuously. On the adaptation side, heat stress is already a public-health problem, and continuous measurement in classrooms, clinics, and homes tells you when a space becomes unsafe, not just uncomfortable. And in the cold chain, temperature logging prevents spoilage of food and vaccines, which is climate action twice over: wasted food is wasted embedded energy and methane in landfill. Every other sensor in this kit will, at some point, be interpreted alongside a temperature trace.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temperature number alone describes; paired with the right second sensor it explains. Pair the DS18B20 with the SCT-013 current clamp and you can ask the question every household wonders about: is my air conditioner actually efficient? The temperature pair, one sensor inside and one outside, tells you the cooling delivered; the current clamp tells you the energy spent; the ratio is a measured efficiency, not a nameplate claim. Pair it with the reed switch on a refrigerator door and a rising temperature stops being a mystery: temperature rising with the door open means someone left it open; rising with the door closed means the compressor or the power has failed, and those two situations demand completely different actions. Pair it with the SCD41 and you can separate "this room is hot" from "this room is hot because it is packed with people," which changes what the HVAC should do. And because One-Wire supports daisy-chaining, two or three DS18B20s on one SIM give you gradients across a single space. The agent is what makes fusion practical for a non-technical student: through the MCP server it discovers both sensors, pulls time-aligned series reconciled on the monotonic tick, and reasons across them. You ask the question in plain language; the model does the joining.</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capstone that anchors this sensor is capstone C1: is this room healthy, and is the HVAC earning its energy bill? You instrument one real room. A DS18B20 pair measures indoor and outdoor temperature; the SCD41 measures CO2; the PIR watches for motion; the SCT-013 clamps the HVAC supply; a reed switch watches the door or window. The experiment begins with capture_experiment, which records all streams under one dataset handle. The contradiction you must resolve is built in: the room can read a comfortable 24 degrees while CO2 climbs past 1400 ppm, meaning the air conditioner is recirculating stale air. Comfort and health are different claims, and the data will force you to separate them. There is a second contradiction waiting: the energy log will show the compressor running in an empty room, because schedules are not occupancy. The deliverable is a decision, not a chart: a deterministic rule, authored with the model at design time and deployed through deploy_rule with human approval, that sets back cooling when the room empties and flags ventilation when CO2 crosses threshold. The agent orchestrates the analysis: it discovers the sensors, aligns the series on tick_ms, quantifies the waste in measured kilowatt-hours, and drafts the rule. You judge it, correct it, and commit it. That final step, human judgment over model output, is the habit this course exists to build.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lunch, a classroom slowly turns stuffy. Nobody notices while it happens; people just feel sleepy, and eventually someone opens a window. That is the old way: humans sensing air with their own comfort, and reacting late. The new way puts an AI on air duty. This sensor reports temperature, humidity, pressure, and the chemistry of the air many times a minute, and the AI watches that stream continuously. It notices the slow slide toward stuffiness half an hour before anyone yawns, and it can act: nudge a fan, open a vent, or alert the caretaker. Notice again that this is not an assistant waiting for your question. Nobody asks "is the air fine?" at the right moment; that is exactly the problem. The watcher must be on duty all the time, and the watcher must be designed. What it should watch, when it should act, and how sure it must be first: those choices are yours. This deck is about giving it good senses for air.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surprise: there is already an AI inside this sensor. The BME688 smells the air. A tiny program inside it, trained by its maker Bosch, turns that smell into an air quality score and an estimated CO2 number. Estimated is the key word. The chip does not count CO2 molecules; it guesses the level from the smells it detects. A guess can be useful, and it can also be wrong, for example when someone opens a bottle of sanitiser nearby and the chip smells alcohol. So the honesty facts our AI must know are these: temperature, humidity, and pressure from this chip are measured, with known error. The air quality score and the CO2 figure are opinions. That distinction is written on the sensor card, the sensor's ID card that the AI reads. An AI that knows which numbers are opinions stays honest about them. An AI that does not will state a guess with full confidence, and you will believe it. What it is told is up to you.</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pattern this sensor teaches: Adjudicating Two Witnesses. Imagine two friends tell you different stories about the same event. You do not split the difference; you ask who was actually there. Sensors deserve the same treatment. Two devices in this kit will speak about CO2 in a room. The BME688 estimates it from smells. The SCD41, which you will meet later, actually counts CO2 molecules with light. When they disagree, averaging would be a mistake. The right move is to judge: the SCD41 was there; believe it, and treat the disagreement itself as a clue. Maybe fresh paint or a cleaning spray is in the room, and the BME688 is telling you that in its own way. Disagreement is information, not error. Here is the split of roles, and it repeats in every deck: you write the judging rules once, deciding which witness outranks which and when. The AI then applies those rules every minute, tirelessly, on live data. With both witnesses in mind, let us open up the chip itself.</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Can one chip smaller than a grain of rice describe the air in a room? The BME688 comes close. It packs four sensing functions into a package about three millimetres on a side: temperature, relative humidity, barometric pressure, and gas. The first three use well-understood micro-machined structures. The gas sensor is the interesting one. A tiny plate inside the chip is heated to a few hundred degrees, and its surface is coated with a metal oxide. When volatile organic compounds, the gases released by paints, cleaning agents, cooking, and human breath, touch that hot surface, they react with the oxide and change its electrical conductivity. The chip reports that as a gas resistance value. Raw resistance is hard to interpret on its own, because it also depends on temperature and humidity, so Bosch supplies a software library called BSEC that applies corrections and outputs friendly quantities: an Indoor Air Quality index, an estimated CO2 level called eCO2, and a breath-VOC equivalent. Keep the word "estimated" in mind; we will return to it, because it is the most important lesson this sensor teaches. In the kit the BME688 connects over the I2C bus to SIM2, where it can share the same two wires with the SCD41 and the VEML7700. The SIM runs the Bosch algorithms and broadcasts the corrected values over BLE.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is this sensor's day job? Mostly, telling buildings about their own air. Air purifiers use chips of this family to decide when to speed up the fan. Smart thermostats use the temperature and humidity channels for comfort control. Weather enthusiasts use the pressure channel, because a falling pressure trend over a few hours is still one of the most reliable short-term storm signals available without a satellite. The gas channel earns its keep in scenarios where "something is in the air" matters more than knowing exactly what: solvent fumes in a workshop, spoiled food in a pantry, smoke-adjacent compounds before an alarm would trigger. There is also a genuinely modern capability here: the BME688's gas sensor can be operated with varying heater temperature profiles, and Bosch's AI-Studio tool lets you train a small machine-learning model to recognise specific smell signatures, distinguishing, say, fresh coffee from burnt coffee. That makes it one of the few sensors in this kit with a learnable front end. For our purposes the headline applications are indoor air quality and environmental context: it is the kit's general-purpose "state of the air" instrument, providing the temperature, humidity, and pressure corrections that several other measurements in this course quietly depend on.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technical card for the BME688 is longer than most because it reports many quantities, and they do not all deserve equal trust. The directly measured channels are solid: temperature from minus 40 to plus 85 degrees with roughly ±1 degree accuracy, humidity across the full range with about ±3 percent accuracy, and pressure from 300 to 1100 hectopascals with ±0.6 hectopascal accuracy, good enough to resolve a two-storey height change. The gas channel reports resistance in ohms, and the BSEC library converts that into an IAQ index from 0 to 500, an eCO2 value in ppm, and a breath-VOC equivalent. Here is the line on this slide that matters most: eCO2 is estimated, not measured. The chip cannot see CO2 molecules at all; it infers a plausible CO2 level from VOC patterns, on the assumption that people are the dominant source of both. When that assumption fails, and it often does, eCO2 is wrong with full confidence. The kit deliberately includes the SCD41, which measures CO2 photoacoustically, as the truth reference, and comparing the two is a formal validation exercise. The raw chip is a three-millimetre LGA package; it speaks I2C at address 0x76 in our wiring. The packaged sensor dimensions and connector details are placeholders pending the production packaging documents. It connects to SIM2.</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does a room-scale air sensor connect to a planet-scale problem? Through ventilation, heat stress, and smoke. Ventilation first: buildings spend enormous energy conditioning air, and the mitigation question is always "how little outside air can we condition while keeping the air healthy?" Answering it requires continuous air-quality measurement, which is exactly what this chip provides cheaply and everywhere. Heat stress second: climate adaptation planning increasingly runs on the heat index, the combination of temperature and humidity that determines what the human body can actually endure. A dry 38 degrees is survivable; a humid 34 degrees can be dangerous. The BME688 measures both variables in one device, so a student can compute wet-bulb-adjacent stress indicators for a real classroom during a real heat wave. Pressure gives hyperlocal weather context: pressure trends anchor rainfall and storm-onset observations in field campaigns. And the VOC channel has a serious climate role as a smoke-context signal: biomass burning and wildfire smoke carry VOC loads that this sensor responds to minutes before a person complains, useful in regions where crop-residue burning drives seasonal air crises. Finally, in most of the world there is no reference air-quality station within tens of kilometres. A distributed set of these sensors does not replace reference instruments, but it maps where and when the problem is worst, which is where policy starts.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BME688's best fusion partner is the sensor designed to embarrass it. Put the SCD41 beside it and log both: the SCD41 measures CO2 directly, the BME688 estimates eCO2 from VOCs. In a room where people are the only emission source the two track each other respectably. Now open a bottle of hand sanitiser. The eCO2 will spike while the measured CO2 does nothing, and the student has just watched an algorithm confuse alcohol vapour with human breath. That single experiment teaches more about sensor trust than any lecture, and it is why the two sensors share SIM2's I2C bus by design. The PIR adds attribution: if IAQ degrades while the PIR shows an empty room, the source is not people, so look for solvents, cooking, or outdoor infiltration. The SPL sensor refines that further, separating a full silent classroom from a loud empty corridor. The VEML7700 pairing is subtler and elegant: a simultaneous lux drop and humidity rise means fog rather than cloud cover, a distinction one sensor alone cannot make. The agent runs these cross-checks through the MCP tools: validate_reading applies each sensor card's plausibility bounds, and a timeseries query joined on the monotonic tick lets the model say not just "IAQ worsened" but "IAQ worsened, the room was empty, and measured CO2 was flat, so suspect a chemical source."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Capstone C3 asks a deceptively simple question: is this space comfortable by the numbers? Pick a study hall or classroom people actually complain about. Deploy the BME688 for temperature, humidity, pressure, and IAQ; the SCD41 for measured CO2; a DS18B20 as an independent temperature reference; and the SPL sensor for the acoustic dimension of comfort that air sensors ignore. Comfort standards give you the numeric targets: roughly 23 to 26 degrees, 40 to 60 percent humidity, CO2 under 1000 ppm, background noise under about 45 dB for study spaces. The contradiction is guaranteed to appear: some week the BME688's eCO2 will scream while the SCD41 sits at 600 ppm, or the two temperature sensors will disagree by more than their combined error bands because one sits in sunlight. Your job is not to average the disagreement away but to adjudicate it: which sensor do you believe, and what evidence makes that belief defensible? The deliverable is a comfort verdict for the room, per hour of the day, with every claim traceable to data. The agent does the heavy lifting on schedule: a watchdog agent queries the timeseries daily, checks each channel against the standards and the sensor cards, and writes an annotated report. The student's role is the one the model cannot take: deciding whether the verdict survives scrutiny, and what the building should change because of it.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Picture a library. You are deep in a book, perfectly still, and the lights go off. The motion sensor stopped seeing you, and a dumb rule decided the room was empty. Everyone has met this failure; it is the old way in action: sensor flashes, lights on; sensor quiet, lights off; no thinking in between. The new way places an AI between the sensor and the switch. The sensor still only reports motion or no motion; it is a simple device and always will be. The intelligence sits behind it. The AI treats every quiet stretch as a question: does this quiet mean an empty room, or a still person? It considers how long the quiet has lasted, what else it knows about the room, and how costly a wrong guess would be. An exam hall going dark is a very different mistake from a corridor light staying on. Deciding what the AI may conclude from silence, and how carefully it must check first, is your design work. That is what this deck trains.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must the AI know about this sensor before trusting it? One warning above all, and it is written on the sensor card, the sensor's ID card that the AI reads: anyone who stops moving for about thirty seconds becomes invisible. This sensor detects change in body heat, not presence itself. A sleeping baby, a reading student, a lecturer standing still at the board: all invisible. Once the AI knows that, it understands that quiet has three possible meanings, and they call for three different responses. The room may truly be empty. A person may be sitting still. Or the sensor itself may be dead: flat battery, radio out of range. The kit helps with the third case in a simple way: every radio message from the sensor carries a running number, like numbered pages in a notebook. If the numbers stop arriving, the AI knows it lost the sensor, not the people. The middle case, the still person, cannot be solved by this sensor at all. Knowing what your senses cannot tell you is as valuable as knowing what they can, and it sets up the pattern this deck teaches.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pattern here is called Absence of Evidence, short for an old saying: absence of evidence is not evidence of absence. In plain words: no news is not good news, no news is just no news. Think of a baby monitor that has gone quiet. Is the baby asleep, or is the monitor's battery dead? You would never conclude anything from the silence alone; you would peek into the room, or check the monitor's light. Our AI is built to do the same. When the motion sensor goes quiet, the AI stays unsure. It asks a second sensor with different senses: is the CO2 level falling, the way it does when people leave a room? Has the sound level dropped to the building's background hum? Only when the witnesses agree does "empty" become believable, and only then do the lights go off or the cooling wind down. The roles split cleanly again: you decide what silence may mean and what must be checked before acting; the AI does the checking, every time, without shortcuts. Now let us meet the sensor whose silence we have been discussing.</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does an automatic light know you walked in? Almost always, through a PIR sensor, and the P matters: it stands for passive. The sensor transmits nothing. It simply watches the infrared heat that every human body radiates continuously. At its heart is a pyroelectric element, a crystal that generates a tiny charge when the amount of infrared falling on it changes. The key word is changes: a warm room at steady temperature produces no signal at all, but a warm body moving across the field of view produces a clear one. The white plastic dome on top is a Fresnel lens, and it is doing real optical work: it slices the scene into many wedge-shaped zones, so that a person walking across the room passes from zone to zone and creates exactly the fluctuating infrared pattern the crystal detects best. Analog circuitry inside the module amplifies that flicker and compares it against a threshold, and what comes out is the simplest possible sensor output: one digital line that is high when motion is detected and low otherwise. The coverage is a cone of roughly 100 degrees reaching three to seven metres. In this kit the PIR connects to SIM3, the GPIO Sensor Interface Module, which timestamps every edge with an interrupt and broadcasts occupancy events over BLE.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PIR is the default occupancy sensor of the built world. Corridor lights that switch on as you approach, automatic doors, washroom taps and flushes, burglar alarms, and the camera traps that photograph tigers in forest reserves: all PIR. Three properties explain that dominance. It is cheap, it sips microamps of power, and it raises no privacy concerns, because it captures no image and no audio, only the fact that something warm moved. For public institutions, that last property is often the deciding one. Now the honest part, and in this course we lead with limitations rather than hiding them: the PIR detects change in heat, so a person who sits still effectively disappears within about thirty seconds. A library full of motionless readers looks empty to a PIR. The reverse failure also exists: anything that changes the infrared scene can masquerade as a person, a curtain flapping over a sunny window, a hot air vent cycling, a pet. And on very hot days, when skin temperature and air temperature converge, contrast drops and range shortens. None of this makes the PIR a bad sensor. It makes it a fast, cheap motion channel that must be fused with slower, steadier evidence, and that fusion story is exactly why this kit carries the SCD41, the SPL sensor, and the ultrasonic ranger alongside it.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this card carefully, because its most important line is what the sensor does not measure. The measurand is motion events, binary, one or zero. It is not presence, and it is not a head count; treating a PIR as a presence sensor is the single most common misuse, and the sensor card on the gateway states the roughly thirty-second stationary blind spot explicitly so that an agent reasoning over the data inherits that caution automatically. The field of view is a cone of about 100 degrees with a range of three to seven metres, adjustable on most modules along with the output hold time. The module accepts a supply of five to twenty volts and regulates internally, and its output pin swings to about 3.3 volts on detection, directly compatible with the ESP32 on SIM3. Inside the packaged enclosure sits a standard pyroelectric element behind its Fresnel lens on a small carrier board. The packaged dimensions and the keyed connector pinout are placeholders pending production documents. Two integration details matter. First, SIM3 timestamps each rising and falling edge with a hardware interrupt, so the gateway receives events with clean timing for sequence analysis. Second, the packaged design allows several PIR units to be cascaded onto one line, trading spatial resolution for coverage: you learn that something moved in a large area, but not which sensor saw it.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does a motion detector belong in a climate course? Because buildings consume roughly a third of the world's energy, and a large slice of that is spent lighting and cooling rooms with nobody in them. The cheapest, fastest-payback intervention in the entire efficiency toolkit is making energy follow people, and the PIR is the sensor that makes that possible at scale: corridor lighting that activates on approach, HVAC that sets back when a zone goes quiet, escalators that idle until someone arrives. Every one of those saved kilowatt-hours is generation that never happened. The same logic conserves water: presence-gated taps and flushes in public washrooms cut consumption without asking anyone to change behaviour, which is precisely why they work. There is also a field-science role: PIR-triggered camera traps are a standard instrument of biodiversity monitoring, and as habitats shift under warming, those triggers are how researchers track animal movement and migration without a human observer disturbing the scene. In this kit's architecture the PIR plays a specific position: it is the fast trigger. It responds instantly when someone enters, which slower evidence like CO2 cannot do, and then hands off to the slower sensors for confirmation that people are still there. Fast but forgetful, paired with slow but sure: that is the design pattern, and it recurs throughout this course.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fusion pairing for the PIR exists to cover one of its two failure modes: it forgets stationary people, and it can be fooled by heat that is not a person. The SCD41 covers the first: humans exhale CO2 whether or not they move, so rising CO2 confirms that the people the PIR stopped seeing are still there, while the PIR provides the instant response that CO2, with its minutes-long lag, cannot. The SPL sensor covers the same gap at zero latency: a room can be silent and full during an exam, and the combination of no motion, quiet sound, and elevated CO2 identifies exactly that state, which no single sensor can name. The ultrasonic ranger takes it to seat level: mounted overhead, it reads the distance to a chair and knows someone is in it, motion or not. The VEML7700 pairing fixes a different mistake, the lighting rule: motion alone should never switch on a light; motion AND insufficient daylight should, and that one added condition is a measurable energy saving. The reed switch adds narrative order: door opens, then motion begins, tells a different story than motion with no door event, which might be a curtain or a heat vent. The agent assembles all of this through timeseries queries into a single occupancy state machine, and then, in the fault-injection labs, has to catch the day the instructor warms the PIR with a heat source.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Capstone C2 asks the smallest question in the catalog, and answers it with unusual rigor: should the lights be on at all? Instrument one corridor. The PIR provides the motion channel, the VEML7700 measures how much daylight the corridor already has, and the SCT-013 clamps the lighting circuit so that every claim about energy ends in measured kilowatt-hours rather than estimates. Run week one as baseline: lights on their existing schedule or switch, all three sensors logging. The data will hand you both contradictions this project is built around: hours where motion triggered lighting in a corridor already at 600 lux from its windows, and hours where lights burned with no motion at all. Then, with the model as a design-time assistant, author the correct rule: lights on when motion is detected AND lux is below threshold; off after a no-motion timeout OR when daylight suffices. That rule is deliberately deterministic. It deploys to the edge device through deploy_rule with human approval, and it runs with no model in the path, because a corridor light must work the day the internet does not. Run week two under the rule. The deliverable is the difference between the two weeks in measured kilowatt-hours, an honest delivery-ratio account of any BLE packet loss from the seq counters, and a one-page recommendation. The agent's role is analysis and drafting; the judgment, and the deployment decision, stay with you.</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Industrial measurement has a distance problem. The wind sensor is on the roof, the tank sensor is in the basement, and the person who cares about the readings is somewhere else entirely, looking at a chart. In the old way, when that chart goes flat, a person squints at it and guesses: has the wind really stopped for three days, or did something break? Often the guess is wrong, and the error sits in the data for weeks. The new way hands the watching to an AI, and gives it something a chart never shows: knowledge of the wire itself. Industrial sensors of this family speak over long cables, through heat and dust and electrical noise, and things do break out there. So the question this deck opens with is blunt: when the signal says nothing is happening, how does the watcher know whether to believe it? The answer, invented sixty years ago, is one of the cleverest tricks in engineering, and it is why this old standard fits an AI-first course so naturally.</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sixty-year-old trick. These sensors send their reading as a small electric current, between 4 and 20 milliamps. The scale is deliberately strange: zero wind is sent as 4 milliamps, never as 0. Why waste the bottom of the scale? Because then 0 can only mean one thing: the wire is broken. The signal behaves like a guard who calls in every hour even when nothing has happened. As long as the calls come, quiet means quiet. The moment the calls stop, you know the guard is in trouble; you do not conclude the night was peaceful. This rule is exactly what the AI must know, and it is written on the sensor card, the sensor's ID card that the AI reads. With it, the AI can never log a broken cable as three days of calm weather, and never mistake a dead sensor for a quiet world. Without it, the AI would do what people do: look at zero and invent a story. Knowing how a sensor fails is knowledge just as precious as knowing how it measures.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pattern this deck adds: Design for the Failure Path. In one sentence: decide in advance what breaking looks like, so it can never be mistaken for data. Your phone shows the idea nicely. A phone that says no new messages and a phone that is switched off are both silent, but they are two completely different situations, and you can tell them apart at a glance. Good sensor systems are built the same way. The current loop keeps its healthy zero at 4 milliamps, so a broken wire, at 0, looks broken. Our kit copies this idea everywhere: every sensor's radio message carries a small health flag and a message counter, so a dead sensor announces itself instead of quietly disappearing. And the AI is instructed to treat anything out of range as a fault to report, never as a reading to chart. The roles are the usual ones: you design what failure looks like; the AI keeps watch for it, day and night. Ask this of every system you ever build: where is its zero milliamps? Now, the standard itself.</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deck is different from the others: the sensor here is really a language. The 4-20 milliamp current loop is the standard way industrial sensors have reported measurements for over sixty years, and thousands of instruments speak it: pressure transmitters, level gauges, flow meters, and the wind sensor we use as our worked example. The idea is simple and clever. Instead of encoding the measurement as a voltage, the transmitter regulates the current flowing through a two-wire loop. Four milliamps means the bottom of the measurement range; twenty milliamps means the top; everything between is a straight line. Why current instead of voltage? Because a voltage sags along a long cable as the wire's own resistance eats it, but the current in a loop is the same at every point of the loop, whether the cable is two metres or two kilometres. That is why factories trust it. And why start at four rather than zero? Because zero is reserved for disaster. A healthy loop never carries less than 4 mA, so if the receiver ever sees zero, the wire is cut or the transmitter is dead. The signal carries its own health certificate, a live zero. Our example instrument is a cup anemometer: wind spins the cups, and the electronics map 0 to 30 metres per second onto 4 to 20 milliamps for SIM4 to read.</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into any water treatment plant, refinery, dairy, or large building's HVAC plant room, and the instruments on the walls are overwhelmingly 4-20 mA devices. A pressure transmitter on a pipe, a level transmitter on a tank, a flow meter on a main, a pH probe in a treatment basin: different physics at the sensing tip, identical electrical behaviour at the wire. That uniformity is the point. A plant engineer can wire, test, and fault-find any of them the same way, and so can you. Many transmitters go further and draw their own operating power from the same two wires that carry the signal, which is why a single twisted pair can run from a control room to a sensor hundreds of metres away with nothing else attached. Our worked example, the cup anemometer, shows the full chain. Wind pushes three cups mounted on a rotor; the rotation rate is very nearly proportional to wind speed; internal electronics count the rotation and drive the loop so that a dead calm reads 4 mA and a 30 metre-per-second gale reads 20 mA. The instrument needs a 12 volt supply, which the SIM provides from its boost converter. Master this one instrument and you have effectively learned the interface of an entire industry: next semester's flow meter or level transmitter is the same loop with a different label on the range.</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technical card here describes two things at once: the standard and the example instrument. The standard first. The loop carries 4 to 20 milliamps, linearly mapped across whatever range the transmitter defines; the mapping lives in the sensor card on the gateway, so the same SIM4 firmware serves any loop instrument, and adding a new transmitter means publishing a new card, not writing new code. SIM4's front end is a precision burden resistor: the loop current flows through it, producing a voltage the ESP32's ADC can digitise. The firmware then applies the reverse mapping to engineering units. Below 4 mA, the firmware does something important: it refuses to report a number. Current under the live zero means a broken wire, a dead transmitter, or a power fault, so the SIM raises the sensor-fault status bit instead of publishing a plausible-looking wind speed of zero. Silent garbage is exactly what this architecture is designed to prevent. The example instrument is the cup anemometer: range 0 to 30 metres per second, supplied at 12 volts from the SIM's boost converter, accuracy in the region of half a metre per second, to be confirmed against the production datasheet. Mechanical care dominates its error budget: mount it upright and rigid, keep the rotation path clear, and strain-relieve the cable. The packaged dimensions and keyed connector details are placeholders pending production documents.</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Wind measurement earns its climate credentials twice, once as energy and once as weather. On the energy side, every wind turbine ever sited was preceded by an anemometer. Wind power grows with roughly the cube of wind speed, so the difference between a site averaging five metres per second and one averaging six is not twenty percent more energy but closer to seventy. Long-duration, honest wind records are therefore the foundation of wind resource assessment, and a student who runs a semester-long campaign on a rooftop is performing a small version of exactly that study. On the weather side, wind speed is a core variable of every meteorological station, and changing wind patterns are themselves a fingerprint of the changing climate. Wind also shapes adaptation decisions closer to home: it modifies how hot a hot day feels, and it determines when natural ventilation can replace air conditioning, a direct energy decision this kit can inform by fusing wind with indoor sensors. Step back from the anemometer, though, and the larger climate value is the standard itself. Decarbonising industry means instrumenting it, and the instruments of water audits, district cooling, and process efficiency, the flow meters, level gauges, and pressure transmitters, overwhelmingly speak 4-20 mA. A student fluent in this loop can walk into that world and read its dials.</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anemometer alone gives you a wind log; fused with the rest of the kit it gives you a weather understanding. Combine it with the VEML7700 for light and the BME688 for humidity, temperature, and pressure, and four packaged sensors become a genuine campus micro-weather station, logging the variables that matter for both comfort and energy. The pairing with the SEN0193 soil moisture sensor answers a question every gardener asks without instruments: how fast is the ground drying? Wind is a principal driver of evapotranspiration, so a windy dry week and a still humid week demand different irrigation, and an agent that sees both series can schedule watering with reasons attached. Add the JSN-SR04T on a rainwater tank and you can correlate harvest with the weather that produced it. The SCT-013 pairing is the energy-planner's view: log wind resource and electrical demand side by side for a month, and ask whether they rise together or oppose each other, the exact question that determines how useful a small wind installation would be at your site. The agent orchestrates all of this through capture_experiment, recording named multi-sensor datasets aligned on the monotonic tick, and through the deployment journal, where the annotate tool records what the numbers cannot know: the anemometer's mast height, nearby obstructions, the day the mounting was moved.</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Capstone C6 asks a question campus facilities teams answer today by climbing tank ladders: where does the water actually go? The JSN-SR04T measures the overhead tank level continuously, which yields consumption rate. The water level PCB watches for overflow at the tank lip and for flooding at ground level. The SEN0193 tracks irrigation moisture in the planted areas that receive part of the water. The 4-20 mA channel is this deck's contribution, in two stages: today, the anemometer supplies the weather context that drives evaporation and irrigation demand; as the platform grows, the same SIM4 loop interface accepts industrial flow and pressure transmitters, the instruments a real water audit would add next, with nothing but a new sensor card. The contradiction that drives the project: the tank level falls faster than any accounted use explains. Is it a leak, an unmetered draw, evaporation, or a sensor fault? The students must argue from evidence: night-time level decay with pumps off is the classic leak signature. The live-zero discipline runs through the whole exercise: a loop reading below 4 mA, or an ultrasonic echo that never returns, must be treated as a fault to investigate, never as a zero to average in. The agent assembles the water balance sheet from aligned timeseries and drafts the verdict; the class defends or overturns it, and the deliverable is a pump schedule and a leak decision the facilities team could act on Monday morning.</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with a simple change of picture. The old way: somewhere on campus there is a pump room with a meter on the wall, and once a day a person walks in, reads the number, writes it in a register, and leaves. If something went wrong an hour after that visit, nobody knows until tomorrow. That is like checking your letterbox once a day and hoping nothing urgent arrived. The new way: an AI watches that same number for you, all day, every day, and speaks up within seconds when something matters. Nothing about the sensor changed. What changed is who is doing the perceiving. In this course, the sensor is no longer something you read. It is something an AI reads, continuously, on your behalf. And that changes your role too. You are not the meter reader anymore. You are the person who designs the watcher: what it looks at, what it should worry about, and who it should tell. Keep that picture as we look at what the AI needs to do this job well.</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a rule that applies to every AI system you will ever build: the AI is only as good as what it knows about its own senses. So what must it know about this one? Industrial sensors like ours answer through numbered boxes. Box 42 always holds the voltage, and you divide it by one hundred to get volts. It is like a bank form: every box has one printed meaning, fixed for everyone. A scribbled note can be misread; a form cannot. Our platform hands the AI the sensor's ID card, a small file that lists those boxes, the units, the conversion for each number, and what can go wrong. That last part matters just as much. The card tells the AI what a healthy answer looks like, and what a suspicious one looks like: a value frozen at exactly the same number for six hours, or a sensor that stops answering altogether. With the card, the AI can look up what this sensor is, ask it questions, and double-check its answers. Without the card, even the smartest AI is guessing. With it, it never has to.</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sensor in this course teaches one thinking pattern, and this deck's pattern is called Contracts All the Way Down. It means: machines cooperate through written agreements, and so should AIs. Think of the bank form again. When every box has one printed meaning, anyone, human or machine, can fill it or read it without a mistake. This sensor ships with exactly such a form. It is called a register map: a short table saying which box holds moisture, which holds temperature, and how to convert each number. When we ask an AI to write the code that reads this sensor, we give it the table. The AI writes correct code on the first try, because there is nothing to guess. And if the table is missing, a well-built AI stops and asks; it does not invent. That is the habit to carry into every AI project you will ever run: give the machine an agreement, not a puzzle. You design the agreement; the AI does the reading and the watching. Hold onto that as we now meet the sensor family itself.</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sensor we have met so far speaks its own private dialect: One-Wire for the temperature sensor, I2C for the gas sensor, a bare voltage for the analog family. Industry solved this differently. Factories needed hundreds of instruments, spread across large sites, all readable by one controller, and they needed the wiring to survive electrical noise from motors and welders. The answer, standardised decades ago and still dominant today, is RS485 carrying the Modbus RTU protocol. RS485 is the electrical part: two wires carrying a differential signal, meaning the receiver looks at the difference between the wires rather than either wire alone. Noise hits both wires equally, so the difference survives. That single trick lets the same cable run for hundreds of metres through an electrically hostile plant. Modbus is the conversation on top: every device has an address, and inside every device the measurements live in numbered registers, like pigeonholes. A master device asks, "device 5, give me registers 10 and 11," and the slave answers with the bytes. Nothing happens until the master asks. In our kit, the Sensor Interface Module SIM5 plays the master, and whichever industrial instrument you connect plays the slave. Learn this pattern once and you can read thousands of real industrial products.</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do you actually meet on an RS485 bus in the real world? Almost everything industrial. Soil probes for agriculture, panel-mounted energy meters, water flow meters, complete weather stations, variable frequency drives running pumps and fans, level transmitters on tanks. The reason is multi-drop wiring: a single twisted pair can carry up to 32 devices, each answering to its own address, so a building management system reads a whole floor of meters over one cable. Our kit gives you two working examples. The first is the soil probe from the Rev5 kit: stainless steel rods buried in the ground, with conditioning electronics that measure conductivity between the rods and store moisture and soil temperature in registers. The second is the energy meter: it sits in line with an appliance, continuously measuring voltage and current, computing active power, reactive power, apparent power, power factor, and accumulated energy, all held in registers waiting to be read. Notice what both have in common: the hard measurement work happens inside the instrument, and the interface only delivers finished numbers. The practical skill you take away is reading a register map from a datasheet, because that is exactly how a commissioning engineer brings a new instrument online anywhere in the world.</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technical card, in two halves: the shared interface and the instrument-specific numbers. The interface: two signal wires named A and B, half-duplex, meaning devices take turns talking. Our kit runs the common default of 9600 baud. Every Modbus frame ends with a CRC-16 checksum, so a corrupted frame is detected and discarded rather than mistaken for data, a point the validation labs will return to. Now the instruments. The soil probe reports volumetric moisture from 0 to 100%, with accuracy of plus or minus 3% up to 53% moisture and plus or minus 5% above that: an honest datasheet admitting the sensor is better in dry soil than saturated soil. It also reports soil temperature from -40 to +80 degrees Celsius within half a degree, and accepts any supply from 3 to 36 volts. The energy meter is a class 1 instrument, meaning 1% accuracy on energy, and its register map stores most values as two 16-bit words with a documented scale factor, for example divide the raw voltage register by 100 to get volts. The packaged dimensions and the keyed connector details are placeholders for now and will be supplied with the final hardware. SIM5 carries the RS485 transceiver and the master firmware.</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does an industrial interface matter for climate change? Because climate action lives or dies on measurement, and the world's energy and water infrastructure already reports through Modbus registers. Start with mitigation. Buildings cannot cut what they do not meter: the energy meter in this kit is the same class of instrument a facility manager uses to find the air conditioner that runs all night, the corridor lights burning through a sunny afternoon, the phantom loads that add up to 10 or 15% of a campus bill. Every kilowatt-hour you can attribute, you can challenge. Adaptation runs through the soil probe. As rainfall grows less predictable, irrigation must switch from calendar-driven to data-driven, and a buried probe reporting real moisture is what makes that switch trustworthy at farm scale. Then there is the energy transition itself: solar inverters, battery management systems, and EV chargers overwhelmingly expose their data over Modbus, so the register-reading skill you learn here is exactly the skill needed to verify a rooftop solar array is delivering its promised generation. The deeper point: climate claims need audit trails. An instrument with a register map, an accuracy class, and a timestamped log turns a sustainability estimate into evidence.</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most instructive fusion in the whole kit is pairing the RS485 energy meter with the SCT-013 current clamp on the same circuit, because it teaches measurement disagreement. The meter is a class 1 instrument; the clamp is a low-cost transformer whose reading depends on jaw closure and ADC quality. An agent calling query_timeseries on both, reconciling on the tick counter, should see them agree within a few percent. When they drift apart, something real happened: the clamp jaw worked loose, or the load's power factor shifted, since the clamp sees apparent current while the meter computes true power. Deciding which instrument to trust, and why, is the validation skill this course exists to teach. The second fusion is calibration transfer: bury the RS485 soil probe next to the cheap SEN0193 capacitive sensor, let an agent regress one against the other over a week of wetting and drying, and you have promoted a 300-rupee sensor to near-reference behaviour, with the regression stored as an annotation. Add the DS18B20 for ambient temperature context on energy data, and the ultrasonic tank sensor to divide litres delivered by kilowatt-hours consumed, which turns a water pump into an efficiency experiment.</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capstone question: what does a machine's electrical signature say before it fails? Pick a real rotating machine, a water pump or a workshop fan. Instrument it four ways: the RS485 energy meter on its supply, the SCT-013 clamp on the same conductor, the SPL microphone beside it, and a DS18B20 strapped to its casing. Spend the first week building a healthy baseline: what power it draws, how steady the current is, what it sounds like, how warm it runs. Then watch for drift. A failing bearing raises friction, which raises current a few percent at the same load, and raises acoustic level, days or weeks before the casing temperature responds, because heat is the lagging indicator. Here is the contradiction you must resolve: the energy meter, averaging over seconds, may report power as normal while the clamp's raw samples and the microphone both show growing fluctuation. Which evidence wins, and what threshold justifies spending money on maintenance? Your deliverable is a decision, not a dashboard: either a maintenance order with the evidence attached, or a signed statement that the machine is healthy, with the baseline to prove it. A watchdog agent runs the queries nightly, checks drift against the sensor cards, and opens an annotated alert; the decision to act stays human.</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change of perspective this sensor brings. The old way: think of a classroom just after lunch. Everyone feels drowsy, someone finally says "it is stuffy in here", and a window gets opened an hour too late. A person glanced at the room, maybe even at a CO2 display, and judged it by feel. The new way: an AI senses the air itself, continuously, and understands what the air says about people. Every one of us breathes out carbon dioxide all the time, whether we move or not. So a room full of silent students, completely invisible to a motion sensor, is unmistakable in the air. The air is like a guest book that writes itself: everyone who enters leaves a trace in it, without lifting a pen. In this course, you stop being the person who notices stuffiness after it arrives. You become the designer of an AI that reads the air all day and acts before anyone feels drowsy. To design that well, you first need to know what the AI must understand about this particular sensor.</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AI is only as good as what it knows about its own senses, so what must it know about this one? Three honest facts. First, this sensor answers slowly. When people walk in, the CO2 level takes two to five minutes to rise; when they leave, it takes even longer to fall. That is not a defect. Think of an oven thermometer: it lags behind the flame, but it never lies about the heat. Second, the numbers wobble a little. A reading of 650 and a reading of 680 can be the same air; the AI should not treat every small change as an event. Third, some readings are warnings in disguise. A value stuck at exactly 400 for hours usually means the sensor never started properly, not that the air is perfectly fresh. All three facts are written on the sensor's ID card, the small file the AI reads before it trusts a single number. Give an AI the number alone and it will overreact or misread. Give it the habits of the sensor, and it knows what to trust and when to simply wait.</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deck's pattern is called Evidence With Latency. In one line: some witnesses answer slowly, but truthfully. A motion sensor shouts the moment someone walks in, then goes silent when everyone sits still. The air says nothing for a few minutes, then tells the truth: CO2 climbing means people are here, falling means they have left. An AI built badly reads one instant, sees a modest number, and declares the room empty while the level is still rising. An AI built well watches the trend, not the moment. So the design is simple, and worth remembering for life: let the fast signals suggest, and let the slow signal confirm. The AI proposes that people have arrived from motion, then waits for the air to agree before acting on anything expensive, like ventilation. It is the difference between judging dinner by a glance through the oven glass and waiting for the thermometer to speak. You design that patience into the system once; the AI then does the waiting and the watching forever. Now let us meet the instrument that makes patience worthwhile.</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SCD41 measures carbon dioxide, and it measures it directly. That word "directly" is the whole story of this slide. Inside the sensor is a tiny optical cell. An infrared emitter pulses light at a wavelength of 4.26 micrometres, which happens to be a wavelength CO2 molecules absorb strongly. When a CO2 molecule absorbs that light, it heats slightly, and in a sealed cell that heating creates a minute pressure pulse. The SCD41 detects that pulse with a microphone. This is called the photoacoustic NDIR principle: non-dispersive infrared, read acoustically. More CO2 molecules in the cell, stronger pulse, higher reading, in parts per million. Compare this with the BME688 you have already met. The BME688 reports an "equivalent CO2," which it infers from volatile organic compounds on the assumption that people emit both together. That inference is often useful and sometimes wrong. The SCD41 does not infer; it counts the actual gas. For calibration, remember one number: outdoor air everywhere on Earth is currently around 420 parts per million, a number that was 280 before the industrial era and rises every year. Walk the sensor outside and it should read close to 420. That single check tells you it is working.</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is this sensor's day job? Occupancy, done honestly. Every person at rest exhales roughly 200 millilitres of CO2 per minute, and cannot stop. A motion sensor loses a still person after thirty seconds; a camera raises privacy objections; but CO2 accumulates whenever lungs are present, whether the occupants are sleeping, reading, or sitting an exam. A 60 square metre classroom with 30 students climbs to between 1,100 and 1,400 parts per million within 20 to 30 minutes, and falls back toward 450 within 10 to 15 minutes of emptying. Those dynamics are also the sensor's second job: measuring ventilation itself. Clear a room and time how fast CO2 decays, and you have measured the air changes per hour, the number every ventilation standard is written around. The third job is health. During the COVID-19 pandemic, CO2 became the accepted proxy for the fraction of air in your lungs that someone else exhaled first, which is exactly the path aerosols travel. And beyond buildings the applications multiply: greenhouses enrich CO2 to 800-1,200 ppm because plants grow faster, breweries track fermentation by its CO2 output, cold stores watch produce respiration, and confined-space workers check the atmosphere before entry. One gas, many stories, all read from the same register.</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numbers that matter. The SCD41 reads from 400 to 5,000 parts per million, which spans everything from fresh outdoor air to a badly ventilated cellar; it is not a safety instrument for industrial CO2 hazards above that range. Accuracy is plus or minus 40 ppm plus 5% of the reading, so at a classroom level of 1,000 ppm expect the true value within about 90 ppm; ample for every decision this course makes, since the thresholds we care about are hundreds of ppm apart. The raw device is a small surface-mount module about ten millimetres square, capped with a sintered filter that lets gas diffuse in while keeping dust out. That cap must stay unobstructed in our packaging: a sensor that cannot breathe measures its own enclosure. It speaks I2C at address 0x62, and conveniently measures temperature and humidity internally because the physics needs them for compensation. It reports a fresh reading roughly every five seconds. On SIM2 it shares the I2C bus with the BME688 and the VEML7700; each sensor advertises under its own type identifier, so the gateway resolves each card separately. Final packaged dimensions and the keyed connector are placeholders pending the production enclosure. Mount it at breathing height, away from windows, doors, and anyone closer than about half a metre.</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climate case. Buildings take roughly a third of the world's energy, and the largest slice goes to heating, cooling, and ventilating air. The waste is structural: ventilation systems are sized for a full room and usually run as if the room were always full, while audits show typical rooms are occupied less than 40% of their scheduled hours. Demand-controlled ventilation, written into ASHRAE Standard 62.1, fixes this by ventilating in proportion to the people actually present, and CO2 is the signal that makes it possible, cutting 60 to 70% of the over-ventilation waste. It is widely regarded as the highest-return HVAC intervention available in commercial buildings. The physics is one differential equation: the rate of change of concentration equals the generation by N occupants divided by room volume, minus the ventilation rate carrying the excess away. Every term is measurable with this kit, so students can invert the equation and estimate how many people are in a room from gas alone. And there is a second, quieter lesson. Every indoor measurement rides on the outdoor baseline of about 420 ppm, up from 280 before industrialisation, climbing roughly 2 ppm per year. The same sensor that optimises your classroom also lets you touch, directly, the number that defines the climate era. High confidence on the standards and equation; the occupancy percentage is a typical audit figure, moderate confidence.</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sensor in the kit gains more from friends than the SCD41, because its weakness is timing. CO2 takes 2 to 5 minutes to register arrivals and 5 to 15 to register departures. PIR reacts instantly but goes blind to stillness; the sound level sensor reacts instantly but a sleeping room and an empty room are both quiet. Stack them and the blind spots cancel: PIR says something moved, SPL says activity continues, CO2 says how many lungs, sustained. An agent given all three through the MCP tools can run a state machine no single sensor supports, distinguishing an empty room with the fan running from thirty silent students writing an exam. The reed switch adds the confound-killer: if a window opens, CO2 falls without anyone leaving, and every occupancy inference built on gas alone quietly breaks. A window-state bit lets the agent mark those intervals as invalid for headcount, which is precisely the validation habit this course teaches. The DS18B20 supplies the comfort axis, so "occupied and overheating" becomes a detectable state worth acting on. In practice a student asks the agent to capture_experiment across all five streams for a teaching day, then query the aligned series and defend, with evidence, what the room was doing at 2 pm.</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capstone asks one compound question: is this room healthy to occupy, and is the air conditioning earning the energy it burns? You will instrument a real room five ways: the SCD41 for occupancy and air quality, PIR for motion, the DS18B20 for temperature, the SCT-013 clamp on the HVAC supply for measured power, and reed switches on the door and a window. Week one is the baseline: the HVAC runs its existing schedule while you log everything. Week two, you and your agent design a better policy, expressed as a deterministic edge rule and deployed through deploy_rule with instructor approval, so it keeps working when the cloud does not. The contradiction you must resolve is written into the sensors themselves: there will be hours when CO2 says people are present and PIR says nobody is, and hours when CO2 crashes though nobody left. Your agent, holding the reed-switch record, has to adjudicate: still occupants, or an open window flushing the room? Getting that call wrong flips your energy conclusion. The deliverable is a decision backed by two numbers: measured kilowatt-hours in each week, and the fraction of occupied time the room stayed under 1,000 ppm. Either recommend the new policy with its measured saving, or defend the existing one, with the evidence attached and the agent's reasoning trace as an appendix.</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Picture a campus corridor at noon. Sunlight pours through the windows, and every ceiling lamp is burning anyway. Nobody decided that; the lamps are on a schedule, and no person stands there with a light meter asking whether they are needed. That is the old way: light is a number someone could read, occasionally does read, and then forgets. The new way starts with a target. Lighting standards say a corridor needs about three hundred lux to be safe, a classroom five hundred. Once you have a target, every light reading becomes a small decision waiting to happen: is there already enough? On a sunny morning the answer is yes, for free, from the sun. An AI can hold the reading against the target all day long, the way a careful shopkeeper watches the till, and turn the lamps on, off, or partly down as the daylight shifts. A number alone is trivia. A number with a target is a pending decision, and decisions are exactly what AIs are for. Your role in this deck: you define what enough light means, and the AI holds the building to your definition.</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the AI can act on light, it must understand this sensor's character, because an AI is only as good as what it knows about its own senses. Three facts matter. First, the range is enormous: this little chip can register moonlight and also full sunlight, roughly from a thousandth of a lux to over a hundred thousand. One device can judge a dark stairwell and a sunlit atrium. Second, the number is honest but local. The sensor reports the light falling on itself, not on the whole room. It is like a thermometer held in your hand: it tells you the temperature where it is, nothing more. A sensor facing the window and a sensor facing the wall will disagree, and both are right. So where you mount it is part of the design, and that mounting note travels with the sensor's ID card, the small file the AI reads before trusting any reading. Third, some readings are alarms in disguise. Zero lux at noon on an outdoor sensor does not mean the world went dark; it means the sensor is covered, dusty, or dead, and the AI's first duty is to say so rather than switch on every lamp on campus.</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deck's pattern is called The Agent Writes the Rule, and it corrects the most common mistake people make with AI: putting it where a simple rule belongs. Think of a thermostat. Nobody stands by the heater all day adjusting it; someone set a rule once, and the device follows it faithfully. We use AI the same way. You tell the AI your goal in plain words: light the corridor properly, but never fight the sun. The AI turns that into a tiny rule: if daylight already meets the target, keep the lamps off; otherwise top up just enough. A person approves the rule, and from then on it runs on the small computer by itself. No internet, no AI in the loop, nothing to fail at midnight. The AI's second job comes later. It returns as an inspector, compares the electricity used before and after the rule, and tells you honestly what was saved. So the split is clean, and it is the deepest habit this course teaches: you set the goal, the AI writes and later checks the rule, and the rule does the running. Keep that split in mind as we now meet the light sensor itself.</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VEML7700 answers a question your eye answers constantly but numbers rarely do: how bright is it here, really? Inside the chip, light falls on a photodiode and generates a current. Two refinements turn that into a proper instrument. First, an optical filter in front of the photodiode reshapes its sensitivity to match the human eye's daytime response, called the photopic curve, so the sensor weights green strongly and infrared barely at all, just as you do. That is why its output unit is the lux, the unit of illuminance as humans experience it, rather than raw optical power. Second, an integrated 16-bit converter with adjustable gain and integration time digitises the signal, giving the device an enormous usable span: from 0.0036 lux, dimmer than moonlight, to 120,000 lux, full tropical sun. Contrast this with the simple photovoltaic irradiance sensor in the Rev5 kit: that device reports the energy in sunlight and saturates quickly, telling you about power, while the VEML7700 tells you about visibility. A cheap light-dependent resistor cannot do either job across this range; it saturates on any sunny day exactly where the interesting decisions live. On SIM2 it is one more I2C device on the shared bus, and the firmware auto-ranges the gain so students never chase settings.</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Where does a lux sensor earn its keep? Anywhere electric light and daylight negotiate. The classic job is lighting control: a corridor with big windows may already sit at 600 lux at 11 in the morning, and every fixture burning through that hour is pure waste. A calibrated lux reading lets a controller switch or, better, dim lights against what daylight already provides. The second job is compliance. Indian Standard 3646 and its international cousins specify illumination by task: roughly 300 lux for corridors, 500 for classrooms, 750 for fine work. Facilities teams currently verify this, if ever, with a hand-held meter once a year; a logging sensor verifies it continuously and finds the dark stairwell that becomes a safety report. Outdoors, a lux threshold beats a timer for streetlights because it tracks seasons and storms without being told. In agriculture, integrating lux across the day yields the daily light integral, the photon dose a crop actually received, which drives grow-light and shading decisions. And one elegant security trick from the additional-sensors study: put a VEML7700 inside a sealed equipment box. It should read zero forever. The moment it reads anything else, someone opened the box, and the timestamp is your tamper log.</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card in numbers. The measurand is illuminance in lux, delivered as a 16-bit digital value over I2C at address 0x10, so there is no analog chain for the student to condition and no conversion to perform. The span runs from 0.0036 lux to 120,000 lux, but not in one gulp: the sensor trades gain against integration time, and the SIM firmware walks those settings automatically, using long integration in near-darkness and short in sunlight. Absolute accuracy is approximately plus or minus 10% against a reference lux meter once gain is calibrated, moderate confidence, and here packaging matters more than silicon: our enclosure must present a clear or diffusing window in front of the die, and whatever that window absorbs becomes a systematic offset. The calibration constant therefore belongs to the packaged sensor, not the bare chip, and it lives in the sensor card where the agent can read it. The raw device is tiny, under seven millimetres long, with a transparent lid; final packaged dimensions and the keyed connector are placeholders pending production. Power draw is microamps, invisible next to the ESP32. One field note: mount the sensor facing what you want to measure, the working plane, not the light fitting; a sensor staring at a lamp measures the lamp.</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climate argument is arithmetic. Lighting takes roughly 15 to 20% of the electricity used in buildings worldwide, and unlike heating, its waste is instantly recoverable: switch off or dim, and the saving is immediate, with no thermal lag and no comfort penalty when daylight already covers the need. The control law fits on one line: required artificial light equals the target level minus measured natural light, floored at zero. That is the daylight-harvesting equation, and standards bodies report it saves 30 to 60% of lighting energy in daylit buildings, the spread depending on windows and orientation. What makes the saving honest is that it is measurable with this same kit: log natural light for a semester, count the occupied hours where daylight alone met the standard, multiply by fixture wattage, and you have kilowatt-hours that a finance committee will accept. The sensor also serves the thermal side: sunlight is heat, and with the rough conversion of 120 lux per watt per square metre, a lux trace approximates the solar gain loading a room before the temperature sensor feels it, giving HVAC models an early input. Beyond buildings, a semester of sky readings quantifies cloud cover against a clear-sky model, builds a seasonal daylight record, and, at night, measures artificial light at night, a growing ecological concern the 0.0036 lux floor is sensitive enough to capture.</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Alone, a lux sensor describes light; fused, it explains decisions. The first fusion fixes a real logic gap from the corridor-lighting project: motion sensing alone switches lights on at noon in a glass corridor. The correct rule needs both sensors: lights on only when motion is detected and measured lux sits below the corridor's 300 lux target. That single AND gate is the difference between a demo and a defensible energy policy, and an agent can author it in natural language and deploy it as a deterministic edge rule through deploy_rule. The second fusion closes the loop on money: clamp the SCT-013 around the lighting circuit, and the claimed saving becomes a measured kilowatt-hour difference between a baseline week and a harvesting week, queried by the agent from both streams and reconciled on the tick counter. The third fusion is subtler and shows what agents add: a midday lux collapse could be cloud, fog, or a failed sensor. Pull the BME688 humidity trace; lux down with humidity spiking near saturation reads as fog, lux down with humidity steady reads as cloud, lux at zero exactly while other kits nearby see daylight reads as a covered or failed sensor. That three-way disambiguation, run automatically through query_timeseries across sensors, is precisely the validation reasoning this course wants students to demand from their models.</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capstone question sounds almost rude: should the lights be on at all? Choose a daylit corridor or reading room. Mount the VEML7700 at the working plane, a PIR covering the space, and the SCT-013 clamp on the lighting circuit at the distribution board. Week one, touch nothing: log daylight, presence, and lighting power under the building's existing habits. The data will contain the contradiction that drives the project: hour after hour where measured lux already exceeds the 300 lux standard, presence is intermittent, and the meter shows every fixture drawing full power. Week two, deploy the fix: a deterministic edge rule, lights on only with motion and lux below target, authored with your agent in natural language, reviewed by a human, and installed through deploy_rule so it runs without any model in the loop. Then let the agent do the accounting through query_timeseries: kilowatt-hours week over week, hours of standard-compliance before and after, false-offs where the rule darkened an occupied space, and the payback period on the sensor hardware at campus tariffs. The decision at the end is real: recommend the rule for rollout with measured savings, retune the threshold, or, if daylight never sufficed, say so with a semester of evidence. Either way, the lights answer for themselves.</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do you know if the library is too loud? The old way: someone walks in, listens for a moment, makes a judgement, and walks away. Five minutes later the room changes and nobody knows. The new way turns this around. A small sensor measures the loudness of the room, and an AI watches that number every second of every day. It is like having a librarian who never goes home and never gets distracted. When the noise crosses the limit at four in the afternoon, the AI notices at four in the afternoon, not when someone complains at closing time. And it can act: log the event, light a quiet-please sign, or send a message. Notice what your role becomes in this new way. You are no longer the person reading the meter. You are the person who decides what the AI should watch for, and what it should do when it sees it.</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the AI can be trusted with this sensor, it must know two things: what the sensor can say, and what it cannot. Both are written on the sensor's ID card, a small file the AI reads before it reads any data. For this sensor the card says: I report loudness, from a whisper at 30 decibels to a siren at 120, once every second. It also carries a warning: a reading stuck at the very bottom could mean a silent room, or a broken microphone, so check before you conclude. And it states the most important limit of all: this sensor hears how loud, never the words. The speech is erased inside the circuit before any computer sees it. It is like a thick wall: you can tell there is a party next door without catching a single sentence. Here is the sentence to remember from this slide: an AI is only as good as what it knows about its own senses.</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first pattern for your collection: architect what the AI cannot know. In one line: if something must stay private, build the privacy into the hardware, do not just promise it in software. Think of frosted glass. Through frosted glass you can see that someone is in the room, but never who it is. That is not a rule someone follows; it is what the glass is. This sensor is frosted glass for sound. The circuit measures how loud the room is and throws the actual sound away, instantly, before anything is stored. So the AI can tell you the canteen has hit its noisy peak, or that the library crossed its quiet limit, but it could not repeat one word of a conversation even if asked. A promise can be broken or hacked; a physical limit cannot. And notice the division of work: you design what the system may know and how it should think, the AI does the constant watching. Keep the frosted glass in mind as we now look at the microphone itself.</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does a room sound like when it is empty? What about when thirty students are writing an exam in silence, or arguing through a group project? This sensor answers those questions with a single number. Inside the package is a MEMS microphone, a tiny mechanical membrane etched into silicon that vibrates with the air pressure fluctuations we call sound. But here is the important design decision: the microphone's output never leaves the package as audio. An envelope detector circuit continuously computes the average loudness of the signal and outputs one slowly varying DC voltage proportional to the sound pressure level in decibels. Think of it as a loudness meter, not a recorder. Nobody can reconstruct a conversation from this signal, because the information simply is not there; only the amplitude survives. That makes the sensor deployable in classrooms, libraries, and offices where audio recording would raise legitimate legal and ethical objections. The decibel scale itself is logarithmic: every 10 dB step means roughly ten times the acoustic power, which matches how our ears perceive loudness. A quiet room sits near 35 dB, conversation near 60 dB, and an alarm above 85 dB. One voltage, read once per second, tells you which of those worlds you are in.</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Where does a loudness meter earn its keep? Start with people. Sound is the only signal in this kit that responds to activity level: a lecture, a discussion, and an exam all involve the same number of people but sound completely different. Facilities teams use exactly this to enforce library quiet zones and to audit whether classroom background noise stays below the 35 dB(A) limit that Indian standard IS 3483 sets for teaching spaces, because sustained noise above that level measurably impairs learning. Now consider machines. A healthy fan produces a steady hum; a failing bearing produces a slowly rising noise floor weeks before it overheats. A cavitating pump crackles. A compressor that starts and stops too often betrays a refrigerant leak. All of these are amplitude patterns, readable without any audio content. Safety applications follow the same logic: breaking glass produces a sharp impulse above 75 dB with a rise time under a tenth of a second, and a fire alarm produces a sustained level above 85 dB, so the sensor independently timestamps both. And because the SIM firmware can recognise a pattern of two claps or three knocks, the sensor even becomes a simple control interface. One analog voltage, many jobs.</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sensor as an engineering object. The measurand is root-mean-square sound pressure level, expressed in decibels over a working range of approximately 30 to 120 dB, which spans everything from a near-silent room to a machine shop. The raw MEMS microphone is a few millimetres across; the packaged sensor adds the envelope detector stage that converts the raw audio waveform into a smooth DC voltage between 0 and 3.3 volts. SIM4 reads that voltage with the ESP32's 12-bit analog-to-digital converter, applies oversampling to steady the reading, converts it to a dB figure, and broadcasts it once per second inside the BLE advertisement frame, complete with the sequence counter and monotonic tick that every SIM frame carries. One update per second sounds slow for a sound sensor, but remember what we are measuring: occupancy states and machine baselines change over seconds and minutes, not milliseconds. Accuracy after a single-point calibration against a phone sound meter app is approximately plus or minus 2 to 3 dB, which is entirely adequate for threshold and trend work, though not for legal metrology. The final packaged dimensions and the keyed connector details are placeholders on this slide and will be supplied with the production hardware. The sensor card the gateway serves to the AI carries all of these numbers in machine-readable form.</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does a loudness sensor fight climate change? Three ways. First, energy. Cooling an empty room is the most common energy waste on any campus, and the slowest part of fixing it is knowing the room actually emptied. Carbon dioxide takes five to fifteen minutes to decay after people leave; motion sensors cannot tell a room that emptied from a room full of still people. But when the sound level drops to the bare HVAC hum and stays there while motion is absent, the room is empty now, and the control loop can set back the air conditioning within about thirty seconds. The CO2 sensor then confirms the decision a few minutes later. Second, equipment. A failing bearing announces itself acoustically weeks before it announces itself thermally. Catching it early means a small repair instead of a scrapped motor, and every avoided replacement avoids the embodied carbon of manufacturing new equipment. The sensor also confirms, independently of any thermostat, whether a compressor is running at all, so "the AC was left on all weekend" becomes a logged fact rather than a suspicion. Third, adaptation. As cities densify and warm, noise joins heat as a chronic environmental stressor. Mapping which building facades bear the worst traffic noise tells you exactly where acoustic glazing, which is usually also better thermal glazing, pays off first.</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single occupancy sensor is honest on its own, and the SPL sensor's partners cover its blind spots exactly. Pair it first with the PIR motion sensor: PIR responds instantly but goes blind to anyone who sits still for thirty seconds, while sound persists as long as people do anything at all. Pair it next with the SCD41 CO2 sensor, and you get complementary timescales: sound and motion react within a second, while CO2 needs two to five minutes to rise and five to fifteen to fall. The fast pair proposes a state change; the slow one confirms or vetoes it. Out of this comes a five-state machine: EMPTY when motion is zero, CO2 is near 500 ppm, and the level is below 40 dB. LOW_OCCUPANCY, the silent exam hall, when there is no motion but the sound floor sits between 38 and 50 dB. OCCUPIED and ACTIVE as motion, CO2, and dB climb together. ANOMALY whenever the level exceeds 80 dB regardless of everything else. The third partner is the SCT-013 current clamp: a compressor that hums acoustically and draws eight amps is definitely running; hum without current, or current without hum, is a fault worth investigating. An agent runs this fusion through the gateway's MCP tools, querying all three time series aligned on the monotonic tick, and, unlike a hard-coded threshold, it can explain which evidence drove its classification.</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capstone question sounds simple: is this study hall comfortable? Comfort standards such as ASHRAE 55 are mostly thermal, so the obvious approach is to log temperature and humidity and declare victory when they sit in range. Here is the contradiction this project is built around: the thermal numbers can be perfect while the room fails its occupants, and the acoustic channel is usually where the failure hides. A study hall at a flawless 24 degrees with CO2 under 800 ppm but a sustained 58 dB from a rattling air handler is not a comfortable room, and no thermometer will ever say so. The student team deploys four sensors: the BME688 for air quality, temperature, humidity, and pressure, the SCD41 for CO2 as the ventilation truth signal, cascaded DS18B20 probes for thermal uniformity across the space, and the SPL sensor for the acoustic dimension. The agent orchestrates the campaign through the MCP server: it starts a named two-week capture, prompts occupants through the deployment journal to log complaints the moment they happen, validates each channel against its sensor card before trusting it, and then aligns complaint timestamps against all four series. The deliverable is a decision: a ranked, evidence-backed list of interventions, perhaps fix the air handler mount before touching the thermostat, with the measured data to defend each ranking.</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does a campus know how much water is in the rooftop tank? The old way is exactly what you imagine: somebody climbs up, lifts the lid, and looks. So tanks overflow every morning, because nobody climbs at dawn, and sometimes they run dry mid-afternoon, because nobody climbs twice a day. The new way puts a small distance sensor inside the tank lid, looking down at the water, and an AI watches that level day and night. Think of it as a fuel gauge for the building's water, read by a watcher who never sleeps. When the level nears the top, the pump is switched off before the first drop spills. When it nears the bottom, the pump starts before the taps go dry. The wasted water stops, and nobody climbs anything. Your role changes with it: you are the one who decides what counts as too full and too empty. The AI holds the line you drew, every hour of every day.</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sensor measures distance the way a bat does: it sends a click of sound and times the echo. Simple, and mostly honest. But the AI must know where the honesty ends, and that is written on the sensor's ID card, the small file the AI reads first. The card lists the working range: nothing closer than 20 centimetres, nothing farther than four and a half metres. Then two warnings. First, sound travels faster through warm air, so on a hot afternoon the reading shifts slightly even though the water has not moved, like a steel tape measure that stretches a little in the sun. Second, sometimes no echo comes back at all, and that has two very different meanings: the tank may truly be past empty, or the sensor may have failed. A person would shrug at a missing reading. An AI that knows its senses treats it as a clue and checks: was the level trending down, or did it vanish mid-scale? Knowing the limits of your instruments is not a weakness. It is what makes the next reading worth trusting.</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pattern this sensor adds to your collection: one sensor corrects another. In plain words, sensors check each other's work. Think of a friend who checks your sums before you hand in homework. You are both decent alone; together you are reliable. Our sound ruler has one known weakness: sound moves faster in warm air, so on a hot afternoon it reports the level a few centimetres off, with no change in the tank at all. Nearby sits a thermometer, another sensor from this kit. The AI knows the ruler's weakness, knows the thermometer holds the missing fact, and puts the two together: read the temperature, correct the distance, then decide. It applies that correction every few seconds, for months, and never gets bored of the arithmetic. No person would do that; no person should have to. Notice the roles. You decided the correction should exist. The AI carries it out endlessly. You design the thinking, the AI does the watching. Now let us meet the sensor itself.</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do you measure the water level in a tank without ever touching the water? The same way a bat finds a moth. The JSN-SR04T sends out a short burst of ultrasound at 40 kilohertz, well above human hearing, and then listens for the echo bouncing back from the nearest surface. Sound travels through air at roughly 343 metres per second at room temperature, so if the echo returns in 6 milliseconds, the surface is about one metre away: the pulse travelled there and back, so we halve the round trip. The electronics do this timing for us and present the result as a pulse whose width encodes the distance. Two design details make this particular sensor special in our kit. First, the transducer, the part that actually clicks and listens, is a sealed IP67 waterproof unit on the end of a cable, physically separate from the electronics board. It can live inside a humid, condensing water tank for a semester while its electronics stay dry. Second, the measurement is completely non-contact. Nothing touches the water, so nothing corrodes, nothing fouls, and nothing contaminates. That single property is why this sensor, rather than a float or an electrode, is our tool of choice for liquid level, and, pointed at a chair instead of a tank, for detecting a person who is sitting perfectly still.</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Where does a non-contact ranger get used? Anywhere the question is "how far, how full, or is something there". The flagship job is liquid level: mounted inside the lid of an overhead tank, facing down, the sensor reads the distance to the water surface, and simple arithmetic converts that to litres. The same trick works for sumps filling during heavy rain, rainwater harvesting tanks, diesel reserves for a generator, and laboratory chemical storage where electrodes corrode and floats jam. The second family of jobs is presence. A motion sensor goes blind to a person who sits still for thirty seconds; an ultrasonic sensor mounted above a desk simply measures 1.2 metres to an empty chair and 0.7 metres to an occupied one, motion or no motion. That resolves the single most cited failure mode in our occupancy projects. Third, resource logistics: a sensor inside a bin lid reports fill depth, so waste collection happens when bins are actually full rather than on a fixed round, and the same geometry reports whether a parking bay holds a car. Fourth, queues: pointed along a canteen queue, the distance to the nearest person maps directly to queue length. And finally, it is a genuinely good physics instrument: measuring the speed of sound, watching a tank drain to verify Torricelli's law, all with automatic data logging.</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numbers that matter. The JSN-SR04T ranges from 20 centimetres out to about 4.5 metres; inside 20 centimetres it is blind, because the transducer is still ringing from its own transmit pulse when the echo arrives. Resolution is approximately 3 to 5 millimetres, and in practice you should trust it to about plus or minus one centimetre, since the echo strength depends on the target surface and the speed of sound drifts with temperature, a point we will return to on the fusion slide. It runs from the 5 volt rail that SIM4's boost converter already provides. Now an honest engineering note, and it matters: despite sitting in the analog SIM's slot, this is not an analog sensor. It does not output a voltage proportional to distance. Its native interface is a trigger line and an echo line, and the distance is encoded in how long the echo line stays high. The SIM4 firmware therefore reads it with GPIO pulse capture, timing the echo edges with interrupts, exactly the mechanism SIM3 uses to timestamp motion events, rather than with the analog-to-digital converter. The connector must carry those two GPIO lines. A full measurement takes about 26 milliseconds, and the firmware logs a reading every five seconds, which is far faster than any tank or chair changes state. Packaged dimensions and the keyed harness details are placeholders pending production hardware.</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Water is where climate change becomes personal, and this sensor is the kit's primary water instrument. Consider the overhead tanks on every Indian campus. They are filled by pumps on timers or by someone's memory, which means they routinely overflow, wasting both the water and the electricity that lifted it to the roof, or they run dry and shut a building down. One sensor inside the tank lid closes that loop: pump off above ninety percent, pump on below twenty percent, and every overflow becomes an avoidable, logged event. The same continuous level trace gives you something subtler: with the pump off overnight, the level should be flat. A slow, steady drop is a leak, and the trace tells you its size in litres per hour, which turns "we might have a leak somewhere" into a work order. On the adaptation side, the sensor watches the other direction: mounted at the ceiling of a basement or above a sump, a rising reading during intense rainfall is a flood early warning that triggers the transfer pump before equipment drowns, and intensifying cloudbursts are precisely what a warming atmosphere delivers. Rainwater harvesting tanks get honest efficiency numbers, measured volume collected per rain event against roof area and rainfall. Even the diesel tank feeding the backup generator becomes a carbon line item: level drop per outage is fuel burned, convertible directly to kilograms of CO2.</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most instructive fusion in the whole kit hides inside this sensor's own equation. Distance is echo time multiplied by the speed of sound, but the speed of sound is not a constant: it is approximately 331.3 plus 0.606 times the temperature in Celsius, metres per second. Between a 15 degree winter night and a 40 degree summer afternoon, that is nearly a five percent shift; even a modest 10 degree swing moves readings by about 1.7 percent, which is centimetres of phantom level change on a two-metre tank. The DS18B20 temperature sensor turns that error into a lesson: the agent reads both series through `query_timeseries`, applies the correction, and the student watches a systematic error vanish. That is sensor fusion at its most concrete, one sensor calibrating another's physics. The second partnership is redundancy: the RadioStudio water level trace PCB gives a binary wet/dry signal, so a basement flood alarm can demand agreement, rising ultrasonic level and a wet trace, before waking anyone at 2 a.m. One sensor triggering alone is flagged as a probable fault instead. Third, the SEN0193 soil moisture probe: tank level falling while soil moisture rises means irrigation is working; tank falling while soil stays dry means a burst line. And pointed at a chair, the ultrasonic covers the PIR's stationary-person blind spot, with the PIR confirming the moment of arrival and departure.</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capstone asks a question the campus facilities office usually cannot answer: where does the water actually go? The team instruments one building's water path. JSN-SR04T sensors log the overhead tank and the ground sump. The bare-trace water level PCBs sit at historically damp spots, under the pump room and along the main corridor ceiling. SEN0193 probes watch the garden beds that the building's irrigation line feeds, and a 4-20 milliamp pressure transmitter on SIM4 watches line pressure. Then the accounting begins, and with it the contradiction this project is designed around: the tank level trace says the building draws, say, four thousand litres a day, but everything you can attribute, taps, toilets, irrigation events visible in the soil moisture data, sums to three thousand. Where is the missing quarter? A leak, an unmetered connection, an overflow the timer pump causes at 3 a.m., or a systematic sensor error such as an uncompensated temperature drift? The agent orchestrates the hunt: a scheduled watchdog queries every level series overnight through the MCP tools, checks each against its sensor card's plausibility bounds, applies the DS18B20 sound-speed correction, and annotates anything unexplained. Students adjudicate the agent's weekly draft water balance, confirm or refute its leak hypotheses on foot, and deliver the decision: a located, quantified loss list with a costed fix recommendation, defensible line by line.</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Picture a canteen refrigerator at two in the morning. The temperature inside creeps from 3 degrees to 8. The old way, nobody knows until breakfast, and then comes the hard question: did someone leave the door open, or is the fridge dying? The answer decides everything. If it was the door, close it and check the food. If it was the compressor, the fridge is failing and the food must move now. A thermometer alone cannot tell you which story is true. The new way pairs the thermometer with the simplest sensor in our kit: a magnet and a tiny switch on the door frame that answer one question, open or closed. Now the AI is like a night watchman who saw the whole thing happen. It does not just report that the fridge is warm; it explains why, and the explanation picks the action. That is the heart of the new way: not more numbers, but enough context to turn a number into a story you can act on.</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must the AI know before trusting a sensor this simple? The sensor's ID card is the shortest in the kit. It says: I report two states, open and closed, each stamped with the exact time. I do not stream numbers all day; I speak only when the world changes. That silence is efficient, but it hides a trap. Think of a letterbox. An empty letterbox usually means no mail, but it could also mean the slot is jammed. Same here: a door that reports nothing for a week is either a door nobody opened, or a magnet that fell off, and a fallen magnet is this sensor's one known lie: it reads open, forever. The card warns the AI about exactly this. So the AI does something a casual observer never would: it regularly checks that the sensor itself is alive, its heartbeat, separately from what the sensor says. Only then is silence good news. One tiny sensor, and already the deepest lesson in trusting instruments: know how your sensor fails, or its silence will fool you.</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pattern this deck adds: events, not samples. Most sensors are like a diary that writes "nothing new" every five seconds. This sensor is a doorbell. It stays quiet until the world changes, then rings once, with the time attached: door opened, 02:14 am. For an AI, that ring is a starting gun. The moment the cold-room door opens in the middle of the night, the AI begins a small investigation: how is the temperature behaving, did the corridor motion sensor fire, how long did the door stay open? By morning there is a story with times and evidence, not a mystery and a puddle. Compare that with checking the door hundreds of times a day just in case; the doorbell way never misses the moment and wastes no effort. Your part is deciding, in advance, what a ring should make the AI do. The AI's part is being awake at 2 am to do it. You design the thinking; the AI does the watching. Now let us meet the ninety-year-old invention behind the doorbell.</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sensor so far has measured a quantity: degrees, ppm, decibels, metres. This one measures a fact. Is the door open or closed? Inside a reed switch are two thin blades of ferromagnetic metal, sealed in a small glass tube filled with inert gas. Bring a magnet close and the blades magnetise, attract, and touch: the circuit closes. Take the magnet away and they spring apart: the circuit opens. The installation is two parts: the magnet goes on the thing that moves, the door or window leaf, and the switch goes on the frame. When the door is shut the magnet sits next to the switch and holds it closed; open the door a few centimetres and the contact releases. That is the entire sensing principle, and its simplicity is its strength. The contacts are hermetically sealed, so dust, humidity, and corrosive air never reach them, and they survive millions of operations. The switch consumes no power to hold its state; the SIM merely checks whether a circuit is complete. The design dates to Bell Labs in 1936 and remains the standard door sensor in every burglar alarm on earth, which tells you something: when a sensor is this cheap, this reliable, and this unambiguous, ninety years of engineering finds no reason to replace it.</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reed switch's day job is context. Consider a canteen refrigerator with a temperature sensor inside. At 11:47 the temperature starts climbing. What should the staff do? The honest answer is: it depends on why, and temperature alone cannot tell you. If the door is open, someone left it ajar; close it and the problem is solved. If the door is closed, the compressor or the power has failed, and the food needs moving now. Same temperature trace, opposite actions, and the twenty-rupee reed switch is what disambiguates them. Food safety regulation makes this concrete: under FSSAI's HACCP requirements, food held above five degrees for more than four hours is a discard event, and the combined door-plus-temperature log documents exactly when the door opened, how long it stayed open, and what peak temperature the load reached. The most dangerous failure it catches is the door that fails to latch overnight: a morning temperature check might read seven degrees and tempt someone to judge the food acceptable, but the log shows eight hours above threshold, and the decision becomes unambiguous. Beyond the cold chain, the same bit secures things: after-hours door events at equipment rooms, rack and cabinet tamper, fume cupboard sashes left up, chemical stores opened outside authorised windows. One bit, correctly timestamped, is worth a paragraph of explanation.</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technical card is short, which is the point. The measurand is a binary state: magnet near, magnet far, which we install to mean door closed, door open. The switch actuates when the magnet comes within roughly ten to twenty millimetres, depending on the magnet supplied, and there is deliberate hysteresis between the closing and opening distances so a door vibrating in its frame does not generate a stream of false events. As a sensor there is essentially no accuracy question: the state is either detected or it is not, and what we actually care about is timing, which SIM3 provides by timestamping each edge with its GPIO interrupt system to millisecond precision, the same debounced edge-capture path the PIR motion sensor uses. Electrically the switch is a dry contact: it carries no electronics, no supply rail, nothing to fail. The SIM wires it between an input pin and ground with an internal pull-up resistor, so a closed door reads low and an open door reads high; firmware debounces the transition and broadcasts the new state, with the event carried in the standard BLE frame alongside the sequence counter and tick. Because there is no analog chain, no calibration, and no drift, this is the sensor whose data you never have to doubt, a property the validation labs will exploit. Packaged dimensions and the keyed connector remain placeholders for the production hardware.</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does a door sensor belong in a climate course? Because the single most common HVAC energy waste in institutional buildings is a machine fighting an open window, and no other sensor in this kit can see it. Picture a classroom with the air conditioner running and a window open. The AC works continuously against an infinite supply of warm outdoor air. Worse, every clever sensing model we have built gets fooled: CO2 stays low because the room is naturally ventilated, so the occupancy model may read the room as empty; the temperature holds roughly steady, so nothing looks wrong. The system is haemorrhaging energy while every dashboard shows green. A reed switch on the window ends the deception with one bit: envelope open. The gateway then marks the CO2 and temperature streams as invalid for control decisions, the agent alerts rather than adjusts, and the simultaneous heating-and-cooling event gets logged and quantified, evidence that eventually justifies a window-closing policy or an interlock. The same logic runs in reverse for mitigation: when outdoor air is mild and windows are open, mechanical ventilation can switch off entirely, because nature is providing it free. And in the cold chain, door-open minutes translate directly into compressor kilowatt-hours, so staff behaviour, propping the walk-in door during deliveries for instance, becomes a measured, improvable number rather than a nagging suspicion.</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reed switch never works alone; its whole value is what it does to other sensors' data. With the DS18B20 it forms the four-quadrant cold chain diagnosis: temperature rising with the door open means close the door; rising with the door closed means compressor or power failure; stable with the door open means a brief, harmless access; stable and closed means all is well. Two sensors, four states, four different actions. With the SCD41 it acts as a validity gate: CO2-based occupancy estimation silently assumes a closed room, so the window switch tells the agent when that assumption holds; readings taken with the envelope open are flagged in the store, and the occupancy model abstains rather than guesses. With the SCT-013 current clamp it catches the most expensive quadrant of all: window open while the compressor draws eight amps is simultaneous heating and cooling, and the pairing timestamps, quantifies, and costs every such event. With the PIR it builds security narratives: door opens, then motion in zone one, then zone two, is an entry, and the ordered timestamps tell the story; a door event with no motion following is a door left ajar, a different threat needing a different response. Notice what the agent is doing in every pairing: not arithmetic on continuous signals but reasoning over sequences of timestamped facts. That is exactly what language models are good at, which makes this humble sensor the most AI-native device in the kit.</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final project turns a server room into something that can defend itself, and the reed switch is its narrator. Five threat channels run simultaneously: the reed switch on the door, PIR sensors covering two interior zones, a VEML7700 sealed inside an equipment cabinet where any light means the cabinet was opened, an SCT-013 clamp on the equipment supply, and the bare-trace water sensor under the rack. The design tension the students must resolve is real: alert on any single sensor and the system cries wolf, a corridor draught trips the PIR and someone stops trusting the pages; demand agreement from multiple sensors and you go blind to genuine single-channel events, because a slow water leak touches only the trace, and a door left ajar touches only the reed. The resolution is sequence reasoning rather than voting. Door open, then zone-one motion, then zone-two motion, inside twenty seconds: that is an entry, and after hours it pages immediately. Door open with no motion following: door ajar, a security defect but not an active intrusion, so it waits for morning. Cabinet light spike with no door event at all: tamper by someone who was already inside, the most serious narrative of all. The watchdog agent reconstructs these narratives from the timestamped event streams through the MCP tools, drafts the incident report with its evidence chain, and the students' deliverable is the tiered alert policy itself, defended threat by threat.</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do you find out you wasted electricity? The old way, a bill arrives at the end of the month. It is like reading last month's newspaper: everything in it already happened, and you cannot change any of it. The bill also tells you only the total, never the culprit. The new way clips a small sensor around one wire, and an AI watches the power flowing through it live, minute by minute. Now waste has nowhere to hide. The air conditioner cooling an empty classroom at lunchtime shows up at lunchtime. The unit someone forgot on Friday evening is caught on Friday evening, not on the bill three weeks later. The AI can see the pattern, connect it with who is actually in the room, and alert while it still matters. Your role in the new way: you set the goal, cut the waste, keep the comfort, and the AI does the constant accounting that no person would ever keep up.</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sensor clips around a wire like a clothes peg and measures the current flowing inside, without touching any bare metal. That makes it safe to install, and it makes it special in one more way. Most sensors in the kit help the AI form a guess: motion suggests people, gas suggests a crowd. This one measures hard fact, the actual electricity being used right now. It is the instrument that can prove the AI right or wrong. But the AI must know its one weakness. If the clamp's jaw is not snapped fully shut, it under-reports, and it does so believably: the numbers look fine, just smaller than the truth. No single reading reveals the problem. Think of a bathroom scale on an uneven floor: it shows a plausible weight, and you only catch it by weighing something you already know. So every installation ends the same way: a kettle, with its power printed on the label, is run on the circuit, and the clamp's answer is compared against the truth. That result is written on the sensor's ID card, where the AI can check it. Trust starts with knowing exactly how your instrument could lie.</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pattern here is the one that separates a true agent from a chatbot: the agent audits itself. In one line, advice must come back with a receipt. Think of a shop sale. The advert promises 30 percent off; the receipt shows what you actually paid; you trust the receipt. Our AI works the same way. It studies when rooms are really occupied and proposes a smarter cooling schedule, predicting a saving. Then the clamp does the accounting: two weeks measured the old way, two weeks the new way, and the two totals meet on paper. If the saving is real, the AI has proof anyone can inspect. If it is not, the interesting work begins: was the room busier than expected, was a window left open? The AI investigates, revises its advice, and predicts again. An assistant stops at the recommendation; an agent follows through to the receipt. You decide what must be proven. The AI runs the proof, honestly and endlessly. Now let us see how a clamp measures electricity without touching a single wire.</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do you measure the electricity an air conditioner uses without an electrician, without cutting a wire, and without going anywhere near a live terminal? With physics that Faraday gave us two centuries ago. Any wire carrying alternating current is wrapped in an invisible, alternating magnetic field. The SCT-013 is a ferrite ring, split in half and hinged like a clothes peg, that clips around a single insulated wire. The ring gathers that magnetic field, and a coil of many turns wound on the ring converts it back into a small, faithful copy of the current flowing in the wire. Thirty amps in the conductor becomes one volt at the sensor's plug, a scale factor of 33.3 millivolts per amp in the variant we use. Installation takes under a minute: open the jaw, clip it around one wire, snap it shut. Nothing is cut, nothing is unscrewed, and the wire's insulation is never breached, which is why this style of sensor is called non-invasive and why it is the standard tool of every energy auditor. One safety rule is built into our chosen variant: the SCT-013-030 contains an internal burden resistor that keeps its output terminated at all times. Always use burden-resistor variants; a current transformer with an open secondary can develop hazardous voltages. Ours cannot.</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does the world do with a clamp meter that logs continuously? First, it audits. Energy consultants clamp circuits one by one to discover where a building's kilowatt-hours actually go, and the answers routinely embarrass assumptions: the forgotten pump, the AC serving an empty wing, the 10 to 15 percent of campus load that is equipment idling on standby overnight. Second, it reports machine truth. An HVAC compressor draws eight to twenty amps running and almost nothing idle, so the current trace is an unambiguous on/off log that no thermostat display can contradict; a compressor that starts more than six or eight times an hour is short-cycling, usually refrigerant loss, and the trace counts every cycle. Third, it predicts failures: a motor whose current creeps upward week over week at the same load is telling you its bearings are wearing, an electrical symptom that appears before the thermal one. Fourth, it protects: a circuit running sustained above eighty percent of its breaker rating is a fire statistics category, and chronic overload is invisible until it is logged. Fifth, unexpectedly, it counts people: a computer lab with thirty machines awake is electrically loud even when the students are motionless, exactly where motion sensing fails. And on the generation side it verifies solar output and logs EV charging sessions, closing loops on the clean side of the meter.</a:t>
            </a:r>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honest specification. Our standard variant, the SCT-013-030, spans zero to thirty amps and outputs zero to one volt, 33.3 millivolts per amp, with the safety burden resistor inside. SIM4 biases this AC signal to mid-rail, samples it in bursts at roughly one kilohertz, computes the root-mean-square value in firmware, and broadcasts one current reading per second. Multiply by a nominal 230 volts and you have apparent power; integrate over time and you have energy. For compressors and motors, whose power factor is near unity, apparent power tracks real power within five to ten percent, which is ample for an audit. Now the limits, because every sensor has them. The 12-bit ADC step corresponds to about 24 milliamps of primary current, and oversampling pushes the effective floor to a few milliamps, but the ESP32's ADC is at its worst near the bias point, so treat anything below approximately 50 milliamps as unreliable: a projector in standby at 22 milliamps is genuinely invisible to this variant. When the assignment is small loads, phantom power, a lighting branch, swap in the SCT-013-005, which trades a 5 amp ceiling for six times the sensitivity. Choosing the variant to match the circuit is itself a lesson in dynamic range. Packaged dimensions and the keyed harness details are placeholders pending the production sensor.</a:t>
            </a:r>
          </a:p>
        </p:txBody>
      </p:sp>
      <p:sp>
        <p:nvSpPr>
          <p:cNvPr id="4" name="Slide Number Placeholder 3"/>
          <p:cNvSpPr>
            <a:spLocks noGrp="1"/>
          </p:cNvSpPr>
          <p:nvPr>
            <p:ph type="sldNum" idx="5" sz="quarter"/>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climate project in this course produces a model; this sensor produces evidence, and the difference decides whether anything changes. The canonical experiment runs in two phases. For a baseline fortnight, the building runs as it always has while the clamp logs every watt-hour the HVAC circuit consumes. Then the sensor-driven controls switch on, and the clamp logs another fortnight. Subtract. The result is not "we estimate thirty percent savings from our occupancy model"; it is "847 kilowatt-hours became 591, a measured 30 percent reduction", and each kilowatt-hour converts to carbon at the Indian grid's emission factor of approximately 0.82 kilograms of CO2 per kilowatt-hour. Two hundred and fifty-six saved kilowatt-hours is roughly 210 kilograms of CO2, per room, per fortnight, measured. Why does this matter so much? Because institutions act on measured numbers. A facilities committee shown a model files it; shown a metered before-and-after with a payback period, it procures. Along the way the clamp finds the waste that models miss: the air conditioner serving an empty room at 8 a.m., the loads that never sleep on weekends, the phantom standby consumption, and, paired with a window sensor, the heat-and-cool absurdity of conditioning the outdoors. On the clean side, it verifies that the rooftop solar array actually delivers what the irradiance says it should, catching soiling and degradation. Mitigation begins with measurement, and this is the measuring instrument.</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clamp's data becomes decisive when an agent lays it beside occupancy. Cross-reference HVAC current with CO2 and motion and every hour of the day lands in one of five rows: AC on with the room full is correct; AC on at 8 a.m. with CO2 at 420 ppm is waste; AC on at lunch with the room empty is waste; AC off at 3 p.m. with the room full is a comfort failure; AC on at 6 p.m. with the building locked is the most expensive row of all. The agent builds this table automatically from `query_timeseries`, aligned on the tick, and the table is the energy audit. With the VEML7700 the same join works for lighting: fixture current flowing during hours when daylight already exceeds the target is pure quantified waste. Two partnerships are about trust rather than discovery. The RS485 energy meter on SIM5 is a class-1 instrument, so clamping the same load both ways cross-checks the clamp, and this matters because of the CT's signature failure: a jaw that has not snapped fully shut, held ajar by a thick cable jacket or a tired spring, under-reads systematically with no error flag, sometimes by half. The acceptance ritual at every installation: run a kettle of known rated power on the circuit and confirm the clamp reads its wattage over 230 volts within ten percent. And the SPL sensor supplies an independent second opinion, because a compressor that hums without drawing current, or draws without humming, is a fault either way.</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capstone question is predictive maintenance stated plainly: can students detect a machine failing before it fails? The subject is a real campus workhorse, a water pump or an AC compressor. The SCT-013 logs its current signature continuously: running amplitude, the starting surge, cycle frequency. The SPL sensor logs its acoustic baseline beside it, the DS18B20 tracks its housing temperature, and the class-1 RS485 meter sits on the same circuit as the referee. Failure physics stack up in a known order: friction rises first, so current at constant load creeps upward and starting surges stretch longer; noise rises next; heat arrives last. The contradiction at the heart of the project is that a rising current baseline has three rival explanations: genuine mechanical wear, a seasonal change in load (a pump lifting from a lower water table works harder with healthy bearings), or instrument drift, including the clamp's own jaw slowly working open. A nightly agent runs the discrimination through the MCP tools: it fits the week's trend, cross-checks the clamp against the reference meter to rule out instrument drift, tests the seasonal hypothesis against tank levels and weather, and checks whether the acoustic baseline moved in sympathy. When only the wear hypothesis survives, it drafts a maintenance recommendation with its evidence chain. The students' deliverable is the adjudicated verdict, repair now, monitor, or healthy, defended against all three hypotheses, with the cost of being wrong in each direction stated.</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Who is going to read this soil sensor? The old answer: you. You look at a number, judge whether the bed looks thirsty, and water it. It works, as long as you remember, and as long as you are there. The new answer in this course: an AI reads it for you. Think of it as a caretaker who never sleeps. It watches the soil all day and all night, and when the bed runs dry it can start the watering itself. You may be away for a week; the garden does not mind, because the caretaker is still on duty. That is the shift this whole course keeps making, and it is worth saying slowly. The sensor is no longer an instrument for your eyes. It is a sense organ for an AI, one that perceives the garden continuously and acts on what it perceives. But a caretaker is only as good as their knowledge of the tools they hold. What must the AI know about this probe before we trust it with our garden? That is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far should the AI trust this probe? Exactly as far as the probe deserves, and not a centimetre further. To get that right, the AI reads the sensor's ID card, a small file that travels with the probe and tells the truth about it. Three truths matter here. First, the probe does not speak in moisture percentages; it speaks in volts, and someone has to say what those volts mean. Second, the probe can mislead without lying: pull it out of the soil, and the readings look exactly like a drought that began that very minute. The ID card lists this, so the AI can suspect the hardware before it blames the weather. Third, and biggest of all: this probe's numbers mean nothing until it has learned its own two reference points, what it reads bone dry, and what it reads soaking wet. An AI that knows all this reads the probe with judgment. One that does not is only guessing, confidently. That third truth is so important that it is this sensor's pattern, and it comes next.</a:t>
            </a:r>
          </a:p>
        </p:txBody>
      </p:sp>
      <p:sp>
        <p:nvSpPr>
          <p:cNvPr id="4" name="Slide Number Placeholder 3"/>
          <p:cNvSpPr>
            <a:spLocks noGrp="1"/>
          </p:cNvSpPr>
          <p:nvPr>
            <p:ph type="sldNum" idx="5" sz="quarter"/>
          </p:nvPr>
        </p:nvSpPr>
        <p:spPr/>
      </p:sp>
    </p:spTree>
  </p:cSld>
  <p:clrMapOvr>
    <a:masterClrMapping/>
  </p:clrMapOvr>
</p:notes>
</file>

<file path=ppt/notesSlides/notesSlide1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sensor in this course teaches one way of thinking, one pattern. This probe's pattern is called No Meaning Without Calibration. Here is the idea in one line: a number without a reference point is just a number. Suppose I tell you that you scored 43 marks. Happy? You cannot say, because I did not tell you the maximum. 43 out of 50 and 43 out of 200 are different stories. This probe has the same problem. It reports 1.8 volts. Is that wet or dry? Nobody knows, not even the smartest AI, until this particular probe learns its own two reference points: what it reads held up in dry air, and what it reads dipped in a glass of water. The pleasant surprise is who does the teaching. The AI walks you through it as a short conversation: hold the probe in the air, now dip it, thank you, saved. After that, every reading has meaning. You designed the thinking; from here the AI does the watching. With that idea in hand, let us meet the probe itself.</a:t>
            </a:r>
          </a:p>
        </p:txBody>
      </p:sp>
      <p:sp>
        <p:nvSpPr>
          <p:cNvPr id="4" name="Slide Number Placeholder 3"/>
          <p:cNvSpPr>
            <a:spLocks noGrp="1"/>
          </p:cNvSpPr>
          <p:nvPr>
            <p:ph type="sldNum" idx="5" sz="quarter"/>
          </p:nvPr>
        </p:nvSpPr>
        <p:spPr/>
      </p:sp>
    </p:spTree>
  </p:cSld>
  <p:clrMapOvr>
    <a:masterClrMapping/>
  </p:clrMapOvr>
</p:notes>
</file>

<file path=ppt/notesSlides/notesSlide1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do you ask the soil how thirsty it is? You cannot see moisture below the surface, and squeezing a handful of soil does not scale to a garden, a green roof, or a farm. The SEN0193 answers the question electrically. It exploits a large physical contrast: dry soil has a dielectric constant of roughly 3 to 5, while water sits near 80. That is more than a tenfold difference, which makes the measurement robust. The probe is simply a printed circuit board shaped like a paddle. A copper pad inside the board acts as one plate of a capacitor, and the soil around the paddle acts as the rest of the capacitor. As water content rises, the capacitance rises with it. A small oscillator circuit, built around the classic 555 timer topology, converts that capacitance into a DC voltage between zero and approximately three volts. Wetter soil produces a lower voltage. Notice what is not here: no bare metal electrodes, no current flowing through the soil. The sensing surface is sealed under solder mask. That single design decision is why this sensor survives a full semester buried outdoors, and it is the first thing we will compare against the older resistive approach.</a:t>
            </a:r>
          </a:p>
        </p:txBody>
      </p:sp>
      <p:sp>
        <p:nvSpPr>
          <p:cNvPr id="4" name="Slide Number Placeholder 3"/>
          <p:cNvSpPr>
            <a:spLocks noGrp="1"/>
          </p:cNvSpPr>
          <p:nvPr>
            <p:ph type="sldNum" idx="5" sz="quarter"/>
          </p:nvPr>
        </p:nvSpPr>
        <p:spPr/>
      </p:sp>
    </p:spTree>
  </p:cSld>
  <p:clrMapOvr>
    <a:masterClrMapping/>
  </p:clrMapOvr>
</p:notes>
</file>

<file path=ppt/notesSlides/notesSlide1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Where does a sensor like this earn its keep? Anywhere a human currently guesses about watering. The most common use is irrigation scheduling: instead of watering on a timer, you water when the root zone actually needs it. Greenhouses and nurseries put one probe per bench or per large container. Green roof operators use them to verify that the growing substrate holds the moisture the design assumed. Turf managers use them to catch the most frequent real-world failure, which is overwatering, not underwatering. And in research settings, they instrument drought stress and infiltration experiments. A fair question: why not use the cheaper resistive probe, the one with two exposed metal prongs? Because passing current through wet soil electrolyzes the metal. The prongs oxidize, the readings drift within two to three weeks, and outdoors the probe is effectively consumable. The SEN0193 measures capacitance through a sealed surface, so no ions flow and nothing corrodes. For a course where your deployment must survive weeks in a planter and still produce comparable data at the end, that difference is decisive. This is a recurring lesson of the kit: the sensing principle determines the maintenance burden, and the maintenance burden determines whether the data is trustworthy months later.</a:t>
            </a:r>
          </a:p>
        </p:txBody>
      </p:sp>
      <p:sp>
        <p:nvSpPr>
          <p:cNvPr id="4" name="Slide Number Placeholder 3"/>
          <p:cNvSpPr>
            <a:spLocks noGrp="1"/>
          </p:cNvSpPr>
          <p:nvPr>
            <p:ph type="sldNum" idx="5" sz="quarter"/>
          </p:nvPr>
        </p:nvSpPr>
        <p:spPr/>
      </p:sp>
    </p:spTree>
  </p:cSld>
  <p:clrMapOvr>
    <a:masterClrMapping/>
  </p:clrMapOvr>
</p:notes>
</file>

<file path=ppt/notesSlides/notesSlide1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engineering identity of the sensor, the same facts the gateway serves to an AI agent as a sensor card. The measurand is volumetric soil moisture, delivered as a raw analog voltage between zero and approximately three volts. The vendor publishes no absolute accuracy figure, and that is honest: absolute soil moisture depends on soil type, compaction, and temperature. What you can rely on is repeatability after calibration, approximately plus or minus three to five percent of scale. Two practical caveats matter. First, the ESP32's internal ADC is nonlinear near the top of its range, above approximately 3.0 volts. The SIM4 design keeps the dry-air reading below 2.8 volts using a divider, or the attenuated input path, so the dry end of the scale stays in the linear region. Second, the calibration itself: the SIM stores two reference points in non-volatile memory, the reading in dry air and the reading in saturated soil or water. Every field reading is mapped between those two anchors. The packaged sensor dimensions and the keyed connector details are placeholders for now and will be supplied with the production enclosure. On the platform, this probe connects to SIM4, the analog interface module, which digitizes the voltage, applies the stored calibration, and broadcasts the percentage over BLE.</a:t>
            </a:r>
          </a:p>
        </p:txBody>
      </p:sp>
      <p:sp>
        <p:nvSpPr>
          <p:cNvPr id="4" name="Slide Number Placeholder 3"/>
          <p:cNvSpPr>
            <a:spLocks noGrp="1"/>
          </p:cNvSpPr>
          <p:nvPr>
            <p:ph type="sldNum" idx="5" sz="quarter"/>
          </p:nvPr>
        </p:nvSpPr>
        <p:spPr/>
      </p:sp>
    </p:spTree>
  </p:cSld>
  <p:clrMapOvr>
    <a:masterClrMapping/>
  </p:clrMapOvr>
</p:notes>
</file>

<file path=ppt/notesSlides/notesSlide1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does a soil probe belong in a climate change course? Start with the largest number in the story: irrigation accounts for approximately seventy percent of global freshwater withdrawals. Field studies of sensor-driven irrigation repeatedly show thirty to fifty percent water savings compared with timer-based schedules, simply because timers water whether or not the soil needs it. As rainfall becomes more erratic, that efficiency stops being an optimization and becomes adaptation. The same probe supports drought monitoring: a network of cheap capacitive sensors shows how fast the root zone dries after rain, which is early warning for crop stress weeks before plants visibly wilt. Cities enter the picture through green infrastructure. Green roofs, rain gardens, and bioswales moderate urban heat and absorb storm surges, but only if their growing substrate is kept in a working moisture band; a dried-out green roof is just gravel with extra steps. There is also an emissions angle that surprises people: chronically saturated soil is a source of nitrous oxide, a greenhouse gas roughly 270 times more potent than CO2 per kilogram, so avoiding overwatering is itself mitigation. Finally, measurement. Satellites estimate soil moisture over kilometres; your probe measures one point honestly. Ground truth at known points is what makes the satellite products usable.</a:t>
            </a:r>
          </a:p>
        </p:txBody>
      </p:sp>
      <p:sp>
        <p:nvSpPr>
          <p:cNvPr id="4" name="Slide Number Placeholder 3"/>
          <p:cNvSpPr>
            <a:spLocks noGrp="1"/>
          </p:cNvSpPr>
          <p:nvPr>
            <p:ph type="sldNum" idx="5" sz="quarter"/>
          </p:nvPr>
        </p:nvSpPr>
        <p:spPr/>
      </p:sp>
    </p:spTree>
  </p:cSld>
  <p:clrMapOvr>
    <a:masterClrMapping/>
  </p:clrMapOvr>
</p:notes>
</file>

<file path=ppt/notesSlides/notesSlide1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moisture reading alone tells you the present. Fusion tells you the future, and the future is when you should water. Pair the probe with the VEML7700 light sensor and the agent can integrate the day's light dose; bright days pull water out of soil faster. Add DS18B20 temperature and BME688 humidity and you have the ingredients of an evapotranspiration estimate, the standard agronomic model of water loss. Now the agent is not reporting that soil is at forty percent; it is forecasting that the bed will cross the wilting threshold by Thursday afternoon, and it can defer watering if the pressure trend from the BME688 suggests rain. On the supply side, the JSN-SR04T ultrasonic sensor watches the irrigation tank. Soil demand and tank supply, held in the same database, let an agent answer the complete question: should we water, with what, and do we have enough? Finally, the bare-trace water level PCB at the drainage outlet catches the failure the soil probe cannot see: water pouring straight through and running off. In the MCP architecture, an agent calls query_timeseries on all of these streams, reconciled on the monotonic tick, and returns a watering decision with its reasoning and confidence attached, not just a chart.</a:t>
            </a:r>
          </a:p>
        </p:txBody>
      </p:sp>
      <p:sp>
        <p:nvSpPr>
          <p:cNvPr id="4" name="Slide Number Placeholder 3"/>
          <p:cNvSpPr>
            <a:spLocks noGrp="1"/>
          </p:cNvSpPr>
          <p:nvPr>
            <p:ph type="sldNum" idx="5" sz="quarter"/>
          </p:nvPr>
        </p:nvSpPr>
        <p:spPr/>
      </p:sp>
    </p:spTree>
  </p:cSld>
  <p:clrMapOvr>
    <a:masterClrMapping/>
  </p:clrMapOvr>
</p:notes>
</file>

<file path=ppt/notesSlides/notesSlide1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capstone puts the sensor to work on a question with a measurable answer: when should we water, and did it work? Students instrument a real planted bed with the moisture probe in the root zone, light, temperature, and humidity alongside. Week one is the baseline: water on a fixed schedule, log everything, record the litres used. Then the agent takes over recommending: each morning it queries the aligned time series and proposes water or wait, with reasoning. The design forces students to confront contradictions. The surface probe reads wet minutes after watering while deeper soil is still dry, so where should the probe sit, and should there be two? The soil reads dry but falling pressure suggests rain within a day, so does the agent gamble on the forecast? Resolving these is the actual learning. The architecture lesson is the two loops. The agent does not open a valve at runtime; it authors a small deterministic rule, moisture below threshold and no rain signal means irrigate at dawn, and that rule runs on the edge device even if the cloud link drops. At semester's end the deliverable is a decision, not a dashboard: adopt, revise, or reject the sensor-driven schedule, defended with measured litres, plant condition, and an honest account of where the model was wrong.</a:t>
            </a:r>
          </a:p>
        </p:txBody>
      </p:sp>
      <p:sp>
        <p:nvSpPr>
          <p:cNvPr id="4" name="Slide Number Placeholder 3"/>
          <p:cNvSpPr>
            <a:spLocks noGrp="1"/>
          </p:cNvSpPr>
          <p:nvPr>
            <p:ph type="sldNum" idx="5" sz="quarter"/>
          </p:nvPr>
        </p:nvSpPr>
        <p:spPr/>
      </p:sp>
    </p:spTree>
  </p:cSld>
  <p:clrMapOvr>
    <a:masterClrMapping/>
  </p:clrMapOvr>
</p:notes>
</file>

<file path=ppt/notesSlides/notesSlide1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little board spends almost its whole life saying one word: dry. It may say nothing else for months. So why is it in the kit? Because of the one hour when the answer changes: water creeping under an equipment rack, a leaking pipe in a store room, a blocked drain in a cold store. The old way of catching that hour is a person noticing the puddle, and people notice puddles late. Nobody checks a dry floor every ten minutes, and certainly not at two in the morning. The new way: an AI watches this sensor continuously. It is never bored by months of good news, never distracted, never asleep. If the floor turns wet at 2 a.m., the alarm happens at 2 a.m., not when the first person walks in at 9. That is the promise of this deck: a rare event, guarded around the clock, by something that does not mind the waiting. But standing guard raises a hard question about trust, and that question is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1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AI has no eyes and no hands. Everything it knows about this floor arrives through this one small board, so it had better know exactly how far to trust it. That knowledge comes from the sensor's ID card, a small file the AI reads: what the board reports, how quickly, and how it fails. Two facts on that card matter most. First, the board is quick to say wet, within about a second, but slow to say dry again, because the water film takes minutes to evaporate. So the AI should not conclude the flood is over the moment the mopping starts. Second, and far more important, the trap: if the cable is cut or the board dies, it sends nothing. And nothing is exactly what a healthy board on a dry floor sends too. Silence from a live sensor and silence from a dead one look identical. A guard you cannot tell apart from an empty chair is no guard at all. What the AI does about that is this sensor's pattern, and it comes next.</a:t>
            </a:r>
          </a:p>
        </p:txBody>
      </p:sp>
      <p:sp>
        <p:nvSpPr>
          <p:cNvPr id="4" name="Slide Number Placeholder 3"/>
          <p:cNvSpPr>
            <a:spLocks noGrp="1"/>
          </p:cNvSpPr>
          <p:nvPr>
            <p:ph type="sldNum" idx="5" sz="quarter"/>
          </p:nvPr>
        </p:nvSpPr>
        <p:spPr/>
      </p:sp>
    </p:spTree>
  </p:cSld>
  <p:clrMapOvr>
    <a:masterClrMapping/>
  </p:clrMapOvr>
</p:notes>
</file>

<file path=ppt/notesSlides/notesSlide1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pattern this sensor teaches has a name shaped like a question: Is Silence Good News? In one line: never assume a quiet sensor is a happy sensor; check. You already know this pattern from home. A smoke alarm has a test button, and you press it now and then, because you do not want a fire to be the way you discover the battery died. But people forget to press it. An AI does not. Every message from this board carries a small counter, a heartbeat that keeps arriving even when the floor is bone dry. On a schedule, the AI checks: is the heartbeat still there, is the counter still counting? If yes, silence really does mean a dry floor. If the heartbeat stops, the AI raises a different alarm: not "water!", but "I have gone blind here, someone go and look." Notice the division of labour. You decide what silence has to prove and how often to test it; the AI does the tireless checking, day and night. Now let us look at the simple piece of copper this whole idea protects.</a:t>
            </a:r>
          </a:p>
        </p:txBody>
      </p:sp>
      <p:sp>
        <p:nvSpPr>
          <p:cNvPr id="4" name="Slide Number Placeholder 3"/>
          <p:cNvSpPr>
            <a:spLocks noGrp="1"/>
          </p:cNvSpPr>
          <p:nvPr>
            <p:ph type="sldNum" idx="5" sz="quarter"/>
          </p:nvPr>
        </p:nvSpPr>
        <p:spPr/>
      </p:sp>
    </p:spTree>
  </p:cSld>
  <p:clrMapOvr>
    <a:masterClrMapping/>
  </p:clrMapOvr>
</p:notes>
</file>

<file path=ppt/notesSlides/notesSlide1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is the least amount of hardware that can still be called a sensor? This board is the answer, and RadioStudio built it for exactly that lesson. Look at it: two sets of copper fingers printed on a PCB, interleaved like clasped hands that never touch. Dry, no current can cross the gap, and the resistance between the two combs is effectively infinite. Put a drop of water across any two fingers and ions in the water carry current; the resistance collapses. A single pull-up resistor turns that resistance change into a voltage swing, and the SIM's analog input reads it. You may remember we rejected resistive sensing for the soil probe because of corrosion. Why is it right here? Because this sensor spends its life dry. It only gets wet in a fault condition, a leak or a flood, so electrolytic corrosion never has time to accumulate. The firmware adds one more protection: it energizes the traces only for the few milliseconds of each reading, rather than holding a DC voltage across wet copper continuously. There is no integrated circuit on this board at all. That is the point. Sensing is physics first, silicon second, and sometimes the physics is a pattern of copper and a puddle.</a:t>
            </a:r>
          </a:p>
        </p:txBody>
      </p:sp>
      <p:sp>
        <p:nvSpPr>
          <p:cNvPr id="4" name="Slide Number Placeholder 3"/>
          <p:cNvSpPr>
            <a:spLocks noGrp="1"/>
          </p:cNvSpPr>
          <p:nvPr>
            <p:ph type="sldNum" idx="5" sz="quarter"/>
          </p:nvPr>
        </p:nvSpPr>
        <p:spPr/>
      </p:sp>
    </p:spTree>
  </p:cSld>
  <p:clrMapOvr>
    <a:masterClrMapping/>
  </p:clrMapOvr>
</p:notes>
</file>

<file path=ppt/notesSlides/notesSlide1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Where does a wet-or-dry sensor matter in the real world? Almost anywhere water appears that should not. The classic deployment is under equipment: server racks, battery banks, laboratory instruments. Water on that floor is a fault every single time, and the first centimetre of water does the same damage to electronics as the tenth, so early detection is everything. Facilities teams place these under water heaters, behind washing machines, and along known-troublesome plumbing joints. Cold rooms have a subtler failure: every defrost cycle produces meltwater that must drain away, and when the drain line blocks, water backs up silently until it reaches the stored food. A trace strip in the drain pan catches it on day one. At the other end of the water system, a strip mounted at a rainwater tank's overflow line reports the moment the tank starts wasting collected water. One refinement worth knowing: mount the board vertically and it becomes a coarse level gauge, because rising water bridges more fingers and the resistance keeps falling. It is not a precision instrument, but wet, ankle-deep, and knee-deep are distinguishable states, and for an emergency response that granularity is often enough.</a:t>
            </a:r>
          </a:p>
        </p:txBody>
      </p:sp>
      <p:sp>
        <p:nvSpPr>
          <p:cNvPr id="4" name="Slide Number Placeholder 3"/>
          <p:cNvSpPr>
            <a:spLocks noGrp="1"/>
          </p:cNvSpPr>
          <p:nvPr>
            <p:ph type="sldNum" idx="5" sz="quarter"/>
          </p:nvPr>
        </p:nvSpPr>
        <p:spPr/>
      </p:sp>
    </p:spTree>
  </p:cSld>
  <p:clrMapOvr>
    <a:masterClrMapping/>
  </p:clrMapOvr>
</p:notes>
</file>

<file path=ppt/notesSlides/notesSlide1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technical card for this sensor is short, and its shortness is instructive. The measurand is water presence: wet or dry, with a coarse level reading available in vertical mounting. There is no accuracy specification in the usual sense, because the sensor is a threshold device; the meaningful numbers are the dry reading, which sits near the supply rail through the pull-up, and the wet reading, which collapses toward ground. The firmware declares wet when the voltage crosses a midpoint threshold with hysteresis, so a single splash does not chatter between states. Response time going wet is essentially one excitation cycle, about a second at the default cadence. Going dry is slower and honest students will notice it: the board reads wet until the surface film evaporates, which can take minutes. That asymmetry is a property of the physics, not a fault, and the sensor card records it so an AI agent reasoning about the data knows a lingering wet reading after cleanup is expected. The excitation duty-cycling matters for longevity: the SIM powers the traces only during the measurement window, which prevents the electrolytic corrosion that would otherwise eat energized wet copper. Packaged dimensions and the keyed connector are placeholders pending the production design. The board connects to SIM4, the analog interface module.</a:t>
            </a:r>
          </a:p>
        </p:txBody>
      </p:sp>
      <p:sp>
        <p:nvSpPr>
          <p:cNvPr id="4" name="Slide Number Placeholder 3"/>
          <p:cNvSpPr>
            <a:spLocks noGrp="1"/>
          </p:cNvSpPr>
          <p:nvPr>
            <p:ph type="sldNum" idx="5" sz="quarter"/>
          </p:nvPr>
        </p:nvSpPr>
        <p:spPr/>
      </p:sp>
    </p:spTree>
  </p:cSld>
  <p:clrMapOvr>
    <a:masterClrMapping/>
  </p:clrMapOvr>
</p:notes>
</file>

<file path=ppt/notesSlides/notesSlide1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climate connection here is adaptation, and it is direct. A warmer atmosphere holds roughly seven percent more water vapour per degree of warming, and the observed result is more intense short-duration rainfall. Cities feel this as flash flooding: drainage designed for the old rainfall statistics meets the new statistics and loses. Rain gauges tell you what fell from the sky; they do not tell you which basements, pits, and equipment rooms actually took water. A grid of trace sensors, at tens of rupees per point, produces exactly that missing record: timestamped ingress events, location by location, storm by storm. Over a few seasons that becomes a flood-frequency map of a campus, which is the evidence base for deciding where drainage investment goes. The early warning role is immediate and human: water at floor level in a switchgear room or a records archive, detected in the first minute, is the difference between mopping and replacement. Notice also that climate mitigation infrastructure is itself flood-sensitive: battery banks, inverters, and pump pits all die in water, so the cheapest sensor in the kit stands guard over the most expensive equipment. And at the rainwater harvesting tank, overflow detection stops the quiet waste of water someone went to the trouble of collecting.</a:t>
            </a:r>
          </a:p>
        </p:txBody>
      </p:sp>
      <p:sp>
        <p:nvSpPr>
          <p:cNvPr id="4" name="Slide Number Placeholder 3"/>
          <p:cNvSpPr>
            <a:spLocks noGrp="1"/>
          </p:cNvSpPr>
          <p:nvPr>
            <p:ph type="sldNum" idx="5" sz="quarter"/>
          </p:nvPr>
        </p:nvSpPr>
        <p:spPr/>
      </p:sp>
    </p:spTree>
  </p:cSld>
  <p:clrMapOvr>
    <a:masterClrMapping/>
  </p:clrMapOvr>
</p:notes>
</file>

<file path=ppt/notesSlides/notesSlide1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its own this sensor says one word: wet. Fusion turns that word into a story. Pair it with the JSN-SR04T ultrasonic sensor watching the same sump or basement from above and you get redundant detection through two unrelated physical principles: acoustic ranging and ionic conduction. An agent that sees the ultrasonic level rising and the trace strip going wet at the expected height can be confident this is real water, not a splash on one sensor or an acoustic artifact on the other. Redundancy with diverse physics is how safety-critical systems are built, and students see it here at hobby cost. Add the SCT-013 current clamp on the sump pump circuit and the agent can check the response, not just the event: water detected, did the pump draw current? A wet strip with a silent pump is the emergency case, and it is invisible to either sensor alone. The reed switch on the room door adds the causal question: did someone leave the door open before the storm, or did water come through the slab? In the MCP architecture, a watchdog agent subscribes to all four streams and, on a wet event, assembles the aligned timeline into a narrated incident report: what happened, in what order, what responded, and what needs a human.</a:t>
            </a:r>
          </a:p>
        </p:txBody>
      </p:sp>
      <p:sp>
        <p:nvSpPr>
          <p:cNvPr id="4" name="Slide Number Placeholder 3"/>
          <p:cNvSpPr>
            <a:spLocks noGrp="1"/>
          </p:cNvSpPr>
          <p:nvPr>
            <p:ph type="sldNum" idx="5" sz="quarter"/>
          </p:nvPr>
        </p:nvSpPr>
        <p:spPr/>
      </p:sp>
    </p:spTree>
  </p:cSld>
  <p:clrMapOvr>
    <a:masterClrMapping/>
  </p:clrMapOvr>
</p:notes>
</file>

<file path=ppt/notesSlides/notesSlide1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capstone question sounds like security but is really about evidence: is this restricted equipment room protected against more than one kind of threat, and can the system explain what happened after the fact? Most monitoring projects defend against a single threat, intrusion, and go blind to everything else. This project instruments four: the reed switch watches the door, PIR watches for motion, the light sensor inside the sealed cabinet catches tampering, the current clamp watches equipment health, and the trace PCB under the rack watches for water, the threat none of the others can see. The contradiction students must resolve is the honest one: the cleaning crew mops this floor twice a week. A wet reading at 10 a.m. with the door properly opened, motion in the room, and the mop bucket's signature brief wetting is not a flood. A wet reading at 2 a.m., door closed, no motion, level still rising ten minutes later, is. Writing the rule that separates them, and letting the agent argue its classification from the aligned timeline, is the heart of the exercise. The deliverable is an escalation policy with evidence requirements: which combination of signals pages the warden at night, which waits for morning, and what the agent must include in its incident narrative either way.</a:t>
            </a:r>
          </a:p>
        </p:txBody>
      </p:sp>
      <p:sp>
        <p:nvSpPr>
          <p:cNvPr id="4" name="Slide Number Placeholder 3"/>
          <p:cNvSpPr>
            <a:spLocks noGrp="1"/>
          </p:cNvSpPr>
          <p:nvPr>
            <p:ph type="sldNum" idx="5" sz="quarter"/>
          </p:nvPr>
        </p:nvSpPr>
        <p:spPr/>
      </p:sp>
    </p:spTree>
  </p:cSld>
  <p:clrMapOvr>
    <a:masterClrMapping/>
  </p:clrMapOvr>
</p:notes>
</file>

<file path=ppt/notesSlides/notesSlide1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chip produces the smallest answer in the kit: one bit. Something is sitting here, or it is not. Why would an AI need something so humble? Think about what you do at the canteen counter. You glance, and you instantly know whether a food tray is there. You would not even call that information; it is simply obvious. Now take the AI's position. It has no eyes. However clever it is, it cannot know a single thing about the physical world unless some sensor says it out loud, including facts this small. That is the first habit of AI-first thinking: nothing is obvious to an AI, so you must decide which small facts deserve a sensor of their own. The old way, a person glancing, works only while a person is looking. The new way, this chip reporting its one bit, works all day and every day, and the AI notices every arrival and every removal, each with a timestamp. What that one bit is worth, and what it cannot promise, comes next.</a:t>
            </a:r>
          </a:p>
        </p:txBody>
      </p:sp>
      <p:sp>
        <p:nvSpPr>
          <p:cNvPr id="4" name="Slide Number Placeholder 3"/>
          <p:cNvSpPr>
            <a:spLocks noGrp="1"/>
          </p:cNvSpPr>
          <p:nvPr>
            <p:ph type="sldNum" idx="5" sz="quarter"/>
          </p:nvPr>
        </p:nvSpPr>
        <p:spPr/>
      </p:sp>
    </p:spTree>
  </p:cSld>
  <p:clrMapOvr>
    <a:masterClrMapping/>
  </p:clrMapOvr>
</p:notes>
</file>

<file path=ppt/notesSlides/notesSlide1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the AI builds anything on this bit, it reads the sensor's ID card, and this card is refreshingly honest. First limit: reach. The chip senses within roughly two to three centimetres of its metal pad. It can tell you a tray is on the counter; it can never tell you who is in the room. Because the card says so plainly, the AI will never stretch this sensor beyond what it can promise. Second limit, and the more surprising one: the chip constantly re-learns what "nothing here" feels like, so that dust and humidity do not fool it. The side effect is that an object left sitting for many hours can slowly fade into that background, and the chip may stop reporting it even though it is still there. Knowing this, the AI treats a detection that never ends with mild suspicion, and double-checks before drawing conclusions. This is the general lesson of the slide: an AI that knows the limits of its senses can be trusted; one that does not is just guessing confidently. Now for the pattern this one bit makes possible.</a:t>
            </a:r>
          </a:p>
        </p:txBody>
      </p:sp>
      <p:sp>
        <p:nvSpPr>
          <p:cNvPr id="4" name="Slide Number Placeholder 3"/>
          <p:cNvSpPr>
            <a:spLocks noGrp="1"/>
          </p:cNvSpPr>
          <p:nvPr>
            <p:ph type="sldNum" idx="5" sz="quarter"/>
          </p:nvPr>
        </p:nvSpPr>
        <p:spPr/>
      </p:sp>
    </p:spTree>
  </p:cSld>
  <p:clrMapOvr>
    <a:masterClrMapping/>
  </p:clrMapOvr>
</p:notes>
</file>

<file path=ppt/notesSlides/notesSlide1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sensor's pattern is called Context Gates Meaning, and in one line it says: when data matters can be as important as what the data says. A fuel gauge reading half full is vital information inside your car, and meaningless lying on a workbench. Same gauge, same needle, no car. Now the canteen. A thermometer watches the heat lamp all day and reports faithfully. But those temperatures are a food safety record only while food is actually under the lamp. The rest of the time, they are measurements of hot metal. Which hours matter? This chip answers with its single bit: tray present, or absent. The AI uses that bit as a gate. Before it reasons about temperature at all, it marks each reading as meaningful or irrelevant. Alarms about an empty counter never fire, so the staff never learn to ignore the system. That is the whole trick: one yes or no, switching the meaning of another sensor's data on and off. You choose what gates what; the AI applies the gate every second without fail. Keep the fuel gauge in mind as we now meet the chip that makes the bit.</a:t>
            </a:r>
          </a:p>
        </p:txBody>
      </p:sp>
      <p:sp>
        <p:nvSpPr>
          <p:cNvPr id="4" name="Slide Number Placeholder 3"/>
          <p:cNvSpPr>
            <a:spLocks noGrp="1"/>
          </p:cNvSpPr>
          <p:nvPr>
            <p:ph type="sldNum" idx="5" sz="quarter"/>
          </p:nvPr>
        </p:nvSpPr>
        <p:spPr/>
      </p:sp>
    </p:spTree>
  </p:cSld>
  <p:clrMapOvr>
    <a:masterClrMapping/>
  </p:clrMapOvr>
</p:notes>
</file>

<file path=ppt/notesSlides/notesSlide1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smartphone screen answers a question millions of times a day: is a finger here? The AT42QT1010 is that same capacitive principle reduced to a single chip and a single yes-or-no answer. The method is called charge transfer. The IC connects to an electrode, which is nothing more exotic than a copper pad on a PCB or a few centimetres of wire, and it repeatedly charges that electrode and measures how much charge was needed. Your body, or a food tray, or any object that is conductive or has a reasonable dielectric constant, adds capacitance when it comes near. The chip notices the extra charge and drives its output pin high. That is the whole interface: one digital line, high for detected, low for not. To the SIM, this sensor is indistinguishable from the PIR; the same GPIO event firmware timestamps its edges. Two things make it interesting for a hardware course. First, the sensing element is designed by you: electrode size and shape set the sensing range, so students are designing the sensor, not just wiring it. Second, honesty about scope: this detects things within roughly two to three centimetres. It will never see across a room, and knowing what a sensor cannot do is as valuable as knowing what it can.</a:t>
            </a:r>
          </a:p>
        </p:txBody>
      </p:sp>
      <p:sp>
        <p:nvSpPr>
          <p:cNvPr id="4" name="Slide Number Placeholder 3"/>
          <p:cNvSpPr>
            <a:spLocks noGrp="1"/>
          </p:cNvSpPr>
          <p:nvPr>
            <p:ph type="sldNum" idx="5" sz="quarter"/>
          </p:nvPr>
        </p:nvSpPr>
        <p:spPr/>
      </p:sp>
    </p:spTree>
  </p:cSld>
  <p:clrMapOvr>
    <a:masterClrMapping/>
  </p:clrMapOvr>
</p:notes>
</file>

<file path=ppt/notesSlides/notesSlide1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jobs does a two-centimetre yes-or-no sensor actually do? More than you might expect, because an enormous number of real questions are exactly that shape. The first family is touch controls. A mechanical button is a hole in an enclosure: water gets in, springs fatigue, contacts oxidize. A capacitive pad senses straight through a sealed plastic panel, so the enclosure stays waterproof and there is nothing to wear out. Your induction hob, your kettle with touch controls, and most modern appliances use this principle. The second family is object presence. Is the food tray sitting on the heat lamp counter? Is the cup on the docking point? Is the fire extinguisher in its bracket? Mount the electrode under the resting surface and the object's own bulk announces its arrival. The third family is content sensing through walls: because the field passes through non-metallic materials, an electrode on the outside of a plastic tank can tell whether liquid stands behind it at that height, with no hole drilled and no contact with the contents. And the fourth is human touch as an intentional signal: a rail that knows it is being gripped, an exhibit that responds when touched. One chip, one pad, and a surprising range of questions answered.</a:t>
            </a:r>
          </a:p>
        </p:txBody>
      </p:sp>
      <p:sp>
        <p:nvSpPr>
          <p:cNvPr id="4" name="Slide Number Placeholder 3"/>
          <p:cNvSpPr>
            <a:spLocks noGrp="1"/>
          </p:cNvSpPr>
          <p:nvPr>
            <p:ph type="sldNum" idx="5" sz="quarter"/>
          </p:nvPr>
        </p:nvSpPr>
        <p:spPr/>
      </p:sp>
    </p:spTree>
  </p:cSld>
  <p:clrMapOvr>
    <a:masterClrMapping/>
  </p:clrMapOvr>
</p:notes>
</file>

<file path=ppt/notesSlides/notesSlide1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technical card is brief because the chip does one thing. The measurand is a detection event: something conductive or dielectric within roughly two to three centimetres of the electrode, the exact range depending on electrode area and the sampling capacitor you select. The IC itself is a six-pin SOT23 package, about three millimetres on a side; everything the user sees is the electrode, which is external and designed per application. Supply is flexible, 1.8 to 5.5 volts, so the SIM's 3.3 volt rail drives it directly, and consumption in low-power mode is approximately three microamps, which is negligible against the power bank budget. The output is a single GPIO line, high on detection. On SIM3 it rides the identical firmware path as the PIR and the reed switch: debounced edge capture with a monotonic timestamp, broadcast as a BLE event. One behaviour deserves attention because it will show up in your data: the chip continuously recalibrates its baseline. A slow environmental change, humidity rising through the morning, dust settling, gets absorbed silently. But an object left on the pad long enough can be recalibrated into the baseline too, depending on the max on-duration configuration, and the detection eventually clears while the object is still there. The sensor card records this so agents reasoning about a long steady detection know to treat it carefully. Packaged dimensions and connector are placeholders pending production.</a:t>
            </a:r>
          </a:p>
        </p:txBody>
      </p:sp>
      <p:sp>
        <p:nvSpPr>
          <p:cNvPr id="4" name="Slide Number Placeholder 3"/>
          <p:cNvSpPr>
            <a:spLocks noGrp="1"/>
          </p:cNvSpPr>
          <p:nvPr>
            <p:ph type="sldNum" idx="5" sz="quarter"/>
          </p:nvPr>
        </p:nvSpPr>
        <p:spPr/>
      </p:sp>
    </p:spTree>
  </p:cSld>
  <p:clrMapOvr>
    <a:masterClrMapping/>
  </p:clrMapOvr>
</p:notes>
</file>

<file path=ppt/notesSlides/notesSlide1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climate role of a proximity chip is indirect but real, and it teaches a principle: context gating. Consider the canteen heat lamp. Its job is to keep food warm, but it only has a job when food is present. A lamp warming an empty stainless counter converts electricity into nothing, and a temperature-based food safety monitor that alarms on an empty counter trains staff to ignore alarms. A twenty-rupee electrode under the tray position gives every downstream system the one bit it was missing: is there anything here to care about? Gating actuation and alerting on presence is a pattern that scales far beyond canteens; most automated systems waste energy precisely when their assumptions about occupancy or presence are wrong. The second contribution is durability. Field-deployed climate instrumentation lives outdoors, and every mechanical switch is a hole in the enclosure where water enters. Capacitive controls behind sealed plastic mean IP-rated boxes that stay rated, equipment that lasts longer, and less electronic waste. Third, through-wall sensing lets you monitor water in tanks and channels without touching the water, no contamination path, no corrosion. And as a measurement instrument, simple placement and touch counting quantifies how shared resources, water points, tool cribs, charging docks, actually get used, which is the data that justifies providing more of them.</a:t>
            </a:r>
          </a:p>
        </p:txBody>
      </p:sp>
      <p:sp>
        <p:nvSpPr>
          <p:cNvPr id="4" name="Slide Number Placeholder 3"/>
          <p:cNvSpPr>
            <a:spLocks noGrp="1"/>
          </p:cNvSpPr>
          <p:nvPr>
            <p:ph type="sldNum" idx="5" sz="quarter"/>
          </p:nvPr>
        </p:nvSpPr>
        <p:spPr/>
      </p:sp>
    </p:spTree>
  </p:cSld>
  <p:clrMapOvr>
    <a:masterClrMapping/>
  </p:clrMapOvr>
</p:notes>
</file>

<file path=ppt/notesSlides/notesSlide1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sensor's value multiplies fastest through fusion, because a single presence bit is exactly the missing context other sensors need. Start with the DS18B20 on the heat lamp counter. A temperature log of that counter is only a food safety record when food is on it; the rest of the time it is a log of hot metal. Fuse the two and the agent produces the record an auditor actually wants: while food was present, from 12:05 to 14:20, the temperature stayed above the safe holding threshold, or it did not, and here are the minutes it spent below. The presence bit converts data into evidence. Pair it with the JSN-SR04T watching the queue and the canteen picture completes: the ultrasonic sensor measures how many people are waiting, the pad answers whether food is actually being served. A long queue with no tray on the counter is a service problem, not a demand problem, and no single sensor can make that distinction. With the PIR, the fusion resolves identity: PIR fires on the person reaching over the counter, the pad fires on the tray itself, and the timing between the two events separates a person browsing from a tray landing. In the MCP architecture, the validate_reading tool consults the presence stream before honouring a temperature alarm, and capture_experiment records aligned service-event datasets for the capstone analysis.</a:t>
            </a:r>
          </a:p>
        </p:txBody>
      </p:sp>
      <p:sp>
        <p:nvSpPr>
          <p:cNvPr id="4" name="Slide Number Placeholder 3"/>
          <p:cNvSpPr>
            <a:spLocks noGrp="1"/>
          </p:cNvSpPr>
          <p:nvPr>
            <p:ph type="sldNum" idx="5" sz="quarter"/>
          </p:nvPr>
        </p:nvSpPr>
        <p:spPr/>
      </p:sp>
    </p:spTree>
  </p:cSld>
  <p:clrMapOvr>
    <a:masterClrMapping/>
  </p:clrMapOvr>
</p:notes>
</file>

<file path=ppt/notesSlides/notesSlide1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canteen capstone runs two investigations on one deployment: a food safety question and a service quality question, and the proximity pad is the hinge between them. On the safety side, the DS18B20 logs holding temperature at the heat lamp and the reed switch logs every cold-store door event. The AT42QT1010 sits under the tray position and contributes the gating bit: log and alarm only when food is present. Without it, the first week of data drowns in false alarms from an empty counter, and students experience first-hand why alarm fatigue is a safety failure mode, not an annoyance. On the service side, the ultrasonic sensor measures queue depth at the serving line while the sound sensor tracks crowd noise, and the tray pad marks actual service events. The contradiction to resolve is a genuine operational one: the queue is long but the counter shows continuous tray turnover, meaning demand is high and service is fine, versus the queue is long and trays are absent, meaning the kitchen is behind. Those need different fixes, and the agent must distinguish them from the aligned timeline. The final deliverable is a decision memo to the canteen operator: measured holding-temperature compliance while food was present, the peak service windows, and a staffing recommendation defended with data an auditor could re-derive from the raw streams.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1.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3.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4.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5.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6.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8.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9.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0.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1.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3.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4.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5.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6.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8.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9.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0.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1.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3.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4.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5.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6.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8.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9.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0.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1.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3.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4.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5.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6.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8.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9.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0.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1.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3.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4.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5.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2286000"/>
            <a:ext cx="10698480" cy="1463040"/>
          </a:xfrm>
          <a:prstGeom prst="rect">
            <a:avLst/>
          </a:prstGeom>
          <a:noFill/>
        </p:spPr>
        <p:txBody>
          <a:bodyPr wrap="square">
            <a:spAutoFit/>
          </a:bodyPr>
          <a:lstStyle/>
          <a:p>
            <a:r>
              <a:rPr sz="3600" b="1">
                <a:solidFill>
                  <a:srgbClr val="1B5E8A"/>
                </a:solidFill>
              </a:rPr>
              <a:t>AIoT and Climate Change: Sensor Modules</a:t>
            </a:r>
          </a:p>
        </p:txBody>
      </p:sp>
      <p:sp>
        <p:nvSpPr>
          <p:cNvPr id="3" name="TextBox 2"/>
          <p:cNvSpPr txBox="1"/>
          <p:nvPr/>
        </p:nvSpPr>
        <p:spPr>
          <a:xfrm>
            <a:off x="731520" y="3840480"/>
            <a:ext cx="10698480" cy="914400"/>
          </a:xfrm>
          <a:prstGeom prst="rect">
            <a:avLst/>
          </a:prstGeom>
          <a:noFill/>
        </p:spPr>
        <p:txBody>
          <a:bodyPr wrap="square">
            <a:spAutoFit/>
          </a:bodyPr>
          <a:lstStyle/>
          <a:p>
            <a:r>
              <a:rPr sz="1800">
                <a:solidFill>
                  <a:srgbClr val="222222"/>
                </a:solidFill>
              </a:rPr>
              <a:t>IEEE BLP / RadioStudio course, AI-first edition. 14 sensors, 5 Sensor Interface Modules. Combined deck with speaker notes.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2286000"/>
            <a:ext cx="10698480" cy="1463040"/>
          </a:xfrm>
          <a:prstGeom prst="rect">
            <a:avLst/>
          </a:prstGeom>
          <a:noFill/>
        </p:spPr>
        <p:txBody>
          <a:bodyPr wrap="square">
            <a:spAutoFit/>
          </a:bodyPr>
          <a:lstStyle/>
          <a:p>
            <a:r>
              <a:rPr sz="3600" b="1">
                <a:solidFill>
                  <a:srgbClr val="1B5E8A"/>
                </a:solidFill>
              </a:rPr>
              <a:t>Sensor 01: DS18B20 - Temperature (SIM1, One-Wire)</a:t>
            </a:r>
          </a:p>
        </p:txBody>
      </p:sp>
      <p:sp>
        <p:nvSpPr>
          <p:cNvPr id="3" name="TextBox 2"/>
          <p:cNvSpPr txBox="1"/>
          <p:nvPr/>
        </p:nvSpPr>
        <p:spPr>
          <a:xfrm>
            <a:off x="731520" y="3840480"/>
            <a:ext cx="10698480" cy="914400"/>
          </a:xfrm>
          <a:prstGeom prst="rect">
            <a:avLst/>
          </a:prstGeom>
          <a:noFill/>
        </p:spPr>
        <p:txBody>
          <a:bodyPr wrap="square">
            <a:spAutoFit/>
          </a:bodyPr>
          <a:lstStyle/>
          <a:p>
            <a:r>
              <a:rPr sz="1800">
                <a:solidFill>
                  <a:srgbClr val="222222"/>
                </a:solidFill>
              </a:rPr>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01.1: AI-First: The Old Way and the New Way</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The old way: you read the thermometer and decide</a:t>
            </a:r>
          </a:p>
          <a:p>
            <a:pPr>
              <a:spcAft>
                <a:spcPts val="1000"/>
              </a:spcAft>
            </a:pPr>
            <a:r>
              <a:rPr sz="1900">
                <a:solidFill>
                  <a:srgbClr val="222222"/>
                </a:solidFill>
              </a:rPr>
              <a:t>•  The new way: an AI watches the temperature for you, continuously</a:t>
            </a:r>
          </a:p>
          <a:p>
            <a:pPr>
              <a:spcAft>
                <a:spcPts val="1000"/>
              </a:spcAft>
            </a:pPr>
            <a:r>
              <a:rPr sz="1900">
                <a:solidFill>
                  <a:srgbClr val="222222"/>
                </a:solidFill>
              </a:rPr>
              <a:t>•  The AI can look up this sensor, question it, and double-check it</a:t>
            </a:r>
          </a:p>
          <a:p>
            <a:pPr>
              <a:spcAft>
                <a:spcPts val="1000"/>
              </a:spcAft>
            </a:pPr>
            <a:r>
              <a:rPr sz="1900">
                <a:solidFill>
                  <a:srgbClr val="222222"/>
                </a:solidFill>
              </a:rPr>
              <a:t>•  It never sleeps, never forgets, never gets bored</a:t>
            </a:r>
          </a:p>
          <a:p>
            <a:pPr>
              <a:spcAft>
                <a:spcPts val="1000"/>
              </a:spcAft>
            </a:pPr>
            <a:r>
              <a:rPr sz="1900">
                <a:solidFill>
                  <a:srgbClr val="222222"/>
                </a:solidFill>
              </a:rPr>
              <a:t>•  Your role changes: from reader of numbers to designer of thinking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01.2: AI-First: What the AI Must Know About This Sensor</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The AI is only as good as what it knows about its senses</a:t>
            </a:r>
          </a:p>
          <a:p>
            <a:pPr>
              <a:spcAft>
                <a:spcPts val="1000"/>
              </a:spcAft>
            </a:pPr>
            <a:r>
              <a:rPr sz="1900">
                <a:solidFill>
                  <a:srgbClr val="222222"/>
                </a:solidFill>
              </a:rPr>
              <a:t>•  Every sensor carries a sensor card: its ID card, which the AI reads</a:t>
            </a:r>
          </a:p>
          <a:p>
            <a:pPr>
              <a:spcAft>
                <a:spcPts val="1000"/>
              </a:spcAft>
            </a:pPr>
            <a:r>
              <a:rPr sz="1900">
                <a:solidFill>
                  <a:srgbClr val="222222"/>
                </a:solidFill>
              </a:rPr>
              <a:t>•  This card says: trust me between -10 and +85 degrees</a:t>
            </a:r>
          </a:p>
          <a:p>
            <a:pPr>
              <a:spcAft>
                <a:spcPts val="1000"/>
              </a:spcAft>
            </a:pPr>
            <a:r>
              <a:rPr sz="1900">
                <a:solidFill>
                  <a:srgbClr val="222222"/>
                </a:solidFill>
              </a:rPr>
              <a:t>•  And: I am honest to about half a degree, no more</a:t>
            </a:r>
          </a:p>
          <a:p>
            <a:pPr>
              <a:spcAft>
                <a:spcPts val="1000"/>
              </a:spcAft>
            </a:pPr>
            <a:r>
              <a:rPr sz="1900">
                <a:solidFill>
                  <a:srgbClr val="222222"/>
                </a:solidFill>
              </a:rPr>
              <a:t>•  So a 0.3 degree change might mean nothing at all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01.3: The Agentic Pattern: Predict, Then Measure</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Pattern one: guess first, then look</a:t>
            </a:r>
          </a:p>
          <a:p>
            <a:pPr>
              <a:spcAft>
                <a:spcPts val="1000"/>
              </a:spcAft>
            </a:pPr>
            <a:r>
              <a:rPr sz="1900">
                <a:solidFill>
                  <a:srgbClr val="222222"/>
                </a:solidFill>
              </a:rPr>
              <a:t>•  Like calling a cricket score before checking your phone</a:t>
            </a:r>
          </a:p>
          <a:p>
            <a:pPr>
              <a:spcAft>
                <a:spcPts val="1000"/>
              </a:spcAft>
            </a:pPr>
            <a:r>
              <a:rPr sz="1900">
                <a:solidFill>
                  <a:srgbClr val="222222"/>
                </a:solidFill>
              </a:rPr>
              <a:t>•  The AI predicts the next reading; the sensor grades it</a:t>
            </a:r>
          </a:p>
          <a:p>
            <a:pPr>
              <a:spcAft>
                <a:spcPts val="1000"/>
              </a:spcAft>
            </a:pPr>
            <a:r>
              <a:rPr sz="1900">
                <a:solidFill>
                  <a:srgbClr val="222222"/>
                </a:solidFill>
              </a:rPr>
              <a:t>•  Being wrong is the interesting part: something changed</a:t>
            </a:r>
          </a:p>
          <a:p>
            <a:pPr>
              <a:spcAft>
                <a:spcPts val="1000"/>
              </a:spcAft>
            </a:pPr>
            <a:r>
              <a:rPr sz="1900">
                <a:solidFill>
                  <a:srgbClr val="222222"/>
                </a:solidFill>
              </a:rPr>
              <a:t>•  You design the thinking; the AI does the watching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01.4: What Is the DS18B20?</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A digital thermometer on a chip: senses temperature, reports a number, not a voltage</a:t>
            </a:r>
          </a:p>
          <a:p>
            <a:pPr>
              <a:spcAft>
                <a:spcPts val="1000"/>
              </a:spcAft>
            </a:pPr>
            <a:r>
              <a:rPr sz="1900">
                <a:solidFill>
                  <a:srgbClr val="222222"/>
                </a:solidFill>
              </a:rPr>
              <a:t>•  Silicon bandgap principle: a transistor junction's voltage shifts predictably with temperature</a:t>
            </a:r>
          </a:p>
          <a:p>
            <a:pPr>
              <a:spcAft>
                <a:spcPts val="1000"/>
              </a:spcAft>
            </a:pPr>
            <a:r>
              <a:rPr sz="1900">
                <a:solidFill>
                  <a:srgbClr val="222222"/>
                </a:solidFill>
              </a:rPr>
              <a:t>•  On-chip ADC converts that shift to a digital value; no conversion left for the user</a:t>
            </a:r>
          </a:p>
          <a:p>
            <a:pPr>
              <a:spcAft>
                <a:spcPts val="1000"/>
              </a:spcAft>
            </a:pPr>
            <a:r>
              <a:rPr sz="1900">
                <a:solidFill>
                  <a:srgbClr val="222222"/>
                </a:solidFill>
              </a:rPr>
              <a:t>•  Talks over a single data wire (One-Wire protocol) plus power and ground</a:t>
            </a:r>
          </a:p>
          <a:p>
            <a:pPr>
              <a:spcAft>
                <a:spcPts val="1000"/>
              </a:spcAft>
            </a:pPr>
            <a:r>
              <a:rPr sz="1900">
                <a:solidFill>
                  <a:srgbClr val="222222"/>
                </a:solidFill>
              </a:rPr>
              <a:t>•  Each chip carries a unique 64-bit serial number burned in at the factory</a:t>
            </a:r>
          </a:p>
          <a:p>
            <a:pPr>
              <a:spcAft>
                <a:spcPts val="1000"/>
              </a:spcAft>
            </a:pPr>
            <a:r>
              <a:rPr sz="1900">
                <a:solidFill>
                  <a:srgbClr val="222222"/>
                </a:solidFill>
              </a:rPr>
              <a:t>•  In this kit: packaged sensor PSENS-001 on SIM1</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01.5: What It Does in Practice</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One of the most widely deployed temperature sensors in the world</a:t>
            </a:r>
          </a:p>
          <a:p>
            <a:pPr>
              <a:spcAft>
                <a:spcPts val="1000"/>
              </a:spcAft>
            </a:pPr>
            <a:r>
              <a:rPr sz="1900">
                <a:solidFill>
                  <a:srgbClr val="222222"/>
                </a:solidFill>
              </a:rPr>
              <a:t>•  Cold chain: refrigerators, freezers, cold rooms, refrigerated trucks</a:t>
            </a:r>
          </a:p>
          <a:p>
            <a:pPr>
              <a:spcAft>
                <a:spcPts val="1000"/>
              </a:spcAft>
            </a:pPr>
            <a:r>
              <a:rPr sz="1900">
                <a:solidFill>
                  <a:srgbClr val="222222"/>
                </a:solidFill>
              </a:rPr>
              <a:t>•  Buildings: homes, hospitals, server rooms, stadiums</a:t>
            </a:r>
          </a:p>
          <a:p>
            <a:pPr>
              <a:spcAft>
                <a:spcPts val="1000"/>
              </a:spcAft>
            </a:pPr>
            <a:r>
              <a:rPr sz="1900">
                <a:solidFill>
                  <a:srgbClr val="222222"/>
                </a:solidFill>
              </a:rPr>
              <a:t>•  Waterproof variant measures non-corrosive liquids directly</a:t>
            </a:r>
          </a:p>
          <a:p>
            <a:pPr>
              <a:spcAft>
                <a:spcPts val="1000"/>
              </a:spcAft>
            </a:pPr>
            <a:r>
              <a:rPr sz="1900">
                <a:solidFill>
                  <a:srgbClr val="222222"/>
                </a:solidFill>
              </a:rPr>
              <a:t>•  Where it stops: ±0.5 °C accuracy and +125 °C ceiling; Pt-100 for precision, thermocouple for furnaces</a:t>
            </a:r>
          </a:p>
          <a:p>
            <a:pPr>
              <a:spcAft>
                <a:spcPts val="1000"/>
              </a:spcAft>
            </a:pPr>
            <a:r>
              <a:rPr sz="1900">
                <a:solidFill>
                  <a:srgbClr val="222222"/>
                </a:solidFill>
              </a:rPr>
              <a:t>•  Selection criteria: range, accuracy, environment, stability, cost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01.6: Technical Card</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Measurand: temperature; range -55 °C to +125 °C</a:t>
            </a:r>
          </a:p>
          <a:p>
            <a:pPr>
              <a:spcAft>
                <a:spcPts val="1000"/>
              </a:spcAft>
            </a:pPr>
            <a:r>
              <a:rPr sz="1900">
                <a:solidFill>
                  <a:srgbClr val="222222"/>
                </a:solidFill>
              </a:rPr>
              <a:t>•  Accuracy: ±0.5 °C from -10 °C to +85 °C (wider error outside this band)</a:t>
            </a:r>
          </a:p>
          <a:p>
            <a:pPr>
              <a:spcAft>
                <a:spcPts val="1000"/>
              </a:spcAft>
            </a:pPr>
            <a:r>
              <a:rPr sz="1900">
                <a:solidFill>
                  <a:srgbClr val="222222"/>
                </a:solidFill>
              </a:rPr>
              <a:t>•  Resolution: 9 to 12 bit, configurable; 0.0625 °C at 12 bit</a:t>
            </a:r>
          </a:p>
          <a:p>
            <a:pPr>
              <a:spcAft>
                <a:spcPts val="1000"/>
              </a:spcAft>
            </a:pPr>
            <a:r>
              <a:rPr sz="1900">
                <a:solidFill>
                  <a:srgbClr val="222222"/>
                </a:solidFill>
              </a:rPr>
              <a:t>•  Original package: TO-92 three-pin, or waterproof stainless probe variant</a:t>
            </a:r>
          </a:p>
          <a:p>
            <a:pPr>
              <a:spcAft>
                <a:spcPts val="1000"/>
              </a:spcAft>
            </a:pPr>
            <a:r>
              <a:rPr sz="1900">
                <a:solidFill>
                  <a:srgbClr val="222222"/>
                </a:solidFill>
              </a:rPr>
              <a:t>•  Output: digital, One-Wire protocol; supports parasite power and daisy-chaining</a:t>
            </a:r>
          </a:p>
          <a:p>
            <a:pPr>
              <a:spcAft>
                <a:spcPts val="1000"/>
              </a:spcAft>
            </a:pPr>
            <a:r>
              <a:rPr sz="1900">
                <a:solidFill>
                  <a:srgbClr val="222222"/>
                </a:solidFill>
              </a:rPr>
              <a:t>•  Packaged sensor dimensions: [PLACEHOLDER]</a:t>
            </a:r>
          </a:p>
          <a:p>
            <a:pPr>
              <a:spcAft>
                <a:spcPts val="1000"/>
              </a:spcAft>
            </a:pPr>
            <a:r>
              <a:rPr sz="1900">
                <a:solidFill>
                  <a:srgbClr val="222222"/>
                </a:solidFill>
              </a:rPr>
              <a:t>•  Interface/connector details: [PLACEHOLDER: keyed harness, WHAN part number]; SIM1, One-Wire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01.7: Climate Change Applications</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Measurement: hyperlocal temperature mapping; urban heat islands street by street</a:t>
            </a:r>
          </a:p>
          <a:p>
            <a:pPr>
              <a:spcAft>
                <a:spcPts val="1000"/>
              </a:spcAft>
            </a:pPr>
            <a:r>
              <a:rPr sz="1900">
                <a:solidFill>
                  <a:srgbClr val="222222"/>
                </a:solidFill>
              </a:rPr>
              <a:t>•  Long-duration outdoor campaigns on power-bank operation</a:t>
            </a:r>
          </a:p>
          <a:p>
            <a:pPr>
              <a:spcAft>
                <a:spcPts val="1000"/>
              </a:spcAft>
            </a:pPr>
            <a:r>
              <a:rPr sz="1900">
                <a:solidFill>
                  <a:srgbClr val="222222"/>
                </a:solidFill>
              </a:rPr>
              <a:t>•  Mitigation: quantify HVAC waste; measure delivered cooling against energy burned</a:t>
            </a:r>
          </a:p>
          <a:p>
            <a:pPr>
              <a:spcAft>
                <a:spcPts val="1000"/>
              </a:spcAft>
            </a:pPr>
            <a:r>
              <a:rPr sz="1900">
                <a:solidFill>
                  <a:srgbClr val="222222"/>
                </a:solidFill>
              </a:rPr>
              <a:t>•  Adaptation: heat-stress monitoring in classrooms, clinics, and dwellings</a:t>
            </a:r>
          </a:p>
          <a:p>
            <a:pPr>
              <a:spcAft>
                <a:spcPts val="1000"/>
              </a:spcAft>
            </a:pPr>
            <a:r>
              <a:rPr sz="1900">
                <a:solidFill>
                  <a:srgbClr val="222222"/>
                </a:solidFill>
              </a:rPr>
              <a:t>•  Cold chain integrity for food and vaccines, cutting spoilage-driven waste</a:t>
            </a:r>
          </a:p>
          <a:p>
            <a:pPr>
              <a:spcAft>
                <a:spcPts val="1000"/>
              </a:spcAft>
            </a:pPr>
            <a:r>
              <a:rPr sz="1900">
                <a:solidFill>
                  <a:srgbClr val="222222"/>
                </a:solidFill>
              </a:rPr>
              <a:t>•  Anchor variable: nearly every climate dataset starts with temperature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01.8: Fusion Partners</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SCT-013 current sensor: temperature drop versus energy burned equals measured AC efficiency</a:t>
            </a:r>
          </a:p>
          <a:p>
            <a:pPr>
              <a:spcAft>
                <a:spcPts val="1000"/>
              </a:spcAft>
            </a:pPr>
            <a:r>
              <a:rPr sz="1900">
                <a:solidFill>
                  <a:srgbClr val="222222"/>
                </a:solidFill>
              </a:rPr>
              <a:t>•  Reed switch: explains why cold-chain temperature rose (door open versus compressor fault)</a:t>
            </a:r>
          </a:p>
          <a:p>
            <a:pPr>
              <a:spcAft>
                <a:spcPts val="1000"/>
              </a:spcAft>
            </a:pPr>
            <a:r>
              <a:rPr sz="1900">
                <a:solidFill>
                  <a:srgbClr val="222222"/>
                </a:solidFill>
              </a:rPr>
              <a:t>•  SCD41: separates thermal comfort from air quality; occupancy context for temperature swings</a:t>
            </a:r>
          </a:p>
          <a:p>
            <a:pPr>
              <a:spcAft>
                <a:spcPts val="1000"/>
              </a:spcAft>
            </a:pPr>
            <a:r>
              <a:rPr sz="1900">
                <a:solidFill>
                  <a:srgbClr val="222222"/>
                </a:solidFill>
              </a:rPr>
              <a:t>•  Two DS18B20s (daisy-chained): inside/outside pairs, gradients, delivered cooling</a:t>
            </a:r>
          </a:p>
          <a:p>
            <a:pPr>
              <a:spcAft>
                <a:spcPts val="1000"/>
              </a:spcAft>
            </a:pPr>
            <a:r>
              <a:rPr sz="1900">
                <a:solidFill>
                  <a:srgbClr val="222222"/>
                </a:solidFill>
              </a:rPr>
              <a:t>•  Agent role: MCP tools align the series on tick_ms and reason across them</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01.9: Capstone C1</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Question: is this room healthy, and is the HVAC earning its energy bill?</a:t>
            </a:r>
          </a:p>
          <a:p>
            <a:pPr>
              <a:spcAft>
                <a:spcPts val="1000"/>
              </a:spcAft>
            </a:pPr>
            <a:r>
              <a:rPr sz="1900">
                <a:solidFill>
                  <a:srgbClr val="222222"/>
                </a:solidFill>
              </a:rPr>
              <a:t>•  Sensors: DS18B20 (in/out pair), SCD41, PIR, SCT-013, reed switch</a:t>
            </a:r>
          </a:p>
          <a:p>
            <a:pPr>
              <a:spcAft>
                <a:spcPts val="1000"/>
              </a:spcAft>
            </a:pPr>
            <a:r>
              <a:rPr sz="1900">
                <a:solidFill>
                  <a:srgbClr val="222222"/>
                </a:solidFill>
              </a:rPr>
              <a:t>•  Contradiction to resolve: cool room, high CO2: comfort is not health</a:t>
            </a:r>
          </a:p>
          <a:p>
            <a:pPr>
              <a:spcAft>
                <a:spcPts val="1000"/>
              </a:spcAft>
            </a:pPr>
            <a:r>
              <a:rPr sz="1900">
                <a:solidFill>
                  <a:srgbClr val="222222"/>
                </a:solidFill>
              </a:rPr>
              <a:t>•  Decision: a deployable ventilation and setback rule via deploy_rule</a:t>
            </a:r>
          </a:p>
          <a:p>
            <a:pPr>
              <a:spcAft>
                <a:spcPts val="1000"/>
              </a:spcAft>
            </a:pPr>
            <a:r>
              <a:rPr sz="1900">
                <a:solidFill>
                  <a:srgbClr val="222222"/>
                </a:solidFill>
              </a:rPr>
              <a:t>•  Agent orchestration: capture_experiment, aligned queries, human-approved action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2286000"/>
            <a:ext cx="10698480" cy="1463040"/>
          </a:xfrm>
          <a:prstGeom prst="rect">
            <a:avLst/>
          </a:prstGeom>
          <a:noFill/>
        </p:spPr>
        <p:txBody>
          <a:bodyPr wrap="square">
            <a:spAutoFit/>
          </a:bodyPr>
          <a:lstStyle/>
          <a:p>
            <a:r>
              <a:rPr sz="3600" b="1">
                <a:solidFill>
                  <a:srgbClr val="1B5E8A"/>
                </a:solidFill>
              </a:rPr>
              <a:t>Sensor 02: BME688 - Gas / IAQ, Temperature, Humidity, Pressure (SIM2, I2C)</a:t>
            </a:r>
          </a:p>
        </p:txBody>
      </p:sp>
      <p:sp>
        <p:nvSpPr>
          <p:cNvPr id="3" name="TextBox 2"/>
          <p:cNvSpPr txBox="1"/>
          <p:nvPr/>
        </p:nvSpPr>
        <p:spPr>
          <a:xfrm>
            <a:off x="731520" y="3840480"/>
            <a:ext cx="10698480" cy="914400"/>
          </a:xfrm>
          <a:prstGeom prst="rect">
            <a:avLst/>
          </a:prstGeom>
          <a:noFill/>
        </p:spPr>
        <p:txBody>
          <a:bodyPr wrap="square">
            <a:spAutoFit/>
          </a:bodyPr>
          <a:lstStyle/>
          <a:p>
            <a:r>
              <a:rPr sz="1800">
                <a:solidFill>
                  <a:srgbClr val="222222"/>
                </a:solidFill>
              </a:rPr>
              <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02.1: AI-First: The Old Way and the New Way</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The old way: the room feels stuffy, someone finally opens a window</a:t>
            </a:r>
          </a:p>
          <a:p>
            <a:pPr>
              <a:spcAft>
                <a:spcPts val="1000"/>
              </a:spcAft>
            </a:pPr>
            <a:r>
              <a:rPr sz="1900">
                <a:solidFill>
                  <a:srgbClr val="222222"/>
                </a:solidFill>
              </a:rPr>
              <a:t>•  The new way: an AI watches the air continuously and acts early</a:t>
            </a:r>
          </a:p>
          <a:p>
            <a:pPr>
              <a:spcAft>
                <a:spcPts val="1000"/>
              </a:spcAft>
            </a:pPr>
            <a:r>
              <a:rPr sz="1900">
                <a:solidFill>
                  <a:srgbClr val="222222"/>
                </a:solidFill>
              </a:rPr>
              <a:t>•  Air tells on itself slowly: sleepy classes, slow headaches</a:t>
            </a:r>
          </a:p>
          <a:p>
            <a:pPr>
              <a:spcAft>
                <a:spcPts val="1000"/>
              </a:spcAft>
            </a:pPr>
            <a:r>
              <a:rPr sz="1900">
                <a:solidFill>
                  <a:srgbClr val="222222"/>
                </a:solidFill>
              </a:rPr>
              <a:t>•  The AI notices the slide before people feel it</a:t>
            </a:r>
          </a:p>
          <a:p>
            <a:pPr>
              <a:spcAft>
                <a:spcPts val="1000"/>
              </a:spcAft>
            </a:pPr>
            <a:r>
              <a:rPr sz="1900">
                <a:solidFill>
                  <a:srgbClr val="222222"/>
                </a:solidFill>
              </a:rPr>
              <a:t>•  Your role: design how the watcher thinks about air</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02.2: AI-First: What the AI Must Know About This Sensor</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Surprise: there is already a tiny AI inside this chip</a:t>
            </a:r>
          </a:p>
          <a:p>
            <a:pPr>
              <a:spcAft>
                <a:spcPts val="1000"/>
              </a:spcAft>
            </a:pPr>
            <a:r>
              <a:rPr sz="1900">
                <a:solidFill>
                  <a:srgbClr val="222222"/>
                </a:solidFill>
              </a:rPr>
              <a:t>•  It smells the air and estimates air quality</a:t>
            </a:r>
          </a:p>
          <a:p>
            <a:pPr>
              <a:spcAft>
                <a:spcPts val="1000"/>
              </a:spcAft>
            </a:pPr>
            <a:r>
              <a:rPr sz="1900">
                <a:solidFill>
                  <a:srgbClr val="222222"/>
                </a:solidFill>
              </a:rPr>
              <a:t>•  An estimate is an opinion, not a fact</a:t>
            </a:r>
          </a:p>
          <a:p>
            <a:pPr>
              <a:spcAft>
                <a:spcPts val="1000"/>
              </a:spcAft>
            </a:pPr>
            <a:r>
              <a:rPr sz="1900">
                <a:solidFill>
                  <a:srgbClr val="222222"/>
                </a:solidFill>
              </a:rPr>
              <a:t>•  The sensor card, its ID card, labels each number: measured or estimated</a:t>
            </a:r>
          </a:p>
          <a:p>
            <a:pPr>
              <a:spcAft>
                <a:spcPts val="1000"/>
              </a:spcAft>
            </a:pPr>
            <a:r>
              <a:rPr sz="1900">
                <a:solidFill>
                  <a:srgbClr val="222222"/>
                </a:solidFill>
              </a:rPr>
              <a:t>•  An AI that knows the difference stays honest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02.3: The Agentic Pattern: Adjudicating Two Witnesses</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The pattern: when two sensors disagree, judge, do not average</a:t>
            </a:r>
          </a:p>
          <a:p>
            <a:pPr>
              <a:spcAft>
                <a:spcPts val="1000"/>
              </a:spcAft>
            </a:pPr>
            <a:r>
              <a:rPr sz="1900">
                <a:solidFill>
                  <a:srgbClr val="222222"/>
                </a:solidFill>
              </a:rPr>
              <a:t>•  Like two friends with different stories: ask who was there</a:t>
            </a:r>
          </a:p>
          <a:p>
            <a:pPr>
              <a:spcAft>
                <a:spcPts val="1000"/>
              </a:spcAft>
            </a:pPr>
            <a:r>
              <a:rPr sz="1900">
                <a:solidFill>
                  <a:srgbClr val="222222"/>
                </a:solidFill>
              </a:rPr>
              <a:t>•  BME688 estimates CO2 from smells; SCD41 actually counts it</a:t>
            </a:r>
          </a:p>
          <a:p>
            <a:pPr>
              <a:spcAft>
                <a:spcPts val="1000"/>
              </a:spcAft>
            </a:pPr>
            <a:r>
              <a:rPr sz="1900">
                <a:solidFill>
                  <a:srgbClr val="222222"/>
                </a:solidFill>
              </a:rPr>
              <a:t>•  Disagreement is a clue, not an error</a:t>
            </a:r>
          </a:p>
          <a:p>
            <a:pPr>
              <a:spcAft>
                <a:spcPts val="1000"/>
              </a:spcAft>
            </a:pPr>
            <a:r>
              <a:rPr sz="1900">
                <a:solidFill>
                  <a:srgbClr val="222222"/>
                </a:solidFill>
              </a:rPr>
              <a:t>•  You write the judging rules; the AI applies them every minute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02.4: What Is the BME688?</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Four sensors in one 3 mm chip: temperature, humidity, barometric pressure, gas</a:t>
            </a:r>
          </a:p>
          <a:p>
            <a:pPr>
              <a:spcAft>
                <a:spcPts val="1000"/>
              </a:spcAft>
            </a:pPr>
            <a:r>
              <a:rPr sz="1900">
                <a:solidFill>
                  <a:srgbClr val="222222"/>
                </a:solidFill>
              </a:rPr>
              <a:t>•  Gas sensing principle: heated metal-oxide surface changes conductivity when gas molecules react with it</a:t>
            </a:r>
          </a:p>
          <a:p>
            <a:pPr>
              <a:spcAft>
                <a:spcPts val="1000"/>
              </a:spcAft>
            </a:pPr>
            <a:r>
              <a:rPr sz="1900">
                <a:solidFill>
                  <a:srgbClr val="222222"/>
                </a:solidFill>
              </a:rPr>
              <a:t>•  Gas resistance is the raw signal; software turns it into air-quality estimates</a:t>
            </a:r>
          </a:p>
          <a:p>
            <a:pPr>
              <a:spcAft>
                <a:spcPts val="1000"/>
              </a:spcAft>
            </a:pPr>
            <a:r>
              <a:rPr sz="1900">
                <a:solidFill>
                  <a:srgbClr val="222222"/>
                </a:solidFill>
              </a:rPr>
              <a:t>•  Bosch BSEC library outputs IAQ index, estimated CO2 (eCO2), and breath-VOC equivalents</a:t>
            </a:r>
          </a:p>
          <a:p>
            <a:pPr>
              <a:spcAft>
                <a:spcPts val="1000"/>
              </a:spcAft>
            </a:pPr>
            <a:r>
              <a:rPr sz="1900">
                <a:solidFill>
                  <a:srgbClr val="222222"/>
                </a:solidFill>
              </a:rPr>
              <a:t>•  Talks I2C on SIM2, sharing the bus with SCD41 and VEML7700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02.5: What It Does in Practice</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Indoor air quality monitoring in homes, offices, schools, vehicles</a:t>
            </a:r>
          </a:p>
          <a:p>
            <a:pPr>
              <a:spcAft>
                <a:spcPts val="1000"/>
              </a:spcAft>
            </a:pPr>
            <a:r>
              <a:rPr sz="1900">
                <a:solidFill>
                  <a:srgbClr val="222222"/>
                </a:solidFill>
              </a:rPr>
              <a:t>•  Weather sensing: pressure trends for short-term forecasting, humidity for comfort</a:t>
            </a:r>
          </a:p>
          <a:p>
            <a:pPr>
              <a:spcAft>
                <a:spcPts val="1000"/>
              </a:spcAft>
            </a:pPr>
            <a:r>
              <a:rPr sz="1900">
                <a:solidFill>
                  <a:srgbClr val="222222"/>
                </a:solidFill>
              </a:rPr>
              <a:t>•  Gas leak and smell detection: solvents, spoiled food, smoke precursors</a:t>
            </a:r>
          </a:p>
          <a:p>
            <a:pPr>
              <a:spcAft>
                <a:spcPts val="1000"/>
              </a:spcAft>
            </a:pPr>
            <a:r>
              <a:rPr sz="1900">
                <a:solidFill>
                  <a:srgbClr val="222222"/>
                </a:solidFill>
              </a:rPr>
              <a:t>•  Trainable: BME AI-Studio lets the gas sensor learn specific smell signatures</a:t>
            </a:r>
          </a:p>
          <a:p>
            <a:pPr>
              <a:spcAft>
                <a:spcPts val="1000"/>
              </a:spcAft>
            </a:pPr>
            <a:r>
              <a:rPr sz="1900">
                <a:solidFill>
                  <a:srgbClr val="222222"/>
                </a:solidFill>
              </a:rPr>
              <a:t>•  Found in consumer air purifiers, smart thermostats, wearables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02.6: Technical Card</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Measurands: temperature (-40 to +85 °C, ±1 °C), humidity (0-100 %RH, ±3 %RH), pressure (300-1100 hPa, ±0.6 hPa), gas resistance (ohms)</a:t>
            </a:r>
          </a:p>
          <a:p>
            <a:pPr>
              <a:spcAft>
                <a:spcPts val="1000"/>
              </a:spcAft>
            </a:pPr>
            <a:r>
              <a:rPr sz="1900">
                <a:solidFill>
                  <a:srgbClr val="222222"/>
                </a:solidFill>
              </a:rPr>
              <a:t>•  Derived by BSEC: IAQ index 0-500, eCO2 (ppm, estimated), bVOC (ppm equivalent)</a:t>
            </a:r>
          </a:p>
          <a:p>
            <a:pPr>
              <a:spcAft>
                <a:spcPts val="1000"/>
              </a:spcAft>
            </a:pPr>
            <a:r>
              <a:rPr sz="1900">
                <a:solidFill>
                  <a:srgbClr val="222222"/>
                </a:solidFill>
              </a:rPr>
              <a:t>•  Original package: 3.0 × 3.0 × 0.9 mm metal-lid LGA, magnified in photos</a:t>
            </a:r>
          </a:p>
          <a:p>
            <a:pPr>
              <a:spcAft>
                <a:spcPts val="1000"/>
              </a:spcAft>
            </a:pPr>
            <a:r>
              <a:rPr sz="1900">
                <a:solidFill>
                  <a:srgbClr val="222222"/>
                </a:solidFill>
              </a:rPr>
              <a:t>•  Output: digital, I2C (address 0x76 in this kit) or SPI; kit uses I2C</a:t>
            </a:r>
          </a:p>
          <a:p>
            <a:pPr>
              <a:spcAft>
                <a:spcPts val="1000"/>
              </a:spcAft>
            </a:pPr>
            <a:r>
              <a:rPr sz="1900">
                <a:solidFill>
                  <a:srgbClr val="222222"/>
                </a:solidFill>
              </a:rPr>
              <a:t>•  eCO2 is inferred from VOCs, not a CO2 measurement</a:t>
            </a:r>
          </a:p>
          <a:p>
            <a:pPr>
              <a:spcAft>
                <a:spcPts val="1000"/>
              </a:spcAft>
            </a:pPr>
            <a:r>
              <a:rPr sz="1900">
                <a:solidFill>
                  <a:srgbClr val="222222"/>
                </a:solidFill>
              </a:rPr>
              <a:t>•  Packaged sensor dimensions: [PLACEHOLDER]; connector: [PLACEHOLDER]; SIM2, I2C</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02.7: Climate Change Applications</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Ventilation efficiency: healthy air with minimum energy is a core mitigation problem</a:t>
            </a:r>
          </a:p>
          <a:p>
            <a:pPr>
              <a:spcAft>
                <a:spcPts val="1000"/>
              </a:spcAft>
            </a:pPr>
            <a:r>
              <a:rPr sz="1900">
                <a:solidFill>
                  <a:srgbClr val="222222"/>
                </a:solidFill>
              </a:rPr>
              <a:t>•  Humidity + temperature: heat index, the variable that determines human heat stress</a:t>
            </a:r>
          </a:p>
          <a:p>
            <a:pPr>
              <a:spcAft>
                <a:spcPts val="1000"/>
              </a:spcAft>
            </a:pPr>
            <a:r>
              <a:rPr sz="1900">
                <a:solidFill>
                  <a:srgbClr val="222222"/>
                </a:solidFill>
              </a:rPr>
              <a:t>•  Pressure: hyperlocal weather trends, storm and monsoon onset context</a:t>
            </a:r>
          </a:p>
          <a:p>
            <a:pPr>
              <a:spcAft>
                <a:spcPts val="1000"/>
              </a:spcAft>
            </a:pPr>
            <a:r>
              <a:rPr sz="1900">
                <a:solidFill>
                  <a:srgbClr val="222222"/>
                </a:solidFill>
              </a:rPr>
              <a:t>•  Wildfire and biomass smoke: VOC channel as an early smoke-context signal</a:t>
            </a:r>
          </a:p>
          <a:p>
            <a:pPr>
              <a:spcAft>
                <a:spcPts val="1000"/>
              </a:spcAft>
            </a:pPr>
            <a:r>
              <a:rPr sz="1900">
                <a:solidFill>
                  <a:srgbClr val="222222"/>
                </a:solidFill>
              </a:rPr>
              <a:t>•  Baseline air quality campaigns where reference stations do not exist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02.8: Fusion Partners</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SCD41: the truth test; measured CO2 versus estimated eCO2, a built-in validation lab</a:t>
            </a:r>
          </a:p>
          <a:p>
            <a:pPr>
              <a:spcAft>
                <a:spcPts val="1000"/>
              </a:spcAft>
            </a:pPr>
            <a:r>
              <a:rPr sz="1900">
                <a:solidFill>
                  <a:srgbClr val="222222"/>
                </a:solidFill>
              </a:rPr>
              <a:t>•  PIR: attributes air-quality changes to occupancy versus other sources</a:t>
            </a:r>
          </a:p>
          <a:p>
            <a:pPr>
              <a:spcAft>
                <a:spcPts val="1000"/>
              </a:spcAft>
            </a:pPr>
            <a:r>
              <a:rPr sz="1900">
                <a:solidFill>
                  <a:srgbClr val="222222"/>
                </a:solidFill>
              </a:rPr>
              <a:t>•  SPL: separates "many quiet people" from "few noisy machines" in IAQ interpretation</a:t>
            </a:r>
          </a:p>
          <a:p>
            <a:pPr>
              <a:spcAft>
                <a:spcPts val="1000"/>
              </a:spcAft>
            </a:pPr>
            <a:r>
              <a:rPr sz="1900">
                <a:solidFill>
                  <a:srgbClr val="222222"/>
                </a:solidFill>
              </a:rPr>
              <a:t>•  VEML7700: lux drop plus humidity rise equals fog, not cloud; weather disambiguation</a:t>
            </a:r>
          </a:p>
          <a:p>
            <a:pPr>
              <a:spcAft>
                <a:spcPts val="1000"/>
              </a:spcAft>
            </a:pPr>
            <a:r>
              <a:rPr sz="1900">
                <a:solidFill>
                  <a:srgbClr val="222222"/>
                </a:solidFill>
              </a:rPr>
              <a:t>•  Agent role: validate_reading plus cross-sensor queries expose where BSEC estimates break</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02.9: Capstone C3</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Question: is this space comfortable by the numbers?</a:t>
            </a:r>
          </a:p>
          <a:p>
            <a:pPr>
              <a:spcAft>
                <a:spcPts val="1000"/>
              </a:spcAft>
            </a:pPr>
            <a:r>
              <a:rPr sz="1900">
                <a:solidFill>
                  <a:srgbClr val="222222"/>
                </a:solidFill>
              </a:rPr>
              <a:t>•  Sensors: BME688, SCD41, DS18B20, SPL</a:t>
            </a:r>
          </a:p>
          <a:p>
            <a:pPr>
              <a:spcAft>
                <a:spcPts val="1000"/>
              </a:spcAft>
            </a:pPr>
            <a:r>
              <a:rPr sz="1900">
                <a:solidFill>
                  <a:srgbClr val="222222"/>
                </a:solidFill>
              </a:rPr>
              <a:t>•  Contradiction to resolve: sensors disagree; eCO2 says bad air, SCD41 says fine</a:t>
            </a:r>
          </a:p>
          <a:p>
            <a:pPr>
              <a:spcAft>
                <a:spcPts val="1000"/>
              </a:spcAft>
            </a:pPr>
            <a:r>
              <a:rPr sz="1900">
                <a:solidFill>
                  <a:srgbClr val="222222"/>
                </a:solidFill>
              </a:rPr>
              <a:t>•  Decision: publish a defensible comfort verdict per room, with evidence</a:t>
            </a:r>
          </a:p>
          <a:p>
            <a:pPr>
              <a:spcAft>
                <a:spcPts val="1000"/>
              </a:spcAft>
            </a:pPr>
            <a:r>
              <a:rPr sz="1900">
                <a:solidFill>
                  <a:srgbClr val="222222"/>
                </a:solidFill>
              </a:rPr>
              <a:t>•  Agents run scheduled comfort audits and flag standard violations with reasoning</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2286000"/>
            <a:ext cx="10698480" cy="1463040"/>
          </a:xfrm>
          <a:prstGeom prst="rect">
            <a:avLst/>
          </a:prstGeom>
          <a:noFill/>
        </p:spPr>
        <p:txBody>
          <a:bodyPr wrap="square">
            <a:spAutoFit/>
          </a:bodyPr>
          <a:lstStyle/>
          <a:p>
            <a:r>
              <a:rPr sz="3600" b="1">
                <a:solidFill>
                  <a:srgbClr val="1B5E8A"/>
                </a:solidFill>
              </a:rPr>
              <a:t>Sensor 03: PIR - Motion (SIM3, GPIO)</a:t>
            </a:r>
          </a:p>
        </p:txBody>
      </p:sp>
      <p:sp>
        <p:nvSpPr>
          <p:cNvPr id="3" name="TextBox 2"/>
          <p:cNvSpPr txBox="1"/>
          <p:nvPr/>
        </p:nvSpPr>
        <p:spPr>
          <a:xfrm>
            <a:off x="731520" y="3840480"/>
            <a:ext cx="10698480" cy="914400"/>
          </a:xfrm>
          <a:prstGeom prst="rect">
            <a:avLst/>
          </a:prstGeom>
          <a:noFill/>
        </p:spPr>
        <p:txBody>
          <a:bodyPr wrap="square">
            <a:spAutoFit/>
          </a:bodyPr>
          <a:lstStyle/>
          <a:p>
            <a:r>
              <a:rPr sz="1800">
                <a:solidFill>
                  <a:srgbClr val="222222"/>
                </a:solidFill>
              </a:rPr>
              <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03.1: AI-First: The Old Way and the New Way</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The old way: flash means someone is there, quiet means nobody</a:t>
            </a:r>
          </a:p>
          <a:p>
            <a:pPr>
              <a:spcAft>
                <a:spcPts val="1000"/>
              </a:spcAft>
            </a:pPr>
            <a:r>
              <a:rPr sz="1900">
                <a:solidFill>
                  <a:srgbClr val="222222"/>
                </a:solidFill>
              </a:rPr>
              <a:t>•  The new way: an AI interprets what the sensor saw, and did not see</a:t>
            </a:r>
          </a:p>
          <a:p>
            <a:pPr>
              <a:spcAft>
                <a:spcPts val="1000"/>
              </a:spcAft>
            </a:pPr>
            <a:r>
              <a:rPr sz="1900">
                <a:solidFill>
                  <a:srgbClr val="222222"/>
                </a:solidFill>
              </a:rPr>
              <a:t>•  Everyday failure: you sit still reading, and the lights go off</a:t>
            </a:r>
          </a:p>
          <a:p>
            <a:pPr>
              <a:spcAft>
                <a:spcPts val="1000"/>
              </a:spcAft>
            </a:pPr>
            <a:r>
              <a:rPr sz="1900">
                <a:solidFill>
                  <a:srgbClr val="222222"/>
                </a:solidFill>
              </a:rPr>
              <a:t>•  The AI treats quiet as a question, not an answer</a:t>
            </a:r>
          </a:p>
          <a:p>
            <a:pPr>
              <a:spcAft>
                <a:spcPts val="1000"/>
              </a:spcAft>
            </a:pPr>
            <a:r>
              <a:rPr sz="1900">
                <a:solidFill>
                  <a:srgbClr val="222222"/>
                </a:solidFill>
              </a:rPr>
              <a:t>•  You decide what the AI may conclude from silence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03.2: AI-First: What the AI Must Know About This Sensor</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The sensor's ID card carries a warning the AI must read</a:t>
            </a:r>
          </a:p>
          <a:p>
            <a:pPr>
              <a:spcAft>
                <a:spcPts val="1000"/>
              </a:spcAft>
            </a:pPr>
            <a:r>
              <a:rPr sz="1900">
                <a:solidFill>
                  <a:srgbClr val="222222"/>
                </a:solidFill>
              </a:rPr>
              <a:t>•  Still people turn invisible to it in about 30 seconds</a:t>
            </a:r>
          </a:p>
          <a:p>
            <a:pPr>
              <a:spcAft>
                <a:spcPts val="1000"/>
              </a:spcAft>
            </a:pPr>
            <a:r>
              <a:rPr sz="1900">
                <a:solidFill>
                  <a:srgbClr val="222222"/>
                </a:solidFill>
              </a:rPr>
              <a:t>•  So quiet has three meanings: empty room, still person, dead sensor</a:t>
            </a:r>
          </a:p>
          <a:p>
            <a:pPr>
              <a:spcAft>
                <a:spcPts val="1000"/>
              </a:spcAft>
            </a:pPr>
            <a:r>
              <a:rPr sz="1900">
                <a:solidFill>
                  <a:srgbClr val="222222"/>
                </a:solidFill>
              </a:rPr>
              <a:t>•  Each radio message is numbered, so a dead sensor gives itself away</a:t>
            </a:r>
          </a:p>
          <a:p>
            <a:pPr>
              <a:spcAft>
                <a:spcPts val="1000"/>
              </a:spcAft>
            </a:pPr>
            <a:r>
              <a:rPr sz="1900">
                <a:solidFill>
                  <a:srgbClr val="222222"/>
                </a:solidFill>
              </a:rPr>
              <a:t>•  No motion never simply equals no people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03.3: The Agentic Pattern: Absence of Evidence</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The pattern: no news is not good news, it is just no news</a:t>
            </a:r>
          </a:p>
          <a:p>
            <a:pPr>
              <a:spcAft>
                <a:spcPts val="1000"/>
              </a:spcAft>
            </a:pPr>
            <a:r>
              <a:rPr sz="1900">
                <a:solidFill>
                  <a:srgbClr val="222222"/>
                </a:solidFill>
              </a:rPr>
              <a:t>•  A silent baby monitor: asleep baby, or dead battery?</a:t>
            </a:r>
          </a:p>
          <a:p>
            <a:pPr>
              <a:spcAft>
                <a:spcPts val="1000"/>
              </a:spcAft>
            </a:pPr>
            <a:r>
              <a:rPr sz="1900">
                <a:solidFill>
                  <a:srgbClr val="222222"/>
                </a:solidFill>
              </a:rPr>
              <a:t>•  The AI stays unsure and asks a second sensor</a:t>
            </a:r>
          </a:p>
          <a:p>
            <a:pPr>
              <a:spcAft>
                <a:spcPts val="1000"/>
              </a:spcAft>
            </a:pPr>
            <a:r>
              <a:rPr sz="1900">
                <a:solidFill>
                  <a:srgbClr val="222222"/>
                </a:solidFill>
              </a:rPr>
              <a:t>•  CO2 falling and sound fading: now "empty" is believable</a:t>
            </a:r>
          </a:p>
          <a:p>
            <a:pPr>
              <a:spcAft>
                <a:spcPts val="1000"/>
              </a:spcAft>
            </a:pPr>
            <a:r>
              <a:rPr sz="1900">
                <a:solidFill>
                  <a:srgbClr val="222222"/>
                </a:solidFill>
              </a:rPr>
              <a:t>•  You decide what silence may mean; the AI checks before acting</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03.4: What Is a PIR Sensor?</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Passive Infrared: detects the heat humans radiate, emits nothing itself</a:t>
            </a:r>
          </a:p>
          <a:p>
            <a:pPr>
              <a:spcAft>
                <a:spcPts val="1000"/>
              </a:spcAft>
            </a:pPr>
            <a:r>
              <a:rPr sz="1900">
                <a:solidFill>
                  <a:srgbClr val="222222"/>
                </a:solidFill>
              </a:rPr>
              <a:t>•  Pyroelectric element responds to change in infrared, not to steady heat</a:t>
            </a:r>
          </a:p>
          <a:p>
            <a:pPr>
              <a:spcAft>
                <a:spcPts val="1000"/>
              </a:spcAft>
            </a:pPr>
            <a:r>
              <a:rPr sz="1900">
                <a:solidFill>
                  <a:srgbClr val="222222"/>
                </a:solidFill>
              </a:rPr>
              <a:t>•  Fresnel lens divides the view into zones; a warm body crossing zones creates the signal</a:t>
            </a:r>
          </a:p>
          <a:p>
            <a:pPr>
              <a:spcAft>
                <a:spcPts val="1000"/>
              </a:spcAft>
            </a:pPr>
            <a:r>
              <a:rPr sz="1900">
                <a:solidFill>
                  <a:srgbClr val="222222"/>
                </a:solidFill>
              </a:rPr>
              <a:t>•  Output is a single digital line: motion or no motion</a:t>
            </a:r>
          </a:p>
          <a:p>
            <a:pPr>
              <a:spcAft>
                <a:spcPts val="1000"/>
              </a:spcAft>
            </a:pPr>
            <a:r>
              <a:rPr sz="1900">
                <a:solidFill>
                  <a:srgbClr val="222222"/>
                </a:solidFill>
              </a:rPr>
              <a:t>•  Detection field: approximately 100 degree cone, 3 to 7 m range</a:t>
            </a:r>
          </a:p>
          <a:p>
            <a:pPr>
              <a:spcAft>
                <a:spcPts val="1000"/>
              </a:spcAft>
            </a:pPr>
            <a:r>
              <a:rPr sz="1900">
                <a:solidFill>
                  <a:srgbClr val="222222"/>
                </a:solidFill>
              </a:rPr>
              <a:t>•  In this kit: SIM3, GPIO interface, interrupt-timestamped events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03.5: What It Does in Practice</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The default occupancy sensor of the built world: lights, doors, alarms</a:t>
            </a:r>
          </a:p>
          <a:p>
            <a:pPr>
              <a:spcAft>
                <a:spcPts val="1000"/>
              </a:spcAft>
            </a:pPr>
            <a:r>
              <a:rPr sz="1900">
                <a:solidFill>
                  <a:srgbClr val="222222"/>
                </a:solidFill>
              </a:rPr>
              <a:t>•  Corridor and pathway lighting, automatic doors, washroom fixtures</a:t>
            </a:r>
          </a:p>
          <a:p>
            <a:pPr>
              <a:spcAft>
                <a:spcPts val="1000"/>
              </a:spcAft>
            </a:pPr>
            <a:r>
              <a:rPr sz="1900">
                <a:solidFill>
                  <a:srgbClr val="222222"/>
                </a:solidFill>
              </a:rPr>
              <a:t>•  Security systems: cheap, low-power, no privacy concerns (no camera, no audio)</a:t>
            </a:r>
          </a:p>
          <a:p>
            <a:pPr>
              <a:spcAft>
                <a:spcPts val="1000"/>
              </a:spcAft>
            </a:pPr>
            <a:r>
              <a:rPr sz="1900">
                <a:solidFill>
                  <a:srgbClr val="222222"/>
                </a:solidFill>
              </a:rPr>
              <a:t>•  Wildlife monitoring: camera traps trigger on PIR</a:t>
            </a:r>
          </a:p>
          <a:p>
            <a:pPr>
              <a:spcAft>
                <a:spcPts val="1000"/>
              </a:spcAft>
            </a:pPr>
            <a:r>
              <a:rPr sz="1900">
                <a:solidFill>
                  <a:srgbClr val="222222"/>
                </a:solidFill>
              </a:rPr>
              <a:t>•  The honest limitation: a person sitting still vanishes after roughly 30 seconds</a:t>
            </a:r>
          </a:p>
          <a:p>
            <a:pPr>
              <a:spcAft>
                <a:spcPts val="1000"/>
              </a:spcAft>
            </a:pPr>
            <a:r>
              <a:rPr sz="1900">
                <a:solidFill>
                  <a:srgbClr val="222222"/>
                </a:solidFill>
              </a:rPr>
              <a:t>•  False triggers near heat sources and on very hot days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03.6: Technical Card</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Measurand: human/animal motion (binary event), not presence, not count</a:t>
            </a:r>
          </a:p>
          <a:p>
            <a:pPr>
              <a:spcAft>
                <a:spcPts val="1000"/>
              </a:spcAft>
            </a:pPr>
            <a:r>
              <a:rPr sz="1900">
                <a:solidFill>
                  <a:srgbClr val="222222"/>
                </a:solidFill>
              </a:rPr>
              <a:t>•  Field: approximately 100 degree cone; range approximately 3-7 m</a:t>
            </a:r>
          </a:p>
          <a:p>
            <a:pPr>
              <a:spcAft>
                <a:spcPts val="1000"/>
              </a:spcAft>
            </a:pPr>
            <a:r>
              <a:rPr sz="1900">
                <a:solidFill>
                  <a:srgbClr val="222222"/>
                </a:solidFill>
              </a:rPr>
              <a:t>•  Supply per module datasheet: 5-20 V (module regulates internally); output high approximately 3.3 V</a:t>
            </a:r>
          </a:p>
          <a:p>
            <a:pPr>
              <a:spcAft>
                <a:spcPts val="1000"/>
              </a:spcAft>
            </a:pPr>
            <a:r>
              <a:rPr sz="1900">
                <a:solidFill>
                  <a:srgbClr val="222222"/>
                </a:solidFill>
              </a:rPr>
              <a:t>•  Adjustable: sensitivity and hold time on typical modules</a:t>
            </a:r>
          </a:p>
          <a:p>
            <a:pPr>
              <a:spcAft>
                <a:spcPts val="1000"/>
              </a:spcAft>
            </a:pPr>
            <a:r>
              <a:rPr sz="1900">
                <a:solidFill>
                  <a:srgbClr val="222222"/>
                </a:solidFill>
              </a:rPr>
              <a:t>•  Original part: pyroelectric element plus Fresnel lens on a small carrier board</a:t>
            </a:r>
          </a:p>
          <a:p>
            <a:pPr>
              <a:spcAft>
                <a:spcPts val="1000"/>
              </a:spcAft>
            </a:pPr>
            <a:r>
              <a:rPr sz="1900">
                <a:solidFill>
                  <a:srgbClr val="222222"/>
                </a:solidFill>
              </a:rPr>
              <a:t>•  Packaged sensor dimensions: [PLACEHOLDER]; connector: [PLACEHOLDER]</a:t>
            </a:r>
          </a:p>
          <a:p>
            <a:pPr>
              <a:spcAft>
                <a:spcPts val="1000"/>
              </a:spcAft>
            </a:pPr>
            <a:r>
              <a:rPr sz="1900">
                <a:solidFill>
                  <a:srgbClr val="222222"/>
                </a:solidFill>
              </a:rPr>
              <a:t>•  SIM3, GPIO; edge-interrupt timestamping; multiple units cascadable on one bus line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03.7: Climate Change Applications</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Occupancy-driven energy: lighting and HVAC that follow people, not schedules</a:t>
            </a:r>
          </a:p>
          <a:p>
            <a:pPr>
              <a:spcAft>
                <a:spcPts val="1000"/>
              </a:spcAft>
            </a:pPr>
            <a:r>
              <a:rPr sz="1900">
                <a:solidFill>
                  <a:srgbClr val="222222"/>
                </a:solidFill>
              </a:rPr>
              <a:t>•  Buildings consume roughly a third of global energy; occupancy sensing is the cheapest lever</a:t>
            </a:r>
          </a:p>
          <a:p>
            <a:pPr>
              <a:spcAft>
                <a:spcPts val="1000"/>
              </a:spcAft>
            </a:pPr>
            <a:r>
              <a:rPr sz="1900">
                <a:solidFill>
                  <a:srgbClr val="222222"/>
                </a:solidFill>
              </a:rPr>
              <a:t>•  Conserving water: presence-gated fixtures in public washrooms</a:t>
            </a:r>
          </a:p>
          <a:p>
            <a:pPr>
              <a:spcAft>
                <a:spcPts val="1000"/>
              </a:spcAft>
            </a:pPr>
            <a:r>
              <a:rPr sz="1900">
                <a:solidFill>
                  <a:srgbClr val="222222"/>
                </a:solidFill>
              </a:rPr>
              <a:t>•  Wildlife and biodiversity monitoring under habitat shift</a:t>
            </a:r>
          </a:p>
          <a:p>
            <a:pPr>
              <a:spcAft>
                <a:spcPts val="1000"/>
              </a:spcAft>
            </a:pPr>
            <a:r>
              <a:rPr sz="1900">
                <a:solidFill>
                  <a:srgbClr val="222222"/>
                </a:solidFill>
              </a:rPr>
              <a:t>•  The fast trigger in demand-controlled systems; other sensors confirm</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03.8: Fusion Partners</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SCD41: CO2 confirms stationary occupants the PIR forgets; PIR gives the speed CO2 lacks</a:t>
            </a:r>
          </a:p>
          <a:p>
            <a:pPr>
              <a:spcAft>
                <a:spcPts val="1000"/>
              </a:spcAft>
            </a:pPr>
            <a:r>
              <a:rPr sz="1900">
                <a:solidFill>
                  <a:srgbClr val="222222"/>
                </a:solidFill>
              </a:rPr>
              <a:t>•  SPL: sound distinguishes a silent empty room from a silent full one, instantly</a:t>
            </a:r>
          </a:p>
          <a:p>
            <a:pPr>
              <a:spcAft>
                <a:spcPts val="1000"/>
              </a:spcAft>
            </a:pPr>
            <a:r>
              <a:rPr sz="1900">
                <a:solidFill>
                  <a:srgbClr val="222222"/>
                </a:solidFill>
              </a:rPr>
              <a:t>•  JSN-SR04T: seat-level occupancy for people sitting motionless</a:t>
            </a:r>
          </a:p>
          <a:p>
            <a:pPr>
              <a:spcAft>
                <a:spcPts val="1000"/>
              </a:spcAft>
            </a:pPr>
            <a:r>
              <a:rPr sz="1900">
                <a:solidFill>
                  <a:srgbClr val="222222"/>
                </a:solidFill>
              </a:rPr>
              <a:t>•  VEML7700: motion AND darkness is the correct lighting rule; motion alone wastes energy</a:t>
            </a:r>
          </a:p>
          <a:p>
            <a:pPr>
              <a:spcAft>
                <a:spcPts val="1000"/>
              </a:spcAft>
            </a:pPr>
            <a:r>
              <a:rPr sz="1900">
                <a:solidFill>
                  <a:srgbClr val="222222"/>
                </a:solidFill>
              </a:rPr>
              <a:t>•  Reed switch: door event before motion event builds an entry narrative</a:t>
            </a:r>
          </a:p>
          <a:p>
            <a:pPr>
              <a:spcAft>
                <a:spcPts val="1000"/>
              </a:spcAft>
            </a:pPr>
            <a:r>
              <a:rPr sz="1900">
                <a:solidFill>
                  <a:srgbClr val="222222"/>
                </a:solidFill>
              </a:rPr>
              <a:t>•  Agent role: fuses all channels into an occupancy state machine via MCP queries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03.9: Capstone C2</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Question: should the lights be on at all?</a:t>
            </a:r>
          </a:p>
          <a:p>
            <a:pPr>
              <a:spcAft>
                <a:spcPts val="1000"/>
              </a:spcAft>
            </a:pPr>
            <a:r>
              <a:rPr sz="1900">
                <a:solidFill>
                  <a:srgbClr val="222222"/>
                </a:solidFill>
              </a:rPr>
              <a:t>•  Sensors: PIR, VEML7700, SCT-013 on the lighting circuit</a:t>
            </a:r>
          </a:p>
          <a:p>
            <a:pPr>
              <a:spcAft>
                <a:spcPts val="1000"/>
              </a:spcAft>
            </a:pPr>
            <a:r>
              <a:rPr sz="1900">
                <a:solidFill>
                  <a:srgbClr val="222222"/>
                </a:solidFill>
              </a:rPr>
              <a:t>•  Contradiction to resolve: motion in a fully daylit corridor; lights on, nobody there</a:t>
            </a:r>
          </a:p>
          <a:p>
            <a:pPr>
              <a:spcAft>
                <a:spcPts val="1000"/>
              </a:spcAft>
            </a:pPr>
            <a:r>
              <a:rPr sz="1900">
                <a:solidFill>
                  <a:srgbClr val="222222"/>
                </a:solidFill>
              </a:rPr>
              <a:t>•  Baseline week versus rule week: measured kWh, not estimated savings</a:t>
            </a:r>
          </a:p>
          <a:p>
            <a:pPr>
              <a:spcAft>
                <a:spcPts val="1000"/>
              </a:spcAft>
            </a:pPr>
            <a:r>
              <a:rPr sz="1900">
                <a:solidFill>
                  <a:srgbClr val="222222"/>
                </a:solidFill>
              </a:rPr>
              <a:t>•  Decision: deploy the two-condition lighting rule via deploy_rule, edge loop, no LLM at runtime</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2286000"/>
            <a:ext cx="10698480" cy="1463040"/>
          </a:xfrm>
          <a:prstGeom prst="rect">
            <a:avLst/>
          </a:prstGeom>
          <a:noFill/>
        </p:spPr>
        <p:txBody>
          <a:bodyPr wrap="square">
            <a:spAutoFit/>
          </a:bodyPr>
          <a:lstStyle/>
          <a:p>
            <a:r>
              <a:rPr sz="3600" b="1">
                <a:solidFill>
                  <a:srgbClr val="1B5E8A"/>
                </a:solidFill>
              </a:rPr>
              <a:t>Sensor 04: Analog 4-20 mA Industrial Transmitters (SIM4, Analog)</a:t>
            </a:r>
          </a:p>
        </p:txBody>
      </p:sp>
      <p:sp>
        <p:nvSpPr>
          <p:cNvPr id="3" name="TextBox 2"/>
          <p:cNvSpPr txBox="1"/>
          <p:nvPr/>
        </p:nvSpPr>
        <p:spPr>
          <a:xfrm>
            <a:off x="731520" y="3840480"/>
            <a:ext cx="10698480" cy="914400"/>
          </a:xfrm>
          <a:prstGeom prst="rect">
            <a:avLst/>
          </a:prstGeom>
          <a:noFill/>
        </p:spPr>
        <p:txBody>
          <a:bodyPr wrap="square">
            <a:spAutoFit/>
          </a:bodyPr>
          <a:lstStyle/>
          <a:p>
            <a:r>
              <a:rPr sz="1800">
                <a:solidFill>
                  <a:srgbClr val="222222"/>
                </a:solidFill>
              </a:rPr>
              <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04.1: AI-First: The Old Way and the New Way</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The old way: a person squints at a flat chart and guesses</a:t>
            </a:r>
          </a:p>
          <a:p>
            <a:pPr>
              <a:spcAft>
                <a:spcPts val="1000"/>
              </a:spcAft>
            </a:pPr>
            <a:r>
              <a:rPr sz="1900">
                <a:solidFill>
                  <a:srgbClr val="222222"/>
                </a:solidFill>
              </a:rPr>
              <a:t>•  The new way: an AI watches the sensor's wire, continuously</a:t>
            </a:r>
          </a:p>
          <a:p>
            <a:pPr>
              <a:spcAft>
                <a:spcPts val="1000"/>
              </a:spcAft>
            </a:pPr>
            <a:r>
              <a:rPr sz="1900">
                <a:solidFill>
                  <a:srgbClr val="222222"/>
                </a:solidFill>
              </a:rPr>
              <a:t>•  Industrial sensors sit far away, on long cables, in harsh places</a:t>
            </a:r>
          </a:p>
          <a:p>
            <a:pPr>
              <a:spcAft>
                <a:spcPts val="1000"/>
              </a:spcAft>
            </a:pPr>
            <a:r>
              <a:rPr sz="1900">
                <a:solidFill>
                  <a:srgbClr val="222222"/>
                </a:solidFill>
              </a:rPr>
              <a:t>•  A flat reading could be calm weather, or a dead sensor</a:t>
            </a:r>
          </a:p>
          <a:p>
            <a:pPr>
              <a:spcAft>
                <a:spcPts val="1000"/>
              </a:spcAft>
            </a:pPr>
            <a:r>
              <a:rPr sz="1900">
                <a:solidFill>
                  <a:srgbClr val="222222"/>
                </a:solidFill>
              </a:rPr>
              <a:t>•  The watcher must be able to tell the difference</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04.2: AI-First: What the AI Must Know About This Sensor</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These sensors send readings as current: 4 to 20 milliamps</a:t>
            </a:r>
          </a:p>
          <a:p>
            <a:pPr>
              <a:spcAft>
                <a:spcPts val="1000"/>
              </a:spcAft>
            </a:pPr>
            <a:r>
              <a:rPr sz="1900">
                <a:solidFill>
                  <a:srgbClr val="222222"/>
                </a:solidFill>
              </a:rPr>
              <a:t>•  Zero wind is sent as 4, never as 0</a:t>
            </a:r>
          </a:p>
          <a:p>
            <a:pPr>
              <a:spcAft>
                <a:spcPts val="1000"/>
              </a:spcAft>
            </a:pPr>
            <a:r>
              <a:rPr sz="1900">
                <a:solidFill>
                  <a:srgbClr val="222222"/>
                </a:solidFill>
              </a:rPr>
              <a:t>•  So 0 can only mean one thing: the wire is broken</a:t>
            </a:r>
          </a:p>
          <a:p>
            <a:pPr>
              <a:spcAft>
                <a:spcPts val="1000"/>
              </a:spcAft>
            </a:pPr>
            <a:r>
              <a:rPr sz="1900">
                <a:solidFill>
                  <a:srgbClr val="222222"/>
                </a:solidFill>
              </a:rPr>
              <a:t>•  Like a guard who calls in hourly, even to say all quiet</a:t>
            </a:r>
          </a:p>
          <a:p>
            <a:pPr>
              <a:spcAft>
                <a:spcPts val="1000"/>
              </a:spcAft>
            </a:pPr>
            <a:r>
              <a:rPr sz="1900">
                <a:solidFill>
                  <a:srgbClr val="222222"/>
                </a:solidFill>
              </a:rPr>
              <a:t>•  The sensor's ID card teaches the AI this rule</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04.3: The Agentic Pattern: Design for the Failure Path</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The pattern: decide in advance what breaking looks like</a:t>
            </a:r>
          </a:p>
          <a:p>
            <a:pPr>
              <a:spcAft>
                <a:spcPts val="1000"/>
              </a:spcAft>
            </a:pPr>
            <a:r>
              <a:rPr sz="1900">
                <a:solidFill>
                  <a:srgbClr val="222222"/>
                </a:solidFill>
              </a:rPr>
              <a:t>•  "No new messages" is not the same as "phone switched off"</a:t>
            </a:r>
          </a:p>
          <a:p>
            <a:pPr>
              <a:spcAft>
                <a:spcPts val="1000"/>
              </a:spcAft>
            </a:pPr>
            <a:r>
              <a:rPr sz="1900">
                <a:solidFill>
                  <a:srgbClr val="222222"/>
                </a:solidFill>
              </a:rPr>
              <a:t>•  A healthy zero must look different from a broken wire</a:t>
            </a:r>
          </a:p>
          <a:p>
            <a:pPr>
              <a:spcAft>
                <a:spcPts val="1000"/>
              </a:spcAft>
            </a:pPr>
            <a:r>
              <a:rPr sz="1900">
                <a:solidFill>
                  <a:srgbClr val="222222"/>
                </a:solidFill>
              </a:rPr>
              <a:t>•  Out-of-range signals are faults to report, never data to chart</a:t>
            </a:r>
          </a:p>
          <a:p>
            <a:pPr>
              <a:spcAft>
                <a:spcPts val="1000"/>
              </a:spcAft>
            </a:pPr>
            <a:r>
              <a:rPr sz="1900">
                <a:solidFill>
                  <a:srgbClr val="222222"/>
                </a:solidFill>
              </a:rPr>
              <a:t>•  You design the failure signs; the AI keeps watch for them</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04.4: What Is a 4-20 mA Transmitter?</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Not one sensor: an industrial signalling standard that thousands of sensors speak</a:t>
            </a:r>
          </a:p>
          <a:p>
            <a:pPr>
              <a:spcAft>
                <a:spcPts val="1000"/>
              </a:spcAft>
            </a:pPr>
            <a:r>
              <a:rPr sz="1900">
                <a:solidFill>
                  <a:srgbClr val="222222"/>
                </a:solidFill>
              </a:rPr>
              <a:t>•  The measured value is encoded as a current, 4 mA = bottom of range, 20 mA = top</a:t>
            </a:r>
          </a:p>
          <a:p>
            <a:pPr>
              <a:spcAft>
                <a:spcPts val="1000"/>
              </a:spcAft>
            </a:pPr>
            <a:r>
              <a:rPr sz="1900">
                <a:solidFill>
                  <a:srgbClr val="222222"/>
                </a:solidFill>
              </a:rPr>
              <a:t>•  Current, unlike voltage, survives long cables without loss</a:t>
            </a:r>
          </a:p>
          <a:p>
            <a:pPr>
              <a:spcAft>
                <a:spcPts val="1000"/>
              </a:spcAft>
            </a:pPr>
            <a:r>
              <a:rPr sz="1900">
                <a:solidFill>
                  <a:srgbClr val="222222"/>
                </a:solidFill>
              </a:rPr>
              <a:t>•  4 mA as "live zero": 0 mA means the loop is broken, a built-in fault alarm</a:t>
            </a:r>
          </a:p>
          <a:p>
            <a:pPr>
              <a:spcAft>
                <a:spcPts val="1000"/>
              </a:spcAft>
            </a:pPr>
            <a:r>
              <a:rPr sz="1900">
                <a:solidFill>
                  <a:srgbClr val="222222"/>
                </a:solidFill>
              </a:rPr>
              <a:t>•  Worked example in this kit: cup anemometer, 0-30 m/s mapped to 4-20 mA</a:t>
            </a:r>
          </a:p>
          <a:p>
            <a:pPr>
              <a:spcAft>
                <a:spcPts val="1000"/>
              </a:spcAft>
            </a:pPr>
            <a:r>
              <a:rPr sz="1900">
                <a:solidFill>
                  <a:srgbClr val="222222"/>
                </a:solidFill>
              </a:rPr>
              <a:t>•  SIM4 converts loop current to voltage with a burden resistor, then digitises</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04.5: What It Does in Practice</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The wiring backbone of process industry: refineries, water plants, factories, HVAC plants</a:t>
            </a:r>
          </a:p>
          <a:p>
            <a:pPr>
              <a:spcAft>
                <a:spcPts val="1000"/>
              </a:spcAft>
            </a:pPr>
            <a:r>
              <a:rPr sz="1900">
                <a:solidFill>
                  <a:srgbClr val="222222"/>
                </a:solidFill>
              </a:rPr>
              <a:t>•  Typical transmitters: pressure, level, flow, temperature, wind, pH, vibration</a:t>
            </a:r>
          </a:p>
          <a:p>
            <a:pPr>
              <a:spcAft>
                <a:spcPts val="1000"/>
              </a:spcAft>
            </a:pPr>
            <a:r>
              <a:rPr sz="1900">
                <a:solidFill>
                  <a:srgbClr val="222222"/>
                </a:solidFill>
              </a:rPr>
              <a:t>•  Anemometer example: cup rotation rate proportional to wind speed</a:t>
            </a:r>
          </a:p>
          <a:p>
            <a:pPr>
              <a:spcAft>
                <a:spcPts val="1000"/>
              </a:spcAft>
            </a:pPr>
            <a:r>
              <a:rPr sz="1900">
                <a:solidFill>
                  <a:srgbClr val="222222"/>
                </a:solidFill>
              </a:rPr>
              <a:t>•  Two-wire loops can power the transmitter from the same pair that carries the signal</a:t>
            </a:r>
          </a:p>
          <a:p>
            <a:pPr>
              <a:spcAft>
                <a:spcPts val="1000"/>
              </a:spcAft>
            </a:pPr>
            <a:r>
              <a:rPr sz="1900">
                <a:solidFill>
                  <a:srgbClr val="222222"/>
                </a:solidFill>
              </a:rPr>
              <a:t>•  Learning one loop means being able to read almost any industrial instrument</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04.6: Technical Card</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Standard: 4-20 mA current loop; linear mapping, transmitter-defined range</a:t>
            </a:r>
          </a:p>
          <a:p>
            <a:pPr>
              <a:spcAft>
                <a:spcPts val="1000"/>
              </a:spcAft>
            </a:pPr>
            <a:r>
              <a:rPr sz="1900">
                <a:solidFill>
                  <a:srgbClr val="222222"/>
                </a:solidFill>
              </a:rPr>
              <a:t>•  Example instrument: cup anemometer, 0-30 m/s, 12 V supply, accuracy approximately ±0.5 m/s [PLACEHOLDER: confirm per datasheet]</a:t>
            </a:r>
          </a:p>
          <a:p>
            <a:pPr>
              <a:spcAft>
                <a:spcPts val="1000"/>
              </a:spcAft>
            </a:pPr>
            <a:r>
              <a:rPr sz="1900">
                <a:solidFill>
                  <a:srgbClr val="222222"/>
                </a:solidFill>
              </a:rPr>
              <a:t>•  SIM4 front end: precision burden resistor converts 4-20 mA to a voltage within ADC range</a:t>
            </a:r>
          </a:p>
          <a:p>
            <a:pPr>
              <a:spcAft>
                <a:spcPts val="1000"/>
              </a:spcAft>
            </a:pPr>
            <a:r>
              <a:rPr sz="1900">
                <a:solidFill>
                  <a:srgbClr val="222222"/>
                </a:solidFill>
              </a:rPr>
              <a:t>•  Live-zero fault detection: current below 4 mA flagged as loop fault, not as a reading</a:t>
            </a:r>
          </a:p>
          <a:p>
            <a:pPr>
              <a:spcAft>
                <a:spcPts val="1000"/>
              </a:spcAft>
            </a:pPr>
            <a:r>
              <a:rPr sz="1900">
                <a:solidFill>
                  <a:srgbClr val="222222"/>
                </a:solidFill>
              </a:rPr>
              <a:t>•  Mounting: upright, rigid, unobstructed rotation; cable strain-relieved</a:t>
            </a:r>
          </a:p>
          <a:p>
            <a:pPr>
              <a:spcAft>
                <a:spcPts val="1000"/>
              </a:spcAft>
            </a:pPr>
            <a:r>
              <a:rPr sz="1900">
                <a:solidFill>
                  <a:srgbClr val="222222"/>
                </a:solidFill>
              </a:rPr>
              <a:t>•  Packaged dimensions: [PLACEHOLDER]; connector: [PLACEHOLDER]; SIM4, Analog</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04.7: Climate Change Applications</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Wind resource assessment: siting decisions for wind generation start with anemometry</a:t>
            </a:r>
          </a:p>
          <a:p>
            <a:pPr>
              <a:spcAft>
                <a:spcPts val="1000"/>
              </a:spcAft>
            </a:pPr>
            <a:r>
              <a:rPr sz="1900">
                <a:solidFill>
                  <a:srgbClr val="222222"/>
                </a:solidFill>
              </a:rPr>
              <a:t>•  Weather stations: wind speed is a core observational variable</a:t>
            </a:r>
          </a:p>
          <a:p>
            <a:pPr>
              <a:spcAft>
                <a:spcPts val="1000"/>
              </a:spcAft>
            </a:pPr>
            <a:r>
              <a:rPr sz="1900">
                <a:solidFill>
                  <a:srgbClr val="222222"/>
                </a:solidFill>
              </a:rPr>
              <a:t>•  Heat and comfort: wind modifies perceived temperature and building ventilation strategy</a:t>
            </a:r>
          </a:p>
          <a:p>
            <a:pPr>
              <a:spcAft>
                <a:spcPts val="1000"/>
              </a:spcAft>
            </a:pPr>
            <a:r>
              <a:rPr sz="1900">
                <a:solidFill>
                  <a:srgbClr val="222222"/>
                </a:solidFill>
              </a:rPr>
              <a:t>•  The loop standard generalises: flow meters for water audits, level and pressure for infrastructure</a:t>
            </a:r>
          </a:p>
          <a:p>
            <a:pPr>
              <a:spcAft>
                <a:spcPts val="1000"/>
              </a:spcAft>
            </a:pPr>
            <a:r>
              <a:rPr sz="1900">
                <a:solidFill>
                  <a:srgbClr val="222222"/>
                </a:solidFill>
              </a:rPr>
              <a:t>•  Teaches the instrumentation grammar of industrial decarbonisation</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04.8: Fusion Partners</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VEML7700 plus BME688: wind, light, humidity, pressure combine into a campus micro-weather station</a:t>
            </a:r>
          </a:p>
          <a:p>
            <a:pPr>
              <a:spcAft>
                <a:spcPts val="1000"/>
              </a:spcAft>
            </a:pPr>
            <a:r>
              <a:rPr sz="1900">
                <a:solidFill>
                  <a:srgbClr val="222222"/>
                </a:solidFill>
              </a:rPr>
              <a:t>•  SEN0193: wind-driven evapotranspiration context for irrigation decisions</a:t>
            </a:r>
          </a:p>
          <a:p>
            <a:pPr>
              <a:spcAft>
                <a:spcPts val="1000"/>
              </a:spcAft>
            </a:pPr>
            <a:r>
              <a:rPr sz="1900">
                <a:solidFill>
                  <a:srgbClr val="222222"/>
                </a:solidFill>
              </a:rPr>
              <a:t>•  JSN-SR04T on the rain tank: wind and rainfall harvesting correlated</a:t>
            </a:r>
          </a:p>
          <a:p>
            <a:pPr>
              <a:spcAft>
                <a:spcPts val="1000"/>
              </a:spcAft>
            </a:pPr>
            <a:r>
              <a:rPr sz="1900">
                <a:solidFill>
                  <a:srgbClr val="222222"/>
                </a:solidFill>
              </a:rPr>
              <a:t>•  SCT-013: wind resource versus energy demand profiles, matched or mismatched</a:t>
            </a:r>
          </a:p>
          <a:p>
            <a:pPr>
              <a:spcAft>
                <a:spcPts val="1000"/>
              </a:spcAft>
            </a:pPr>
            <a:r>
              <a:rPr sz="1900">
                <a:solidFill>
                  <a:srgbClr val="222222"/>
                </a:solidFill>
              </a:rPr>
              <a:t>•  Agent role: capture_experiment builds multi-variable weather datasets aligned on tick_ms</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04.9: Capstone C6</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Question: where does the campus water actually go?</a:t>
            </a:r>
          </a:p>
          <a:p>
            <a:pPr>
              <a:spcAft>
                <a:spcPts val="1000"/>
              </a:spcAft>
            </a:pPr>
            <a:r>
              <a:rPr sz="1900">
                <a:solidFill>
                  <a:srgbClr val="222222"/>
                </a:solidFill>
              </a:rPr>
              <a:t>•  Sensors: JSN-SR04T on the overhead tank, water level PCB, SEN0193, 4-20 mA instruments (anemometer now, flow/level transmitters as the growth path)</a:t>
            </a:r>
          </a:p>
          <a:p>
            <a:pPr>
              <a:spcAft>
                <a:spcPts val="1000"/>
              </a:spcAft>
            </a:pPr>
            <a:r>
              <a:rPr sz="1900">
                <a:solidFill>
                  <a:srgbClr val="222222"/>
                </a:solidFill>
              </a:rPr>
              <a:t>•  Contradiction to resolve: tank level falls faster than metered or expected use</a:t>
            </a:r>
          </a:p>
          <a:p>
            <a:pPr>
              <a:spcAft>
                <a:spcPts val="1000"/>
              </a:spcAft>
            </a:pPr>
            <a:r>
              <a:rPr sz="1900">
                <a:solidFill>
                  <a:srgbClr val="222222"/>
                </a:solidFill>
              </a:rPr>
              <a:t>•  Decision: a pump schedule and a leak verdict, with measured evidence</a:t>
            </a:r>
          </a:p>
          <a:p>
            <a:pPr>
              <a:spcAft>
                <a:spcPts val="1000"/>
              </a:spcAft>
            </a:pPr>
            <a:r>
              <a:rPr sz="1900">
                <a:solidFill>
                  <a:srgbClr val="222222"/>
                </a:solidFill>
              </a:rPr>
              <a:t>•  Agents assemble the balance sheet; the live-zero teaches fault-versus-reading discipline</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2286000"/>
            <a:ext cx="10698480" cy="1463040"/>
          </a:xfrm>
          <a:prstGeom prst="rect">
            <a:avLst/>
          </a:prstGeom>
          <a:noFill/>
        </p:spPr>
        <p:txBody>
          <a:bodyPr wrap="square">
            <a:spAutoFit/>
          </a:bodyPr>
          <a:lstStyle/>
          <a:p>
            <a:r>
              <a:rPr sz="3600" b="1">
                <a:solidFill>
                  <a:srgbClr val="1B5E8A"/>
                </a:solidFill>
              </a:rPr>
              <a:t>Sensor 05: RS485 Industrial Digital Sensors - Multi-Parameter Industrial Data (SIM5, RS485 / Modbus RTU)</a:t>
            </a:r>
          </a:p>
        </p:txBody>
      </p:sp>
      <p:sp>
        <p:nvSpPr>
          <p:cNvPr id="3" name="TextBox 2"/>
          <p:cNvSpPr txBox="1"/>
          <p:nvPr/>
        </p:nvSpPr>
        <p:spPr>
          <a:xfrm>
            <a:off x="731520" y="3840480"/>
            <a:ext cx="10698480" cy="914400"/>
          </a:xfrm>
          <a:prstGeom prst="rect">
            <a:avLst/>
          </a:prstGeom>
          <a:noFill/>
        </p:spPr>
        <p:txBody>
          <a:bodyPr wrap="square">
            <a:spAutoFit/>
          </a:bodyPr>
          <a:lstStyle/>
          <a:p>
            <a:r>
              <a:rPr sz="1800">
                <a:solidFill>
                  <a:srgbClr val="222222"/>
                </a:solidFill>
              </a:rPr>
              <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05.1: AI-First: The Old Way and the New Way</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The old way: a person walks to the meter, reads it, decides</a:t>
            </a:r>
          </a:p>
          <a:p>
            <a:pPr>
              <a:spcAft>
                <a:spcPts val="1000"/>
              </a:spcAft>
            </a:pPr>
            <a:r>
              <a:rPr sz="1900">
                <a:solidFill>
                  <a:srgbClr val="222222"/>
                </a:solidFill>
              </a:rPr>
              <a:t>•  Meters get checked once a day, and problems wait until then</a:t>
            </a:r>
          </a:p>
          <a:p>
            <a:pPr>
              <a:spcAft>
                <a:spcPts val="1000"/>
              </a:spcAft>
            </a:pPr>
            <a:r>
              <a:rPr sz="1900">
                <a:solidFill>
                  <a:srgbClr val="222222"/>
                </a:solidFill>
              </a:rPr>
              <a:t>•  The new way: an AI watches this sensor for you, all day</a:t>
            </a:r>
          </a:p>
          <a:p>
            <a:pPr>
              <a:spcAft>
                <a:spcPts val="1000"/>
              </a:spcAft>
            </a:pPr>
            <a:r>
              <a:rPr sz="1900">
                <a:solidFill>
                  <a:srgbClr val="222222"/>
                </a:solidFill>
              </a:rPr>
              <a:t>•  It notices trouble in seconds, not at tomorrow's inspection round</a:t>
            </a:r>
          </a:p>
          <a:p>
            <a:pPr>
              <a:spcAft>
                <a:spcPts val="1000"/>
              </a:spcAft>
            </a:pPr>
            <a:r>
              <a:rPr sz="1900">
                <a:solidFill>
                  <a:srgbClr val="222222"/>
                </a:solidFill>
              </a:rPr>
              <a:t>•  Your role changes: from meter reader to designer of the watcher</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05.2: AI-First: What the AI Must Know About This Sensor</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An AI is only as good as what it knows about its senses</a:t>
            </a:r>
          </a:p>
          <a:p>
            <a:pPr>
              <a:spcAft>
                <a:spcPts val="1000"/>
              </a:spcAft>
            </a:pPr>
            <a:r>
              <a:rPr sz="1900">
                <a:solidFill>
                  <a:srgbClr val="222222"/>
                </a:solidFill>
              </a:rPr>
              <a:t>•  Industrial sensors answer through numbered boxes, like a printed form</a:t>
            </a:r>
          </a:p>
          <a:p>
            <a:pPr>
              <a:spcAft>
                <a:spcPts val="1000"/>
              </a:spcAft>
            </a:pPr>
            <a:r>
              <a:rPr sz="1900">
                <a:solidFill>
                  <a:srgbClr val="222222"/>
                </a:solidFill>
              </a:rPr>
              <a:t>•  Box 42 always holds the voltage; divide by one hundred</a:t>
            </a:r>
          </a:p>
          <a:p>
            <a:pPr>
              <a:spcAft>
                <a:spcPts val="1000"/>
              </a:spcAft>
            </a:pPr>
            <a:r>
              <a:rPr sz="1900">
                <a:solidFill>
                  <a:srgbClr val="222222"/>
                </a:solidFill>
              </a:rPr>
              <a:t>•  The sensor's ID card gives the AI that form, so it never guesses</a:t>
            </a:r>
          </a:p>
          <a:p>
            <a:pPr>
              <a:spcAft>
                <a:spcPts val="1000"/>
              </a:spcAft>
            </a:pPr>
            <a:r>
              <a:rPr sz="1900">
                <a:solidFill>
                  <a:srgbClr val="222222"/>
                </a:solidFill>
              </a:rPr>
              <a:t>•  The card also lists warning signs, like a value stuck for hours</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05.3: The Agentic Pattern: Contracts All the Way Down</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The pattern in one line: machines cooperate through written agreements</a:t>
            </a:r>
          </a:p>
          <a:p>
            <a:pPr>
              <a:spcAft>
                <a:spcPts val="1000"/>
              </a:spcAft>
            </a:pPr>
            <a:r>
              <a:rPr sz="1900">
                <a:solidFill>
                  <a:srgbClr val="222222"/>
                </a:solidFill>
              </a:rPr>
              <a:t>•  This sensor's agreement is a short table called a register map</a:t>
            </a:r>
          </a:p>
          <a:p>
            <a:pPr>
              <a:spcAft>
                <a:spcPts val="1000"/>
              </a:spcAft>
            </a:pPr>
            <a:r>
              <a:rPr sz="1900">
                <a:solidFill>
                  <a:srgbClr val="222222"/>
                </a:solidFill>
              </a:rPr>
              <a:t>•  Every box in the table has one fixed, printed meaning</a:t>
            </a:r>
          </a:p>
          <a:p>
            <a:pPr>
              <a:spcAft>
                <a:spcPts val="1000"/>
              </a:spcAft>
            </a:pPr>
            <a:r>
              <a:rPr sz="1900">
                <a:solidFill>
                  <a:srgbClr val="222222"/>
                </a:solidFill>
              </a:rPr>
              <a:t>•  The AI reads the table; it never fills in guesses</a:t>
            </a:r>
          </a:p>
          <a:p>
            <a:pPr>
              <a:spcAft>
                <a:spcPts val="1000"/>
              </a:spcAft>
            </a:pPr>
            <a:r>
              <a:rPr sz="1900">
                <a:solidFill>
                  <a:srgbClr val="222222"/>
                </a:solidFill>
              </a:rPr>
              <a:t>•  You design the agreement; the AI does the reading and watching</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05.4: What It Is</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Not one sensor: a whole family of industrial instruments that speak a shared digital language</a:t>
            </a:r>
          </a:p>
          <a:p>
            <a:pPr>
              <a:spcAft>
                <a:spcPts val="1000"/>
              </a:spcAft>
            </a:pPr>
            <a:r>
              <a:rPr sz="1900">
                <a:solidFill>
                  <a:srgbClr val="222222"/>
                </a:solidFill>
              </a:rPr>
              <a:t>•  RS485 is the electrical layer: two wires, differential signalling, robust over hundreds of metres</a:t>
            </a:r>
          </a:p>
          <a:p>
            <a:pPr>
              <a:spcAft>
                <a:spcPts val="1000"/>
              </a:spcAft>
            </a:pPr>
            <a:r>
              <a:rPr sz="1900">
                <a:solidFill>
                  <a:srgbClr val="222222"/>
                </a:solidFill>
              </a:rPr>
              <a:t>•  Modbus RTU is the data layer: a request-response protocol from 1979, still the industrial default</a:t>
            </a:r>
          </a:p>
          <a:p>
            <a:pPr>
              <a:spcAft>
                <a:spcPts val="1000"/>
              </a:spcAft>
            </a:pPr>
            <a:r>
              <a:rPr sz="1900">
                <a:solidFill>
                  <a:srgbClr val="222222"/>
                </a:solidFill>
              </a:rPr>
              <a:t>•  Each device holds its measurements in numbered registers; the master reads them on demand</a:t>
            </a:r>
          </a:p>
          <a:p>
            <a:pPr>
              <a:spcAft>
                <a:spcPts val="1000"/>
              </a:spcAft>
            </a:pPr>
            <a:r>
              <a:rPr sz="1900">
                <a:solidFill>
                  <a:srgbClr val="222222"/>
                </a:solidFill>
              </a:rPr>
              <a:t>•  In this kit: SIM5 is the Modbus master, the sensor is the slave</a:t>
            </a:r>
          </a:p>
          <a:p>
            <a:pPr>
              <a:spcAft>
                <a:spcPts val="1000"/>
              </a:spcAft>
            </a:pPr>
            <a:r>
              <a:rPr sz="1900">
                <a:solidFill>
                  <a:srgbClr val="222222"/>
                </a:solidFill>
              </a:rPr>
              <a:t>•  Worked examples: an RS485 soil probe and an RS485 energy meter</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05.5: What It Does in Practice</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One interface, many instruments: soil probes, energy meters, flow meters, weather stations, VFDs</a:t>
            </a:r>
          </a:p>
          <a:p>
            <a:pPr>
              <a:spcAft>
                <a:spcPts val="1000"/>
              </a:spcAft>
            </a:pPr>
            <a:r>
              <a:rPr sz="1900">
                <a:solidFill>
                  <a:srgbClr val="222222"/>
                </a:solidFill>
              </a:rPr>
              <a:t>•  Multi-drop: up to 32 devices on one twisted pair, each with its own address</a:t>
            </a:r>
          </a:p>
          <a:p>
            <a:pPr>
              <a:spcAft>
                <a:spcPts val="1000"/>
              </a:spcAft>
            </a:pPr>
            <a:r>
              <a:rPr sz="1900">
                <a:solidFill>
                  <a:srgbClr val="222222"/>
                </a:solidFill>
              </a:rPr>
              <a:t>•  Polled operation: the master schedules reads, so bus traffic is deterministic</a:t>
            </a:r>
          </a:p>
          <a:p>
            <a:pPr>
              <a:spcAft>
                <a:spcPts val="1000"/>
              </a:spcAft>
            </a:pPr>
            <a:r>
              <a:rPr sz="1900">
                <a:solidFill>
                  <a:srgbClr val="222222"/>
                </a:solidFill>
              </a:rPr>
              <a:t>•  Kit example 1: soil probe reporting moisture and soil temperature from buried steel electrodes</a:t>
            </a:r>
          </a:p>
          <a:p>
            <a:pPr>
              <a:spcAft>
                <a:spcPts val="1000"/>
              </a:spcAft>
            </a:pPr>
            <a:r>
              <a:rPr sz="1900">
                <a:solidFill>
                  <a:srgbClr val="222222"/>
                </a:solidFill>
              </a:rPr>
              <a:t>•  Kit example 2: panel energy meter reporting voltage, current, power, energy, power factor</a:t>
            </a:r>
          </a:p>
          <a:p>
            <a:pPr>
              <a:spcAft>
                <a:spcPts val="1000"/>
              </a:spcAft>
            </a:pPr>
            <a:r>
              <a:rPr sz="1900">
                <a:solidFill>
                  <a:srgbClr val="222222"/>
                </a:solidFill>
              </a:rPr>
              <a:t>•  The skill transfers directly to building management and factory automation systems</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05.6: Technical Card</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Electrical: RS485 differential pair (A/B), half-duplex, typical 9600 baud 8N1 in this kit</a:t>
            </a:r>
          </a:p>
          <a:p>
            <a:pPr>
              <a:spcAft>
                <a:spcPts val="1000"/>
              </a:spcAft>
            </a:pPr>
            <a:r>
              <a:rPr sz="1900">
                <a:solidFill>
                  <a:srgbClr val="222222"/>
                </a:solidFill>
              </a:rPr>
              <a:t>•  Protocol: Modbus RTU, master-slave, CRC-16 checked frames</a:t>
            </a:r>
          </a:p>
          <a:p>
            <a:pPr>
              <a:spcAft>
                <a:spcPts val="1000"/>
              </a:spcAft>
            </a:pPr>
            <a:r>
              <a:rPr sz="1900">
                <a:solidFill>
                  <a:srgbClr val="222222"/>
                </a:solidFill>
              </a:rPr>
              <a:t>•  Soil probe: moisture 0-100%, ±3% for 0-53% and ±5% above; soil temp -40 to +80 °C, ±0.5 °C; supply 3-36 V DC</a:t>
            </a:r>
          </a:p>
          <a:p>
            <a:pPr>
              <a:spcAft>
                <a:spcPts val="1000"/>
              </a:spcAft>
            </a:pPr>
            <a:r>
              <a:rPr sz="1900">
                <a:solidFill>
                  <a:srgbClr val="222222"/>
                </a:solidFill>
              </a:rPr>
              <a:t>•  Energy meter: class 1 (±1%), registers mostly 2-word values, scaling such as divide-by-100 for volts</a:t>
            </a:r>
          </a:p>
          <a:p>
            <a:pPr>
              <a:spcAft>
                <a:spcPts val="1000"/>
              </a:spcAft>
            </a:pPr>
            <a:r>
              <a:rPr sz="1900">
                <a:solidFill>
                  <a:srgbClr val="222222"/>
                </a:solidFill>
              </a:rPr>
              <a:t>•  Packaged sensor dimensions: [PLACEHOLDER]</a:t>
            </a:r>
          </a:p>
          <a:p>
            <a:pPr>
              <a:spcAft>
                <a:spcPts val="1000"/>
              </a:spcAft>
            </a:pPr>
            <a:r>
              <a:rPr sz="1900">
                <a:solidFill>
                  <a:srgbClr val="222222"/>
                </a:solidFill>
              </a:rPr>
              <a:t>•  Interface / connector details: [PLACEHOLDER: keyed harness, WHAN part number]</a:t>
            </a:r>
          </a:p>
          <a:p>
            <a:pPr>
              <a:spcAft>
                <a:spcPts val="1000"/>
              </a:spcAft>
            </a:pPr>
            <a:r>
              <a:rPr sz="1900">
                <a:solidFill>
                  <a:srgbClr val="222222"/>
                </a:solidFill>
              </a:rPr>
              <a:t>•  SIM assignment: SIM5, ESP32 with RS485 transceiver, acts as Modbus master</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05.7: Climate Change Applications</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Measurement: energy metering is the ground truth for any building decarbonisation claim</a:t>
            </a:r>
          </a:p>
          <a:p>
            <a:pPr>
              <a:spcAft>
                <a:spcPts val="1000"/>
              </a:spcAft>
            </a:pPr>
            <a:r>
              <a:rPr sz="1900">
                <a:solidFill>
                  <a:srgbClr val="222222"/>
                </a:solidFill>
              </a:rPr>
              <a:t>•  Mitigation: register-level power data drives load scheduling, waste detection, and efficiency retrofits</a:t>
            </a:r>
          </a:p>
          <a:p>
            <a:pPr>
              <a:spcAft>
                <a:spcPts val="1000"/>
              </a:spcAft>
            </a:pPr>
            <a:r>
              <a:rPr sz="1900">
                <a:solidFill>
                  <a:srgbClr val="222222"/>
                </a:solidFill>
              </a:rPr>
              <a:t>•  Adaptation: soil probes underpin irrigation scheduling as rainfall becomes less predictable</a:t>
            </a:r>
          </a:p>
          <a:p>
            <a:pPr>
              <a:spcAft>
                <a:spcPts val="1000"/>
              </a:spcAft>
            </a:pPr>
            <a:r>
              <a:rPr sz="1900">
                <a:solidFill>
                  <a:srgbClr val="222222"/>
                </a:solidFill>
              </a:rPr>
              <a:t>•  Grid transition: the same Modbus skills read solar inverters, battery systems, and EV chargers</a:t>
            </a:r>
          </a:p>
          <a:p>
            <a:pPr>
              <a:spcAft>
                <a:spcPts val="1000"/>
              </a:spcAft>
            </a:pPr>
            <a:r>
              <a:rPr sz="1900">
                <a:solidFill>
                  <a:srgbClr val="222222"/>
                </a:solidFill>
              </a:rPr>
              <a:t>•  Industrial instruments make climate action auditable, not estimated</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05.8: Fusion Partners</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SCT-013 clamp: independent cross-check of the energy meter; agent flags divergence between the two</a:t>
            </a:r>
          </a:p>
          <a:p>
            <a:pPr>
              <a:spcAft>
                <a:spcPts val="1000"/>
              </a:spcAft>
            </a:pPr>
            <a:r>
              <a:rPr sz="1900">
                <a:solidFill>
                  <a:srgbClr val="222222"/>
                </a:solidFill>
              </a:rPr>
              <a:t>•  SEN0193 capacitive probe: calibration transfer, lab-grade RS485 probe calibrates the low-cost sensor</a:t>
            </a:r>
          </a:p>
          <a:p>
            <a:pPr>
              <a:spcAft>
                <a:spcPts val="1000"/>
              </a:spcAft>
            </a:pPr>
            <a:r>
              <a:rPr sz="1900">
                <a:solidFill>
                  <a:srgbClr val="222222"/>
                </a:solidFill>
              </a:rPr>
              <a:t>•  DS18B20: ambient temperature context for energy consumption patterns</a:t>
            </a:r>
          </a:p>
          <a:p>
            <a:pPr>
              <a:spcAft>
                <a:spcPts val="1000"/>
              </a:spcAft>
            </a:pPr>
            <a:r>
              <a:rPr sz="1900">
                <a:solidFill>
                  <a:srgbClr val="222222"/>
                </a:solidFill>
              </a:rPr>
              <a:t>•  JSN-SR04T: tank level plus pump energy gives litres-per-kilowatt-hour pumping efficiency</a:t>
            </a:r>
          </a:p>
          <a:p>
            <a:pPr>
              <a:spcAft>
                <a:spcPts val="1000"/>
              </a:spcAft>
            </a:pPr>
            <a:r>
              <a:rPr sz="1900">
                <a:solidFill>
                  <a:srgbClr val="222222"/>
                </a:solidFill>
              </a:rPr>
              <a:t>•  Agent workflow: `query_timeseries` on both sources, reconcile on tick, report disagreement with evidence</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05.9: Capstone C8: The Machine's Electrical Signature</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Question: what does the machine's electrical signature say before it fails?</a:t>
            </a:r>
          </a:p>
          <a:p>
            <a:pPr>
              <a:spcAft>
                <a:spcPts val="1000"/>
              </a:spcAft>
            </a:pPr>
            <a:r>
              <a:rPr sz="1900">
                <a:solidFill>
                  <a:srgbClr val="222222"/>
                </a:solidFill>
              </a:rPr>
              <a:t>•  Sensors: RS485 energy meter, SCT-013 clamp, SPL microphone, DS18B20 on the motor casing</a:t>
            </a:r>
          </a:p>
          <a:p>
            <a:pPr>
              <a:spcAft>
                <a:spcPts val="1000"/>
              </a:spcAft>
            </a:pPr>
            <a:r>
              <a:rPr sz="1900">
                <a:solidFill>
                  <a:srgbClr val="222222"/>
                </a:solidFill>
              </a:rPr>
              <a:t>•  Build a baseline: power, current waveform behaviour, acoustic level, casing temperature</a:t>
            </a:r>
          </a:p>
          <a:p>
            <a:pPr>
              <a:spcAft>
                <a:spcPts val="1000"/>
              </a:spcAft>
            </a:pPr>
            <a:r>
              <a:rPr sz="1900">
                <a:solidFill>
                  <a:srgbClr val="222222"/>
                </a:solidFill>
              </a:rPr>
              <a:t>•  The contradiction: meter says power is normal, clamp and microphone say the load is changing</a:t>
            </a:r>
          </a:p>
          <a:p>
            <a:pPr>
              <a:spcAft>
                <a:spcPts val="1000"/>
              </a:spcAft>
            </a:pPr>
            <a:r>
              <a:rPr sz="1900">
                <a:solidFill>
                  <a:srgbClr val="222222"/>
                </a:solidFill>
              </a:rPr>
              <a:t>•  Decision: schedule maintenance now, or certify the machine healthy for another month</a:t>
            </a:r>
          </a:p>
          <a:p>
            <a:pPr>
              <a:spcAft>
                <a:spcPts val="1000"/>
              </a:spcAft>
            </a:pPr>
            <a:r>
              <a:rPr sz="1900">
                <a:solidFill>
                  <a:srgbClr val="222222"/>
                </a:solidFill>
              </a:rPr>
              <a:t>•  Agents run scheduled watchdog queries and open annotated alerts, never silent actuation</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2286000"/>
            <a:ext cx="10698480" cy="1463040"/>
          </a:xfrm>
          <a:prstGeom prst="rect">
            <a:avLst/>
          </a:prstGeom>
          <a:noFill/>
        </p:spPr>
        <p:txBody>
          <a:bodyPr wrap="square">
            <a:spAutoFit/>
          </a:bodyPr>
          <a:lstStyle/>
          <a:p>
            <a:r>
              <a:rPr sz="3600" b="1">
                <a:solidFill>
                  <a:srgbClr val="1B5E8A"/>
                </a:solidFill>
              </a:rPr>
              <a:t>Sensor 06: SCD41 - Carbon Dioxide (SIM2, I2C)</a:t>
            </a:r>
          </a:p>
        </p:txBody>
      </p:sp>
      <p:sp>
        <p:nvSpPr>
          <p:cNvPr id="3" name="TextBox 2"/>
          <p:cNvSpPr txBox="1"/>
          <p:nvPr/>
        </p:nvSpPr>
        <p:spPr>
          <a:xfrm>
            <a:off x="731520" y="3840480"/>
            <a:ext cx="10698480" cy="914400"/>
          </a:xfrm>
          <a:prstGeom prst="rect">
            <a:avLst/>
          </a:prstGeom>
          <a:noFill/>
        </p:spPr>
        <p:txBody>
          <a:bodyPr wrap="square">
            <a:spAutoFit/>
          </a:bodyPr>
          <a:lstStyle/>
          <a:p>
            <a:r>
              <a:rPr sz="1800">
                <a:solidFill>
                  <a:srgbClr val="222222"/>
                </a:solidFill>
              </a:rPr>
              <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06.1: AI-First: The Old Way and the New Way</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The old way: a person checks a number and judges the room</a:t>
            </a:r>
          </a:p>
          <a:p>
            <a:pPr>
              <a:spcAft>
                <a:spcPts val="1000"/>
              </a:spcAft>
            </a:pPr>
            <a:r>
              <a:rPr sz="1900">
                <a:solidFill>
                  <a:srgbClr val="222222"/>
                </a:solidFill>
              </a:rPr>
              <a:t>•  By the time anyone checks, the stuffy afternoon has already happened</a:t>
            </a:r>
          </a:p>
          <a:p>
            <a:pPr>
              <a:spcAft>
                <a:spcPts val="1000"/>
              </a:spcAft>
            </a:pPr>
            <a:r>
              <a:rPr sz="1900">
                <a:solidFill>
                  <a:srgbClr val="222222"/>
                </a:solidFill>
              </a:rPr>
              <a:t>•  The new way: an AI senses the air for you, continuously</a:t>
            </a:r>
          </a:p>
          <a:p>
            <a:pPr>
              <a:spcAft>
                <a:spcPts val="1000"/>
              </a:spcAft>
            </a:pPr>
            <a:r>
              <a:rPr sz="1900">
                <a:solidFill>
                  <a:srgbClr val="222222"/>
                </a:solidFill>
              </a:rPr>
              <a:t>•  Everyone breathes out CO2, even sitting perfectly still</a:t>
            </a:r>
          </a:p>
          <a:p>
            <a:pPr>
              <a:spcAft>
                <a:spcPts val="1000"/>
              </a:spcAft>
            </a:pPr>
            <a:r>
              <a:rPr sz="1900">
                <a:solidFill>
                  <a:srgbClr val="222222"/>
                </a:solidFill>
              </a:rPr>
              <a:t>•  So the air quietly reveals people that motion sensors miss</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06.2: AI-First: What the AI Must Know About This Sensor</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An AI is only as good as what it knows about its senses</a:t>
            </a:r>
          </a:p>
          <a:p>
            <a:pPr>
              <a:spcAft>
                <a:spcPts val="1000"/>
              </a:spcAft>
            </a:pPr>
            <a:r>
              <a:rPr sz="1900">
                <a:solidFill>
                  <a:srgbClr val="222222"/>
                </a:solidFill>
              </a:rPr>
              <a:t>•  This sensor answers slowly: the air takes minutes to change</a:t>
            </a:r>
          </a:p>
          <a:p>
            <a:pPr>
              <a:spcAft>
                <a:spcPts val="1000"/>
              </a:spcAft>
            </a:pPr>
            <a:r>
              <a:rPr sz="1900">
                <a:solidFill>
                  <a:srgbClr val="222222"/>
                </a:solidFill>
              </a:rPr>
              <a:t>•  Its numbers wobble a little; 650 and 680 can mean the same</a:t>
            </a:r>
          </a:p>
          <a:p>
            <a:pPr>
              <a:spcAft>
                <a:spcPts val="1000"/>
              </a:spcAft>
            </a:pPr>
            <a:r>
              <a:rPr sz="1900">
                <a:solidFill>
                  <a:srgbClr val="222222"/>
                </a:solidFill>
              </a:rPr>
              <a:t>•  A reading stuck at exactly 400 means a sensor problem, not fresh air</a:t>
            </a:r>
          </a:p>
          <a:p>
            <a:pPr>
              <a:spcAft>
                <a:spcPts val="1000"/>
              </a:spcAft>
            </a:pPr>
            <a:r>
              <a:rPr sz="1900">
                <a:solidFill>
                  <a:srgbClr val="222222"/>
                </a:solidFill>
              </a:rPr>
              <a:t>•  All of this is written on the sensor's ID card the AI reads</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06.3: The Agentic Pattern: Evidence With Latency</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The pattern in one line: some witnesses answer slowly but truthfully</a:t>
            </a:r>
          </a:p>
          <a:p>
            <a:pPr>
              <a:spcAft>
                <a:spcPts val="1000"/>
              </a:spcAft>
            </a:pPr>
            <a:r>
              <a:rPr sz="1900">
                <a:solidFill>
                  <a:srgbClr val="222222"/>
                </a:solidFill>
              </a:rPr>
              <a:t>•  Motion sensors answer instantly; the air answers in minutes</a:t>
            </a:r>
          </a:p>
          <a:p>
            <a:pPr>
              <a:spcAft>
                <a:spcPts val="1000"/>
              </a:spcAft>
            </a:pPr>
            <a:r>
              <a:rPr sz="1900">
                <a:solidFill>
                  <a:srgbClr val="222222"/>
                </a:solidFill>
              </a:rPr>
              <a:t>•  A wise AI lets fast signals suggest and slow signals confirm</a:t>
            </a:r>
          </a:p>
          <a:p>
            <a:pPr>
              <a:spcAft>
                <a:spcPts val="1000"/>
              </a:spcAft>
            </a:pPr>
            <a:r>
              <a:rPr sz="1900">
                <a:solidFill>
                  <a:srgbClr val="222222"/>
                </a:solidFill>
              </a:rPr>
              <a:t>•  Wrong: judging from one instant; right: watching the trend</a:t>
            </a:r>
          </a:p>
          <a:p>
            <a:pPr>
              <a:spcAft>
                <a:spcPts val="1000"/>
              </a:spcAft>
            </a:pPr>
            <a:r>
              <a:rPr sz="1900">
                <a:solidFill>
                  <a:srgbClr val="222222"/>
                </a:solidFill>
              </a:rPr>
              <a:t>•  You design the patience; the AI does the waiting and watching</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06.4: What It Is</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Sensirion SCD41: a true CO2 sensor, measuring the gas itself in parts per million</a:t>
            </a:r>
          </a:p>
          <a:p>
            <a:pPr>
              <a:spcAft>
                <a:spcPts val="1000"/>
              </a:spcAft>
            </a:pPr>
            <a:r>
              <a:rPr sz="1900">
                <a:solidFill>
                  <a:srgbClr val="222222"/>
                </a:solidFill>
              </a:rPr>
              <a:t>•  Principle: photoacoustic NDIR, CO2 molecules absorb infrared light at 4.26 µm</a:t>
            </a:r>
          </a:p>
          <a:p>
            <a:pPr>
              <a:spcAft>
                <a:spcPts val="1000"/>
              </a:spcAft>
            </a:pPr>
            <a:r>
              <a:rPr sz="1900">
                <a:solidFill>
                  <a:srgbClr val="222222"/>
                </a:solidFill>
              </a:rPr>
              <a:t>•  Absorbed energy becomes a tiny pressure pulse, detected by a microphone inside the cell</a:t>
            </a:r>
          </a:p>
          <a:p>
            <a:pPr>
              <a:spcAft>
                <a:spcPts val="1000"/>
              </a:spcAft>
            </a:pPr>
            <a:r>
              <a:rPr sz="1900">
                <a:solidFill>
                  <a:srgbClr val="222222"/>
                </a:solidFill>
              </a:rPr>
              <a:t>•  More CO2 in the cell means a stronger pulse: a direct physical measurement</a:t>
            </a:r>
          </a:p>
          <a:p>
            <a:pPr>
              <a:spcAft>
                <a:spcPts val="1000"/>
              </a:spcAft>
            </a:pPr>
            <a:r>
              <a:rPr sz="1900">
                <a:solidFill>
                  <a:srgbClr val="222222"/>
                </a:solidFill>
              </a:rPr>
              <a:t>•  Different from the BME688, which estimates an equivalent CO2 from unrelated gases</a:t>
            </a:r>
          </a:p>
          <a:p>
            <a:pPr>
              <a:spcAft>
                <a:spcPts val="1000"/>
              </a:spcAft>
            </a:pPr>
            <a:r>
              <a:rPr sz="1900">
                <a:solidFill>
                  <a:srgbClr val="222222"/>
                </a:solidFill>
              </a:rPr>
              <a:t>•  Outdoor air today is approximately 420 ppm; a full classroom exceeds 1,000 ppm</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06.5: What It Does in Practice</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The most reliable non-contact signal for human presence: everyone exhales CO2 continuously</a:t>
            </a:r>
          </a:p>
          <a:p>
            <a:pPr>
              <a:spcAft>
                <a:spcPts val="1000"/>
              </a:spcAft>
            </a:pPr>
            <a:r>
              <a:rPr sz="1900">
                <a:solidFill>
                  <a:srgbClr val="222222"/>
                </a:solidFill>
              </a:rPr>
              <a:t>•  A stationary, silent person is invisible to PIR but never invisible to CO2</a:t>
            </a:r>
          </a:p>
          <a:p>
            <a:pPr>
              <a:spcAft>
                <a:spcPts val="1000"/>
              </a:spcAft>
            </a:pPr>
            <a:r>
              <a:rPr sz="1900">
                <a:solidFill>
                  <a:srgbClr val="222222"/>
                </a:solidFill>
              </a:rPr>
              <a:t>•  Ventilation assessment: CO2 decay rate after a room empties measures air changes per hour</a:t>
            </a:r>
          </a:p>
          <a:p>
            <a:pPr>
              <a:spcAft>
                <a:spcPts val="1000"/>
              </a:spcAft>
            </a:pPr>
            <a:r>
              <a:rPr sz="1900">
                <a:solidFill>
                  <a:srgbClr val="222222"/>
                </a:solidFill>
              </a:rPr>
              <a:t>•  Health proxy: high CO2 means high rebreathed-air fraction, the aerosol transmission link</a:t>
            </a:r>
          </a:p>
          <a:p>
            <a:pPr>
              <a:spcAft>
                <a:spcPts val="1000"/>
              </a:spcAft>
            </a:pPr>
            <a:r>
              <a:rPr sz="1900">
                <a:solidFill>
                  <a:srgbClr val="222222"/>
                </a:solidFill>
              </a:rPr>
              <a:t>•  Beyond buildings: greenhouses, fermentation, produce storage, confined-space safety</a:t>
            </a:r>
          </a:p>
          <a:p>
            <a:pPr>
              <a:spcAft>
                <a:spcPts val="1000"/>
              </a:spcAft>
            </a:pPr>
            <a:r>
              <a:rPr sz="1900">
                <a:solidFill>
                  <a:srgbClr val="222222"/>
                </a:solidFill>
              </a:rPr>
              <a:t>•  Typical dynamics: rise detectable in 2-5 minutes, decay over 5-15 minutes</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06.6: Technical Card</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Measurand: CO2 concentration; also reports temperature and relative humidity for compensation</a:t>
            </a:r>
          </a:p>
          <a:p>
            <a:pPr>
              <a:spcAft>
                <a:spcPts val="1000"/>
              </a:spcAft>
            </a:pPr>
            <a:r>
              <a:rPr sz="1900">
                <a:solidFill>
                  <a:srgbClr val="222222"/>
                </a:solidFill>
              </a:rPr>
              <a:t>•  Range: 400-5,000 ppm; accuracy ±(40 ppm + 5% of reading)</a:t>
            </a:r>
          </a:p>
          <a:p>
            <a:pPr>
              <a:spcAft>
                <a:spcPts val="1000"/>
              </a:spcAft>
            </a:pPr>
            <a:r>
              <a:rPr sz="1900">
                <a:solidFill>
                  <a:srgbClr val="222222"/>
                </a:solidFill>
              </a:rPr>
              <a:t>•  Original package: 10.1 × 10.1 × 6.5 mm SMD module, reflow-soldered, with sintered filter cap</a:t>
            </a:r>
          </a:p>
          <a:p>
            <a:pPr>
              <a:spcAft>
                <a:spcPts val="1000"/>
              </a:spcAft>
            </a:pPr>
            <a:r>
              <a:rPr sz="1900">
                <a:solidFill>
                  <a:srgbClr val="222222"/>
                </a:solidFill>
              </a:rPr>
              <a:t>•  Output: digital, I2C bus, address 0x62; measurement interval approximately 5 s (low-power modes available)</a:t>
            </a:r>
          </a:p>
          <a:p>
            <a:pPr>
              <a:spcAft>
                <a:spcPts val="1000"/>
              </a:spcAft>
            </a:pPr>
            <a:r>
              <a:rPr sz="1900">
                <a:solidFill>
                  <a:srgbClr val="222222"/>
                </a:solidFill>
              </a:rPr>
              <a:t>•  Supply: 3.3 V from the SIM; note peak current draw during the emitter pulse</a:t>
            </a:r>
          </a:p>
          <a:p>
            <a:pPr>
              <a:spcAft>
                <a:spcPts val="1000"/>
              </a:spcAft>
            </a:pPr>
            <a:r>
              <a:rPr sz="1900">
                <a:solidFill>
                  <a:srgbClr val="222222"/>
                </a:solidFill>
              </a:rPr>
              <a:t>•  Packaged sensor dimensions: [PLACEHOLDER]; connector: [PLACEHOLDER: keyed harness part number]</a:t>
            </a:r>
          </a:p>
          <a:p>
            <a:pPr>
              <a:spcAft>
                <a:spcPts val="1000"/>
              </a:spcAft>
            </a:pPr>
            <a:r>
              <a:rPr sz="1900">
                <a:solidFill>
                  <a:srgbClr val="222222"/>
                </a:solidFill>
              </a:rPr>
              <a:t>•  SIM assignment: SIM2 (I2C), sharing the bus with BME688 and VEML7700</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06.7: Climate Change Applications</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Buildings consume roughly a third of global energy; ventilation and conditioning are the core of it</a:t>
            </a:r>
          </a:p>
          <a:p>
            <a:pPr>
              <a:spcAft>
                <a:spcPts val="1000"/>
              </a:spcAft>
            </a:pPr>
            <a:r>
              <a:rPr sz="1900">
                <a:solidFill>
                  <a:srgbClr val="222222"/>
                </a:solidFill>
              </a:rPr>
              <a:t>•  Demand-controlled ventilation (ASHRAE 62.1): ventilate for measured occupancy, not the schedule</a:t>
            </a:r>
          </a:p>
          <a:p>
            <a:pPr>
              <a:spcAft>
                <a:spcPts val="1000"/>
              </a:spcAft>
            </a:pPr>
            <a:r>
              <a:rPr sz="1900">
                <a:solidFill>
                  <a:srgbClr val="222222"/>
                </a:solidFill>
              </a:rPr>
              <a:t>•  Rooms are occupied under 40% of scheduled hours; fixed ventilation wastes 60-70% of that energy</a:t>
            </a:r>
          </a:p>
          <a:p>
            <a:pPr>
              <a:spcAft>
                <a:spcPts val="1000"/>
              </a:spcAft>
            </a:pPr>
            <a:r>
              <a:rPr sz="1900">
                <a:solidFill>
                  <a:srgbClr val="222222"/>
                </a:solidFill>
              </a:rPr>
              <a:t>•  The mass-balance equation dC/dt = NG/V − (Q/V)(C − C_out) turns ppm into occupant count</a:t>
            </a:r>
          </a:p>
          <a:p>
            <a:pPr>
              <a:spcAft>
                <a:spcPts val="1000"/>
              </a:spcAft>
            </a:pPr>
            <a:r>
              <a:rPr sz="1900">
                <a:solidFill>
                  <a:srgbClr val="222222"/>
                </a:solidFill>
              </a:rPr>
              <a:t>•  The 420 ppm teaching moment: indoor readings sit on top of a rising planetary baseline</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06.8: Fusion Partners</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PIR: instant motion detection; CO2 confirms sustained presence and adds headcount</a:t>
            </a:r>
          </a:p>
          <a:p>
            <a:pPr>
              <a:spcAft>
                <a:spcPts val="1000"/>
              </a:spcAft>
            </a:pPr>
            <a:r>
              <a:rPr sz="1900">
                <a:solidFill>
                  <a:srgbClr val="222222"/>
                </a:solidFill>
              </a:rPr>
              <a:t>•  SPL: catches the silent exam hall, present but quiet, that motion misses instantly</a:t>
            </a:r>
          </a:p>
          <a:p>
            <a:pPr>
              <a:spcAft>
                <a:spcPts val="1000"/>
              </a:spcAft>
            </a:pPr>
            <a:r>
              <a:rPr sz="1900">
                <a:solidFill>
                  <a:srgbClr val="222222"/>
                </a:solidFill>
              </a:rPr>
              <a:t>•  Reed switch: an open window explains a falling CO2 that occupancy logic would misread</a:t>
            </a:r>
          </a:p>
          <a:p>
            <a:pPr>
              <a:spcAft>
                <a:spcPts val="1000"/>
              </a:spcAft>
            </a:pPr>
            <a:r>
              <a:rPr sz="1900">
                <a:solidFill>
                  <a:srgbClr val="222222"/>
                </a:solidFill>
              </a:rPr>
              <a:t>•  DS18B20: thermal comfort context; together they define "occupied and uncomfortable"</a:t>
            </a:r>
          </a:p>
          <a:p>
            <a:pPr>
              <a:spcAft>
                <a:spcPts val="1000"/>
              </a:spcAft>
            </a:pPr>
            <a:r>
              <a:rPr sz="1900">
                <a:solidFill>
                  <a:srgbClr val="222222"/>
                </a:solidFill>
              </a:rPr>
              <a:t>•  Agent inference: fuse fast signals with slow gas via `capture_experiment` and `query_timeseries`</a:t>
            </a:r>
          </a:p>
          <a:p>
            <a:pPr>
              <a:spcAft>
                <a:spcPts val="1000"/>
              </a:spcAft>
            </a:pPr>
            <a:r>
              <a:rPr sz="1900">
                <a:solidFill>
                  <a:srgbClr val="222222"/>
                </a:solidFill>
              </a:rPr>
              <a:t>•  Layered timing: PIR and SPL in milliseconds, CO2 in minutes, each covering the others' blind spots</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06.9: Capstone C1: Is the Room Healthy, and Is the HVAC Earning Its Bill?</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Question: is this room healthy to occupy, and is the HVAC earning its energy bill?</a:t>
            </a:r>
          </a:p>
          <a:p>
            <a:pPr>
              <a:spcAft>
                <a:spcPts val="1000"/>
              </a:spcAft>
            </a:pPr>
            <a:r>
              <a:rPr sz="1900">
                <a:solidFill>
                  <a:srgbClr val="222222"/>
                </a:solidFill>
              </a:rPr>
              <a:t>•  Sensors: SCD41, PIR, DS18B20, SCT-013 on the HVAC circuit, reed switch on door and window</a:t>
            </a:r>
          </a:p>
          <a:p>
            <a:pPr>
              <a:spcAft>
                <a:spcPts val="1000"/>
              </a:spcAft>
            </a:pPr>
            <a:r>
              <a:rPr sz="1900">
                <a:solidFill>
                  <a:srgbClr val="222222"/>
                </a:solidFill>
              </a:rPr>
              <a:t>•  Baseline week on the fixed schedule, then a sensor-informed control week; compare measured kWh</a:t>
            </a:r>
          </a:p>
          <a:p>
            <a:pPr>
              <a:spcAft>
                <a:spcPts val="1000"/>
              </a:spcAft>
            </a:pPr>
            <a:r>
              <a:rPr sz="1900">
                <a:solidFill>
                  <a:srgbClr val="222222"/>
                </a:solidFill>
              </a:rPr>
              <a:t>•  The contradiction: CO2 says occupied while PIR says empty, or CO2 falls with nobody leaving</a:t>
            </a:r>
          </a:p>
          <a:p>
            <a:pPr>
              <a:spcAft>
                <a:spcPts val="1000"/>
              </a:spcAft>
            </a:pPr>
            <a:r>
              <a:rPr sz="1900">
                <a:solidFill>
                  <a:srgbClr val="222222"/>
                </a:solidFill>
              </a:rPr>
              <a:t>•  Decision: a ventilation policy with measured savings, or a justified defence of the status quo</a:t>
            </a:r>
          </a:p>
          <a:p>
            <a:pPr>
              <a:spcAft>
                <a:spcPts val="1000"/>
              </a:spcAft>
            </a:pPr>
            <a:r>
              <a:rPr sz="1900">
                <a:solidFill>
                  <a:srgbClr val="222222"/>
                </a:solidFill>
              </a:rPr>
              <a:t>•  Edge rule deployed via `deploy_rule`; agents analyse and report, humans approve action</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2286000"/>
            <a:ext cx="10698480" cy="1463040"/>
          </a:xfrm>
          <a:prstGeom prst="rect">
            <a:avLst/>
          </a:prstGeom>
          <a:noFill/>
        </p:spPr>
        <p:txBody>
          <a:bodyPr wrap="square">
            <a:spAutoFit/>
          </a:bodyPr>
          <a:lstStyle/>
          <a:p>
            <a:r>
              <a:rPr sz="3600" b="1">
                <a:solidFill>
                  <a:srgbClr val="1B5E8A"/>
                </a:solidFill>
              </a:rPr>
              <a:t>Sensor 07: VEML7700 - Illuminance / Lux (SIM2, I2C)</a:t>
            </a:r>
          </a:p>
        </p:txBody>
      </p:sp>
      <p:sp>
        <p:nvSpPr>
          <p:cNvPr id="3" name="TextBox 2"/>
          <p:cNvSpPr txBox="1"/>
          <p:nvPr/>
        </p:nvSpPr>
        <p:spPr>
          <a:xfrm>
            <a:off x="731520" y="3840480"/>
            <a:ext cx="10698480" cy="914400"/>
          </a:xfrm>
          <a:prstGeom prst="rect">
            <a:avLst/>
          </a:prstGeom>
          <a:noFill/>
        </p:spPr>
        <p:txBody>
          <a:bodyPr wrap="square">
            <a:spAutoFit/>
          </a:bodyPr>
          <a:lstStyle/>
          <a:p>
            <a:r>
              <a:rPr sz="1800">
                <a:solidFill>
                  <a:srgbClr val="222222"/>
                </a:solidFill>
              </a:rPr>
              <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07.1: AI-First: The Old Way and the New Way</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The old way: a person glances at a light meter, then forgets it</a:t>
            </a:r>
          </a:p>
          <a:p>
            <a:pPr>
              <a:spcAft>
                <a:spcPts val="1000"/>
              </a:spcAft>
            </a:pPr>
            <a:r>
              <a:rPr sz="1900">
                <a:solidFill>
                  <a:srgbClr val="222222"/>
                </a:solidFill>
              </a:rPr>
              <a:t>•  Meanwhile corridor lamps burn at noon beside bright windows</a:t>
            </a:r>
          </a:p>
          <a:p>
            <a:pPr>
              <a:spcAft>
                <a:spcPts val="1000"/>
              </a:spcAft>
            </a:pPr>
            <a:r>
              <a:rPr sz="1900">
                <a:solidFill>
                  <a:srgbClr val="222222"/>
                </a:solidFill>
              </a:rPr>
              <a:t>•  The new way: an AI compares light to a target, all day</a:t>
            </a:r>
          </a:p>
          <a:p>
            <a:pPr>
              <a:spcAft>
                <a:spcPts val="1000"/>
              </a:spcAft>
            </a:pPr>
            <a:r>
              <a:rPr sz="1900">
                <a:solidFill>
                  <a:srgbClr val="222222"/>
                </a:solidFill>
              </a:rPr>
              <a:t>•  A corridor needs about 300 lux; sunlight often provides it free</a:t>
            </a:r>
          </a:p>
          <a:p>
            <a:pPr>
              <a:spcAft>
                <a:spcPts val="1000"/>
              </a:spcAft>
            </a:pPr>
            <a:r>
              <a:rPr sz="1900">
                <a:solidFill>
                  <a:srgbClr val="222222"/>
                </a:solidFill>
              </a:rPr>
              <a:t>•  Light plus a target equals a decision: lamps on, off, or dimmed</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07.2: AI-First: What the AI Must Know About This Sensor</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An AI is only as good as what it knows about its senses</a:t>
            </a:r>
          </a:p>
          <a:p>
            <a:pPr>
              <a:spcAft>
                <a:spcPts val="1000"/>
              </a:spcAft>
            </a:pPr>
            <a:r>
              <a:rPr sz="1900">
                <a:solidFill>
                  <a:srgbClr val="222222"/>
                </a:solidFill>
              </a:rPr>
              <a:t>•  This sensor sees an enormous range: moonlight to full sunlight</a:t>
            </a:r>
          </a:p>
          <a:p>
            <a:pPr>
              <a:spcAft>
                <a:spcPts val="1000"/>
              </a:spcAft>
            </a:pPr>
            <a:r>
              <a:rPr sz="1900">
                <a:solidFill>
                  <a:srgbClr val="222222"/>
                </a:solidFill>
              </a:rPr>
              <a:t>•  The reading is light at the sensor, not the whole room</a:t>
            </a:r>
          </a:p>
          <a:p>
            <a:pPr>
              <a:spcAft>
                <a:spcPts val="1000"/>
              </a:spcAft>
            </a:pPr>
            <a:r>
              <a:rPr sz="1900">
                <a:solidFill>
                  <a:srgbClr val="222222"/>
                </a:solidFill>
              </a:rPr>
              <a:t>•  Where it is mounted changes what its number means</a:t>
            </a:r>
          </a:p>
          <a:p>
            <a:pPr>
              <a:spcAft>
                <a:spcPts val="1000"/>
              </a:spcAft>
            </a:pPr>
            <a:r>
              <a:rPr sz="1900">
                <a:solidFill>
                  <a:srgbClr val="222222"/>
                </a:solidFill>
              </a:rPr>
              <a:t>•  Zero at noon means a covered or failed sensor, not darkness; its ID card teaches the AI such warnings</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07.3: The Agentic Pattern: The Agent Writes the Rule</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The pattern in one line: the AI writes the recipe once; the kitchen runs without it</a:t>
            </a:r>
          </a:p>
          <a:p>
            <a:pPr>
              <a:spcAft>
                <a:spcPts val="1000"/>
              </a:spcAft>
            </a:pPr>
            <a:r>
              <a:rPr sz="1900">
                <a:solidFill>
                  <a:srgbClr val="222222"/>
                </a:solidFill>
              </a:rPr>
              <a:t>•  You state the goal: lights only when actually needed</a:t>
            </a:r>
          </a:p>
          <a:p>
            <a:pPr>
              <a:spcAft>
                <a:spcPts val="1000"/>
              </a:spcAft>
            </a:pPr>
            <a:r>
              <a:rPr sz="1900">
                <a:solidFill>
                  <a:srgbClr val="222222"/>
                </a:solidFill>
              </a:rPr>
              <a:t>•  The AI turns it into a tiny rule: enough daylight, lamps off</a:t>
            </a:r>
          </a:p>
          <a:p>
            <a:pPr>
              <a:spcAft>
                <a:spcPts val="1000"/>
              </a:spcAft>
            </a:pPr>
            <a:r>
              <a:rPr sz="1900">
                <a:solidFill>
                  <a:srgbClr val="222222"/>
                </a:solidFill>
              </a:rPr>
              <a:t>•  The rule runs by itself, even with no internet</a:t>
            </a:r>
          </a:p>
          <a:p>
            <a:pPr>
              <a:spcAft>
                <a:spcPts val="1000"/>
              </a:spcAft>
            </a:pPr>
            <a:r>
              <a:rPr sz="1900">
                <a:solidFill>
                  <a:srgbClr val="222222"/>
                </a:solidFill>
              </a:rPr>
              <a:t>•  Later the AI returns as inspector and reports the savings</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07.4: What It Is</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Vishay VEML7700: a digital ambient light sensor reporting calibrated illuminance in lux</a:t>
            </a:r>
          </a:p>
          <a:p>
            <a:pPr>
              <a:spcAft>
                <a:spcPts val="1000"/>
              </a:spcAft>
            </a:pPr>
            <a:r>
              <a:rPr sz="1900">
                <a:solidFill>
                  <a:srgbClr val="222222"/>
                </a:solidFill>
              </a:rPr>
              <a:t>•  Inside: a photodiode behind a photopic filter, plus a 16-bit ASIC doing the conversion</a:t>
            </a:r>
          </a:p>
          <a:p>
            <a:pPr>
              <a:spcAft>
                <a:spcPts val="1000"/>
              </a:spcAft>
            </a:pPr>
            <a:r>
              <a:rPr sz="1900">
                <a:solidFill>
                  <a:srgbClr val="222222"/>
                </a:solidFill>
              </a:rPr>
              <a:t>•  The filter shapes the response to match the human eye, so it measures light as we see it</a:t>
            </a:r>
          </a:p>
          <a:p>
            <a:pPr>
              <a:spcAft>
                <a:spcPts val="1000"/>
              </a:spcAft>
            </a:pPr>
            <a:r>
              <a:rPr sz="1900">
                <a:solidFill>
                  <a:srgbClr val="222222"/>
                </a:solidFill>
              </a:rPr>
              <a:t>•  Dynamic range 0.0036 to 120,000 lux: moonless night to direct sunlight, one device</a:t>
            </a:r>
          </a:p>
          <a:p>
            <a:pPr>
              <a:spcAft>
                <a:spcPts val="1000"/>
              </a:spcAft>
            </a:pPr>
            <a:r>
              <a:rPr sz="1900">
                <a:solidFill>
                  <a:srgbClr val="222222"/>
                </a:solidFill>
              </a:rPr>
              <a:t>•  Configurable gain and integration time; the SIM firmware auto-ranges</a:t>
            </a:r>
          </a:p>
          <a:p>
            <a:pPr>
              <a:spcAft>
                <a:spcPts val="1000"/>
              </a:spcAft>
            </a:pPr>
            <a:r>
              <a:rPr sz="1900">
                <a:solidFill>
                  <a:srgbClr val="222222"/>
                </a:solidFill>
              </a:rPr>
              <a:t>•  Not a camera and not the kit's solar cell: it reports a number, not an image or power</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07.5: What It Does in Practice</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Lighting control: switch and dim artificial light against measured daylight</a:t>
            </a:r>
          </a:p>
          <a:p>
            <a:pPr>
              <a:spcAft>
                <a:spcPts val="1000"/>
              </a:spcAft>
            </a:pPr>
            <a:r>
              <a:rPr sz="1900">
                <a:solidFill>
                  <a:srgbClr val="222222"/>
                </a:solidFill>
              </a:rPr>
              <a:t>•  Compliance: verify workplaces meet standards, IS 3646 asks 300 lux in corridors, 500 in classrooms</a:t>
            </a:r>
          </a:p>
          <a:p>
            <a:pPr>
              <a:spcAft>
                <a:spcPts val="1000"/>
              </a:spcAft>
            </a:pPr>
            <a:r>
              <a:rPr sz="1900">
                <a:solidFill>
                  <a:srgbClr val="222222"/>
                </a:solidFill>
              </a:rPr>
              <a:t>•  Dusk and dawn detection for outdoor and security lighting, tracking seasons automatically</a:t>
            </a:r>
          </a:p>
          <a:p>
            <a:pPr>
              <a:spcAft>
                <a:spcPts val="1000"/>
              </a:spcAft>
            </a:pPr>
            <a:r>
              <a:rPr sz="1900">
                <a:solidFill>
                  <a:srgbClr val="222222"/>
                </a:solidFill>
              </a:rPr>
              <a:t>•  Display and signage brightness adaptation; glare detection above approximately 2,000 lux at a desk</a:t>
            </a:r>
          </a:p>
          <a:p>
            <a:pPr>
              <a:spcAft>
                <a:spcPts val="1000"/>
              </a:spcAft>
            </a:pPr>
            <a:r>
              <a:rPr sz="1900">
                <a:solidFill>
                  <a:srgbClr val="222222"/>
                </a:solidFill>
              </a:rPr>
              <a:t>•  Agriculture: daily light integral for crops, grow-light control, shade-cloth verification</a:t>
            </a:r>
          </a:p>
          <a:p>
            <a:pPr>
              <a:spcAft>
                <a:spcPts val="1000"/>
              </a:spcAft>
            </a:pPr>
            <a:r>
              <a:rPr sz="1900">
                <a:solidFill>
                  <a:srgbClr val="222222"/>
                </a:solidFill>
              </a:rPr>
              <a:t>•  Security: a lux spike inside a sealed enclosure means the enclosure was opened</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07.6: Technical Card</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Measurand: illuminance, lux; 16-bit resolution</a:t>
            </a:r>
          </a:p>
          <a:p>
            <a:pPr>
              <a:spcAft>
                <a:spcPts val="1000"/>
              </a:spcAft>
            </a:pPr>
            <a:r>
              <a:rPr sz="1900">
                <a:solidFill>
                  <a:srgbClr val="222222"/>
                </a:solidFill>
              </a:rPr>
              <a:t>•  Range: 0.0036 to 120,000 lux across gain and integration-time settings</a:t>
            </a:r>
          </a:p>
          <a:p>
            <a:pPr>
              <a:spcAft>
                <a:spcPts val="1000"/>
              </a:spcAft>
            </a:pPr>
            <a:r>
              <a:rPr sz="1900">
                <a:solidFill>
                  <a:srgbClr val="222222"/>
                </a:solidFill>
              </a:rPr>
              <a:t>•  Accuracy: approximately ±10% typical against a reference meter, after gain calibration</a:t>
            </a:r>
          </a:p>
          <a:p>
            <a:pPr>
              <a:spcAft>
                <a:spcPts val="1000"/>
              </a:spcAft>
            </a:pPr>
            <a:r>
              <a:rPr sz="1900">
                <a:solidFill>
                  <a:srgbClr val="222222"/>
                </a:solidFill>
              </a:rPr>
              <a:t>•  Original package: 6.8 × 2.35 × 3.0 mm SMD, transparent top; I2C output, address 0x10</a:t>
            </a:r>
          </a:p>
          <a:p>
            <a:pPr>
              <a:spcAft>
                <a:spcPts val="1000"/>
              </a:spcAft>
            </a:pPr>
            <a:r>
              <a:rPr sz="1900">
                <a:solidFill>
                  <a:srgbClr val="222222"/>
                </a:solidFill>
              </a:rPr>
              <a:t>•  Supply: 3.3 V from SIM2; microamp-level consumption, negligible on a power bank</a:t>
            </a:r>
          </a:p>
          <a:p>
            <a:pPr>
              <a:spcAft>
                <a:spcPts val="1000"/>
              </a:spcAft>
            </a:pPr>
            <a:r>
              <a:rPr sz="1900">
                <a:solidFill>
                  <a:srgbClr val="222222"/>
                </a:solidFill>
              </a:rPr>
              <a:t>•  Packaged sensor dimensions: [PLACEHOLDER]; window material affects reading, calibration follows enclosure</a:t>
            </a:r>
          </a:p>
          <a:p>
            <a:pPr>
              <a:spcAft>
                <a:spcPts val="1000"/>
              </a:spcAft>
            </a:pPr>
            <a:r>
              <a:rPr sz="1900">
                <a:solidFill>
                  <a:srgbClr val="222222"/>
                </a:solidFill>
              </a:rPr>
              <a:t>•  Interface / connector details: [PLACEHOLDER: keyed harness part number]; SIM assignment: SIM2 (I2C)</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07.7: Climate Change Applications</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Lighting is roughly 15-20% of global building electricity</a:t>
            </a:r>
          </a:p>
          <a:p>
            <a:pPr>
              <a:spcAft>
                <a:spcPts val="1000"/>
              </a:spcAft>
            </a:pPr>
            <a:r>
              <a:rPr sz="1900">
                <a:solidFill>
                  <a:srgbClr val="222222"/>
                </a:solidFill>
              </a:rPr>
              <a:t>•  Daylight harvesting: E_artificial = max(0, E_target − E_natural), dimming against free light</a:t>
            </a:r>
          </a:p>
          <a:p>
            <a:pPr>
              <a:spcAft>
                <a:spcPts val="1000"/>
              </a:spcAft>
            </a:pPr>
            <a:r>
              <a:rPr sz="1900">
                <a:solidFill>
                  <a:srgbClr val="222222"/>
                </a:solidFill>
              </a:rPr>
              <a:t>•  Documented savings of 30-60% on lighting energy depending on glazing and orientation</a:t>
            </a:r>
          </a:p>
          <a:p>
            <a:pPr>
              <a:spcAft>
                <a:spcPts val="1000"/>
              </a:spcAft>
            </a:pPr>
            <a:r>
              <a:rPr sz="1900">
                <a:solidFill>
                  <a:srgbClr val="222222"/>
                </a:solidFill>
              </a:rPr>
              <a:t>•  Rule of thumb approximately 120 lux per W/m², so lux also proxies solar heat gain for HVAC models</a:t>
            </a:r>
          </a:p>
          <a:p>
            <a:pPr>
              <a:spcAft>
                <a:spcPts val="1000"/>
              </a:spcAft>
            </a:pPr>
            <a:r>
              <a:rPr sz="1900">
                <a:solidFill>
                  <a:srgbClr val="222222"/>
                </a:solidFill>
              </a:rPr>
              <a:t>•  Adaptation and ecology: cloud-cover quantification, seasonal daylight records, light-pollution baselines</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07.8: Fusion Partners</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PIR: the complete lighting rule, lights on only when motion AND lux below threshold</a:t>
            </a:r>
          </a:p>
          <a:p>
            <a:pPr>
              <a:spcAft>
                <a:spcPts val="1000"/>
              </a:spcAft>
            </a:pPr>
            <a:r>
              <a:rPr sz="1900">
                <a:solidFill>
                  <a:srgbClr val="222222"/>
                </a:solidFill>
              </a:rPr>
              <a:t>•  SCT-013 on the lighting circuit: measured kWh proves the daylight-harvesting saving</a:t>
            </a:r>
          </a:p>
          <a:p>
            <a:pPr>
              <a:spcAft>
                <a:spcPts val="1000"/>
              </a:spcAft>
            </a:pPr>
            <a:r>
              <a:rPr sz="1900">
                <a:solidFill>
                  <a:srgbClr val="222222"/>
                </a:solidFill>
              </a:rPr>
              <a:t>•  BME688 humidity: lux drop plus humidity spike reads as fog, not cloud</a:t>
            </a:r>
          </a:p>
          <a:p>
            <a:pPr>
              <a:spcAft>
                <a:spcPts val="1000"/>
              </a:spcAft>
            </a:pPr>
            <a:r>
              <a:rPr sz="1900">
                <a:solidFill>
                  <a:srgbClr val="222222"/>
                </a:solidFill>
              </a:rPr>
              <a:t>•  SCD41 or reed: occupancy and window state complete the "why is it bright or dark" picture</a:t>
            </a:r>
          </a:p>
          <a:p>
            <a:pPr>
              <a:spcAft>
                <a:spcPts val="1000"/>
              </a:spcAft>
            </a:pPr>
            <a:r>
              <a:rPr sz="1900">
                <a:solidFill>
                  <a:srgbClr val="222222"/>
                </a:solidFill>
              </a:rPr>
              <a:t>•  Agent inference: cross-stream queries turn coincidence into explanation</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07.9: Capstone C2: Should the Lights Be On at All?</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Question: should the lights be on at all, and what did daylight save us?</a:t>
            </a:r>
          </a:p>
          <a:p>
            <a:pPr>
              <a:spcAft>
                <a:spcPts val="1000"/>
              </a:spcAft>
            </a:pPr>
            <a:r>
              <a:rPr sz="1900">
                <a:solidFill>
                  <a:srgbClr val="222222"/>
                </a:solidFill>
              </a:rPr>
              <a:t>•  Sensors: VEML7700 at the working plane, PIR for presence, SCT-013 on the lighting circuit</a:t>
            </a:r>
          </a:p>
          <a:p>
            <a:pPr>
              <a:spcAft>
                <a:spcPts val="1000"/>
              </a:spcAft>
            </a:pPr>
            <a:r>
              <a:rPr sz="1900">
                <a:solidFill>
                  <a:srgbClr val="222222"/>
                </a:solidFill>
              </a:rPr>
              <a:t>•  Week 1 baseline on existing switching; week 2 with the motion-AND-lux rule deployed at the edge</a:t>
            </a:r>
          </a:p>
          <a:p>
            <a:pPr>
              <a:spcAft>
                <a:spcPts val="1000"/>
              </a:spcAft>
            </a:pPr>
            <a:r>
              <a:rPr sz="1900">
                <a:solidFill>
                  <a:srgbClr val="222222"/>
                </a:solidFill>
              </a:rPr>
              <a:t>•  The contradiction: lux says bright, PIR says occupied, meter says lights burning anyway</a:t>
            </a:r>
          </a:p>
          <a:p>
            <a:pPr>
              <a:spcAft>
                <a:spcPts val="1000"/>
              </a:spcAft>
            </a:pPr>
            <a:r>
              <a:rPr sz="1900">
                <a:solidFill>
                  <a:srgbClr val="222222"/>
                </a:solidFill>
              </a:rPr>
              <a:t>•  Decision: adopt the rule campus-wide, adjust the threshold, or show the corridor never needs it</a:t>
            </a:r>
          </a:p>
          <a:p>
            <a:pPr>
              <a:spcAft>
                <a:spcPts val="1000"/>
              </a:spcAft>
            </a:pPr>
            <a:r>
              <a:rPr sz="1900">
                <a:solidFill>
                  <a:srgbClr val="222222"/>
                </a:solidFill>
              </a:rPr>
              <a:t>•  Deliverable: measured kWh delta, compliance hours against IS 3646, payback estimate</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2286000"/>
            <a:ext cx="10698480" cy="1463040"/>
          </a:xfrm>
          <a:prstGeom prst="rect">
            <a:avLst/>
          </a:prstGeom>
          <a:noFill/>
        </p:spPr>
        <p:txBody>
          <a:bodyPr wrap="square">
            <a:spAutoFit/>
          </a:bodyPr>
          <a:lstStyle/>
          <a:p>
            <a:r>
              <a:rPr sz="3600" b="1">
                <a:solidFill>
                  <a:srgbClr val="1B5E8A"/>
                </a:solidFill>
              </a:rPr>
              <a:t>Sensor 08: SPL Sensor (MEMS Microphone + Envelope Detector) - Sound Pressure Level (SIM4, Analog)</a:t>
            </a:r>
          </a:p>
        </p:txBody>
      </p:sp>
      <p:sp>
        <p:nvSpPr>
          <p:cNvPr id="3" name="TextBox 2"/>
          <p:cNvSpPr txBox="1"/>
          <p:nvPr/>
        </p:nvSpPr>
        <p:spPr>
          <a:xfrm>
            <a:off x="731520" y="3840480"/>
            <a:ext cx="10698480" cy="914400"/>
          </a:xfrm>
          <a:prstGeom prst="rect">
            <a:avLst/>
          </a:prstGeom>
          <a:noFill/>
        </p:spPr>
        <p:txBody>
          <a:bodyPr wrap="square">
            <a:spAutoFit/>
          </a:bodyPr>
          <a:lstStyle/>
          <a:p>
            <a:r>
              <a:rPr sz="1800">
                <a:solidFill>
                  <a:srgbClr val="222222"/>
                </a:solidFill>
              </a:rPr>
              <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08.1: AI-First: The Old Way and the New Way</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Old way: a person walks in, listens, judges, walks away</a:t>
            </a:r>
          </a:p>
          <a:p>
            <a:pPr>
              <a:spcAft>
                <a:spcPts val="1000"/>
              </a:spcAft>
            </a:pPr>
            <a:r>
              <a:rPr sz="1900">
                <a:solidFill>
                  <a:srgbClr val="222222"/>
                </a:solidFill>
              </a:rPr>
              <a:t>•  New way: an AI watches the loudness every second, and acts</a:t>
            </a:r>
          </a:p>
          <a:p>
            <a:pPr>
              <a:spcAft>
                <a:spcPts val="1000"/>
              </a:spcAft>
            </a:pPr>
            <a:r>
              <a:rPr sz="1900">
                <a:solidFill>
                  <a:srgbClr val="222222"/>
                </a:solidFill>
              </a:rPr>
              <a:t>•  The AI never gets bored, never goes home, never stops noticing</a:t>
            </a:r>
          </a:p>
          <a:p>
            <a:pPr>
              <a:spcAft>
                <a:spcPts val="1000"/>
              </a:spcAft>
            </a:pPr>
            <a:r>
              <a:rPr sz="1900">
                <a:solidFill>
                  <a:srgbClr val="222222"/>
                </a:solidFill>
              </a:rPr>
              <a:t>•  The library turns noisy; the AI notices immediately, not at closing time</a:t>
            </a:r>
          </a:p>
          <a:p>
            <a:pPr>
              <a:spcAft>
                <a:spcPts val="1000"/>
              </a:spcAft>
            </a:pPr>
            <a:r>
              <a:rPr sz="1900">
                <a:solidFill>
                  <a:srgbClr val="222222"/>
                </a:solidFill>
              </a:rPr>
              <a:t>•  Your new role: decide what the AI watches for, and what it does</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08.2: AI-First: What the AI Must Know About This Sensor</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The AI reads the sensor's ID card: what I measure, how well, how often</a:t>
            </a:r>
          </a:p>
          <a:p>
            <a:pPr>
              <a:spcAft>
                <a:spcPts val="1000"/>
              </a:spcAft>
            </a:pPr>
            <a:r>
              <a:rPr sz="1900">
                <a:solidFill>
                  <a:srgbClr val="222222"/>
                </a:solidFill>
              </a:rPr>
              <a:t>•  The card says: loudness from 30 to 120 decibels, once a second</a:t>
            </a:r>
          </a:p>
          <a:p>
            <a:pPr>
              <a:spcAft>
                <a:spcPts val="1000"/>
              </a:spcAft>
            </a:pPr>
            <a:r>
              <a:rPr sz="1900">
                <a:solidFill>
                  <a:srgbClr val="222222"/>
                </a:solidFill>
              </a:rPr>
              <a:t>•  And what it cannot do: it hears how loud, never the words</a:t>
            </a:r>
          </a:p>
          <a:p>
            <a:pPr>
              <a:spcAft>
                <a:spcPts val="1000"/>
              </a:spcAft>
            </a:pPr>
            <a:r>
              <a:rPr sz="1900">
                <a:solidFill>
                  <a:srgbClr val="222222"/>
                </a:solidFill>
              </a:rPr>
              <a:t>•  The words are erased inside the circuit, by hardware, not by promise</a:t>
            </a:r>
          </a:p>
          <a:p>
            <a:pPr>
              <a:spcAft>
                <a:spcPts val="1000"/>
              </a:spcAft>
            </a:pPr>
            <a:r>
              <a:rPr sz="1900">
                <a:solidFill>
                  <a:srgbClr val="222222"/>
                </a:solidFill>
              </a:rPr>
              <a:t>•  An AI is only as good as what it knows about its senses</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08.3: The Agentic Pattern: Architect What the AI Cannot Know</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Pattern in one line: privacy is built into the hardware, not promised in software</a:t>
            </a:r>
          </a:p>
          <a:p>
            <a:pPr>
              <a:spcAft>
                <a:spcPts val="1000"/>
              </a:spcAft>
            </a:pPr>
            <a:r>
              <a:rPr sz="1900">
                <a:solidFill>
                  <a:srgbClr val="222222"/>
                </a:solidFill>
              </a:rPr>
              <a:t>•  Like frosted glass: you can see someone is there, never who</a:t>
            </a:r>
          </a:p>
          <a:p>
            <a:pPr>
              <a:spcAft>
                <a:spcPts val="1000"/>
              </a:spcAft>
            </a:pPr>
            <a:r>
              <a:rPr sz="1900">
                <a:solidFill>
                  <a:srgbClr val="222222"/>
                </a:solidFill>
              </a:rPr>
              <a:t>•  Here, the circuit keeps the loudness and throws the words away</a:t>
            </a:r>
          </a:p>
          <a:p>
            <a:pPr>
              <a:spcAft>
                <a:spcPts val="1000"/>
              </a:spcAft>
            </a:pPr>
            <a:r>
              <a:rPr sz="1900">
                <a:solidFill>
                  <a:srgbClr val="222222"/>
                </a:solidFill>
              </a:rPr>
              <a:t>•  A promise can be broken; a physical limit cannot</a:t>
            </a:r>
          </a:p>
          <a:p>
            <a:pPr>
              <a:spcAft>
                <a:spcPts val="1000"/>
              </a:spcAft>
            </a:pPr>
            <a:r>
              <a:rPr sz="1900">
                <a:solidFill>
                  <a:srgbClr val="222222"/>
                </a:solidFill>
              </a:rPr>
              <a:t>•  You design what the AI may know; the AI does the watching</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08.4: What It Is</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A MEMS microphone paired with an envelope detector circuit</a:t>
            </a:r>
          </a:p>
          <a:p>
            <a:pPr>
              <a:spcAft>
                <a:spcPts val="1000"/>
              </a:spcAft>
            </a:pPr>
            <a:r>
              <a:rPr sz="1900">
                <a:solidFill>
                  <a:srgbClr val="222222"/>
                </a:solidFill>
              </a:rPr>
              <a:t>•  Measures loudness, not sound content: output is one DC voltage proportional to RMS sound pressure level</a:t>
            </a:r>
          </a:p>
          <a:p>
            <a:pPr>
              <a:spcAft>
                <a:spcPts val="1000"/>
              </a:spcAft>
            </a:pPr>
            <a:r>
              <a:rPr sz="1900">
                <a:solidFill>
                  <a:srgbClr val="222222"/>
                </a:solidFill>
              </a:rPr>
              <a:t>•  Reported in decibels (dB), a logarithmic scale matched to human hearing</a:t>
            </a:r>
          </a:p>
          <a:p>
            <a:pPr>
              <a:spcAft>
                <a:spcPts val="1000"/>
              </a:spcAft>
            </a:pPr>
            <a:r>
              <a:rPr sz="1900">
                <a:solidFill>
                  <a:srgbClr val="222222"/>
                </a:solidFill>
              </a:rPr>
              <a:t>•  No audio is recorded, stored, or transmitted: speech is physically unrecoverable from the signal</a:t>
            </a:r>
          </a:p>
          <a:p>
            <a:pPr>
              <a:spcAft>
                <a:spcPts val="1000"/>
              </a:spcAft>
            </a:pPr>
            <a:r>
              <a:rPr sz="1900">
                <a:solidFill>
                  <a:srgbClr val="222222"/>
                </a:solidFill>
              </a:rPr>
              <a:t>•  Privacy-preserving by construction, deployable where recording consent is legally complex</a:t>
            </a:r>
          </a:p>
          <a:p>
            <a:pPr>
              <a:spcAft>
                <a:spcPts val="1000"/>
              </a:spcAft>
            </a:pPr>
            <a:r>
              <a:rPr sz="1900">
                <a:solidFill>
                  <a:srgbClr val="222222"/>
                </a:solidFill>
              </a:rPr>
              <a:t>•  The kit's only sensor for what people and machines are doing, rather than where they are</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08.5: What It Does in Practice</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Occupancy and activity: distinguishes an empty room from a silent occupied one, instantly</a:t>
            </a:r>
          </a:p>
          <a:p>
            <a:pPr>
              <a:spcAft>
                <a:spcPts val="1000"/>
              </a:spcAft>
            </a:pPr>
            <a:r>
              <a:rPr sz="1900">
                <a:solidFill>
                  <a:srgbClr val="222222"/>
                </a:solidFill>
              </a:rPr>
              <a:t>•  Noise compliance: library quiet zones, classroom background limits (IS 3483: 35 dB(A)), office noise mapping</a:t>
            </a:r>
          </a:p>
          <a:p>
            <a:pPr>
              <a:spcAft>
                <a:spcPts val="1000"/>
              </a:spcAft>
            </a:pPr>
            <a:r>
              <a:rPr sz="1900">
                <a:solidFill>
                  <a:srgbClr val="222222"/>
                </a:solidFill>
              </a:rPr>
              <a:t>•  Equipment health: fan and compressor hum confirms running state; rising baseline flags bearing wear</a:t>
            </a:r>
          </a:p>
          <a:p>
            <a:pPr>
              <a:spcAft>
                <a:spcPts val="1000"/>
              </a:spcAft>
            </a:pPr>
            <a:r>
              <a:rPr sz="1900">
                <a:solidFill>
                  <a:srgbClr val="222222"/>
                </a:solidFill>
              </a:rPr>
              <a:t>•  Safety events: glass break, impact, alarm confirmation, all from amplitude signatures alone</a:t>
            </a:r>
          </a:p>
          <a:p>
            <a:pPr>
              <a:spcAft>
                <a:spcPts val="1000"/>
              </a:spcAft>
            </a:pPr>
            <a:r>
              <a:rPr sz="1900">
                <a:solidFill>
                  <a:srgbClr val="222222"/>
                </a:solidFill>
              </a:rPr>
              <a:t>•  Interaction: clap and knock patterns as a control gesture, implemented entirely in firmware</a:t>
            </a:r>
          </a:p>
          <a:p>
            <a:pPr>
              <a:spcAft>
                <a:spcPts val="1000"/>
              </a:spcAft>
            </a:pPr>
            <a:r>
              <a:rPr sz="1900">
                <a:solidFill>
                  <a:srgbClr val="222222"/>
                </a:solidFill>
              </a:rPr>
              <a:t>•  Urban environment: traffic noise exposure logging at building facades</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08.6: Technical Card</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Measurand: sound pressure level, RMS, A-weighted approximation</a:t>
            </a:r>
          </a:p>
          <a:p>
            <a:pPr>
              <a:spcAft>
                <a:spcPts val="1000"/>
              </a:spcAft>
            </a:pPr>
            <a:r>
              <a:rPr sz="1900">
                <a:solidFill>
                  <a:srgbClr val="222222"/>
                </a:solidFill>
              </a:rPr>
              <a:t>•  Range: approximately 30-120 dB SPL; update rate 1 Hz (sufficient for occupancy and compliance)</a:t>
            </a:r>
          </a:p>
          <a:p>
            <a:pPr>
              <a:spcAft>
                <a:spcPts val="1000"/>
              </a:spcAft>
            </a:pPr>
            <a:r>
              <a:rPr sz="1900">
                <a:solidFill>
                  <a:srgbClr val="222222"/>
                </a:solidFill>
              </a:rPr>
              <a:t>•  Accuracy: approximately ±2-3 dB after single-point calibration [to be characterised on final hardware]</a:t>
            </a:r>
          </a:p>
          <a:p>
            <a:pPr>
              <a:spcAft>
                <a:spcPts val="1000"/>
              </a:spcAft>
            </a:pPr>
            <a:r>
              <a:rPr sz="1900">
                <a:solidFill>
                  <a:srgbClr val="222222"/>
                </a:solidFill>
              </a:rPr>
              <a:t>•  Raw device: MEMS microphone (approximately 3-4 mm package) + op-amp envelope detector</a:t>
            </a:r>
          </a:p>
          <a:p>
            <a:pPr>
              <a:spcAft>
                <a:spcPts val="1000"/>
              </a:spcAft>
            </a:pPr>
            <a:r>
              <a:rPr sz="1900">
                <a:solidFill>
                  <a:srgbClr val="222222"/>
                </a:solidFill>
              </a:rPr>
              <a:t>•  Output: analog DC, 0-3.3 V, proportional to dB level; read by SIM4's 12-bit ADC with oversampling</a:t>
            </a:r>
          </a:p>
          <a:p>
            <a:pPr>
              <a:spcAft>
                <a:spcPts val="1000"/>
              </a:spcAft>
            </a:pPr>
            <a:r>
              <a:rPr sz="1900">
                <a:solidFill>
                  <a:srgbClr val="222222"/>
                </a:solidFill>
              </a:rPr>
              <a:t>•  Packaged sensor dimensions: [PLACEHOLDER]</a:t>
            </a:r>
          </a:p>
          <a:p>
            <a:pPr>
              <a:spcAft>
                <a:spcPts val="1000"/>
              </a:spcAft>
            </a:pPr>
            <a:r>
              <a:rPr sz="1900">
                <a:solidFill>
                  <a:srgbClr val="222222"/>
                </a:solidFill>
              </a:rPr>
              <a:t>•  Interface and connector details: [PLACEHOLDER: keyed harness part number]</a:t>
            </a:r>
          </a:p>
          <a:p>
            <a:pPr>
              <a:spcAft>
                <a:spcPts val="1000"/>
              </a:spcAft>
            </a:pPr>
            <a:r>
              <a:rPr sz="1900">
                <a:solidFill>
                  <a:srgbClr val="222222"/>
                </a:solidFill>
              </a:rPr>
              <a:t>•  SIM assignment: SIM4 (Analog), sensor rail powered from the SIM</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08.7: Climate Change Applications</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HVAC state confirmation: compressor and fan hum verifies equipment is actually running, or wastefully left on</a:t>
            </a:r>
          </a:p>
          <a:p>
            <a:pPr>
              <a:spcAft>
                <a:spcPts val="1000"/>
              </a:spcAft>
            </a:pPr>
            <a:r>
              <a:rPr sz="1900">
                <a:solidFill>
                  <a:srgbClr val="222222"/>
                </a:solidFill>
              </a:rPr>
              <a:t>•  Predictive maintenance: rising acoustic baseline catches bearing wear early, extending equipment life and deferring embodied-carbon replacement</a:t>
            </a:r>
          </a:p>
          <a:p>
            <a:pPr>
              <a:spcAft>
                <a:spcPts val="1000"/>
              </a:spcAft>
            </a:pPr>
            <a:r>
              <a:rPr sz="1900">
                <a:solidFill>
                  <a:srgbClr val="222222"/>
                </a:solidFill>
              </a:rPr>
              <a:t>•  Enables fast HVAC setback: silence plus no motion means the room emptied, cut cooling within about 30 seconds instead of waiting 10-15 minutes for CO2 decay</a:t>
            </a:r>
          </a:p>
          <a:p>
            <a:pPr>
              <a:spcAft>
                <a:spcPts val="1000"/>
              </a:spcAft>
            </a:pPr>
            <a:r>
              <a:rPr sz="1900">
                <a:solidFill>
                  <a:srgbClr val="222222"/>
                </a:solidFill>
              </a:rPr>
              <a:t>•  Urban adaptation: traffic noise mapping identifies facades needing acoustic (and thermal) glazing upgrades</a:t>
            </a:r>
          </a:p>
          <a:p>
            <a:pPr>
              <a:spcAft>
                <a:spcPts val="1000"/>
              </a:spcAft>
            </a:pPr>
            <a:r>
              <a:rPr sz="1900">
                <a:solidFill>
                  <a:srgbClr val="222222"/>
                </a:solidFill>
              </a:rPr>
              <a:t>•  Noise is itself an environmental stressor tracked alongside heat and air quality in dense cities</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08.8: Fusion Partners</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PIR (SIM3): motion says where, sound says what; both respond instantly</a:t>
            </a:r>
          </a:p>
          <a:p>
            <a:pPr>
              <a:spcAft>
                <a:spcPts val="1000"/>
              </a:spcAft>
            </a:pPr>
            <a:r>
              <a:rPr sz="1900">
                <a:solidFill>
                  <a:srgbClr val="222222"/>
                </a:solidFill>
              </a:rPr>
              <a:t>•  SCD41 (SIM2): latency complementarity, SPL instant vs CO2 lagging 2-15 min; SPL proposes, CO2 confirms</a:t>
            </a:r>
          </a:p>
          <a:p>
            <a:pPr>
              <a:spcAft>
                <a:spcPts val="1000"/>
              </a:spcAft>
            </a:pPr>
            <a:r>
              <a:rPr sz="1900">
                <a:solidFill>
                  <a:srgbClr val="222222"/>
                </a:solidFill>
              </a:rPr>
              <a:t>•  SCT-013 (SIM4): acoustic hum vs electrical current, two independent votes on machine state</a:t>
            </a:r>
          </a:p>
          <a:p>
            <a:pPr>
              <a:spcAft>
                <a:spcPts val="1000"/>
              </a:spcAft>
            </a:pPr>
            <a:r>
              <a:rPr sz="1900">
                <a:solidFill>
                  <a:srgbClr val="222222"/>
                </a:solidFill>
              </a:rPr>
              <a:t>•  Five-state fusion machine: EMPTY, LOW_OCCUPANCY, OCCUPIED, ACTIVE, ANOMALY</a:t>
            </a:r>
          </a:p>
          <a:p>
            <a:pPr>
              <a:spcAft>
                <a:spcPts val="1000"/>
              </a:spcAft>
            </a:pPr>
            <a:r>
              <a:rPr sz="1900">
                <a:solidFill>
                  <a:srgbClr val="222222"/>
                </a:solidFill>
              </a:rPr>
              <a:t>•  Agent role: `query_timeseries` across all three, aligned on tick, classifies state and explains its evidence</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08.9: Capstone C3: Is This Space Comfortable by the Numbers?</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Question: is the study hall genuinely comfortable, and who or what is making it worse?</a:t>
            </a:r>
          </a:p>
          <a:p>
            <a:pPr>
              <a:spcAft>
                <a:spcPts val="1000"/>
              </a:spcAft>
            </a:pPr>
            <a:r>
              <a:rPr sz="1900">
                <a:solidFill>
                  <a:srgbClr val="222222"/>
                </a:solidFill>
              </a:rPr>
              <a:t>•  Sensors: BME688 (IAQ, T, RH), SCD41 (CO2), DS18B20 (temperature points), SPL (acoustic comfort)</a:t>
            </a:r>
          </a:p>
          <a:p>
            <a:pPr>
              <a:spcAft>
                <a:spcPts val="1000"/>
              </a:spcAft>
            </a:pPr>
            <a:r>
              <a:rPr sz="1900">
                <a:solidFill>
                  <a:srgbClr val="222222"/>
                </a:solidFill>
              </a:rPr>
              <a:t>•  Contradiction to resolve: thermal and air quality readings say "comfortable" while occupants complain; the noise channel often holds the answer</a:t>
            </a:r>
          </a:p>
          <a:p>
            <a:pPr>
              <a:spcAft>
                <a:spcPts val="1000"/>
              </a:spcAft>
            </a:pPr>
            <a:r>
              <a:rPr sz="1900">
                <a:solidFill>
                  <a:srgbClr val="222222"/>
                </a:solidFill>
              </a:rPr>
              <a:t>•  Decision: a ranked list of comfort interventions with measured evidence, delivered as a weekly agent report</a:t>
            </a:r>
          </a:p>
          <a:p>
            <a:pPr>
              <a:spcAft>
                <a:spcPts val="1000"/>
              </a:spcAft>
            </a:pPr>
            <a:r>
              <a:rPr sz="1900">
                <a:solidFill>
                  <a:srgbClr val="222222"/>
                </a:solidFill>
              </a:rPr>
              <a:t>•  Agent orchestration: `capture_experiment` for a two-week baseline, `annotate` for complaints, `validate_reading` before trusting any channel</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2286000"/>
            <a:ext cx="10698480" cy="1463040"/>
          </a:xfrm>
          <a:prstGeom prst="rect">
            <a:avLst/>
          </a:prstGeom>
          <a:noFill/>
        </p:spPr>
        <p:txBody>
          <a:bodyPr wrap="square">
            <a:spAutoFit/>
          </a:bodyPr>
          <a:lstStyle/>
          <a:p>
            <a:r>
              <a:rPr sz="3600" b="1">
                <a:solidFill>
                  <a:srgbClr val="1B5E8A"/>
                </a:solidFill>
              </a:rPr>
              <a:t>Sensor 09: JSN-SR04T - Ultrasonic Distance / Level (SIM4, pulse-width)</a:t>
            </a:r>
          </a:p>
        </p:txBody>
      </p:sp>
      <p:sp>
        <p:nvSpPr>
          <p:cNvPr id="3" name="TextBox 2"/>
          <p:cNvSpPr txBox="1"/>
          <p:nvPr/>
        </p:nvSpPr>
        <p:spPr>
          <a:xfrm>
            <a:off x="731520" y="3840480"/>
            <a:ext cx="10698480" cy="914400"/>
          </a:xfrm>
          <a:prstGeom prst="rect">
            <a:avLst/>
          </a:prstGeom>
          <a:noFill/>
        </p:spPr>
        <p:txBody>
          <a:bodyPr wrap="square">
            <a:spAutoFit/>
          </a:bodyPr>
          <a:lstStyle/>
          <a:p>
            <a:r>
              <a:rPr sz="1800">
                <a:solidFill>
                  <a:srgbClr val="222222"/>
                </a:solidFill>
              </a:rPr>
              <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09.1: AI-First: The Old Way and the New Way</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Old way: someone climbs to the rooftop tank and looks inside</a:t>
            </a:r>
          </a:p>
          <a:p>
            <a:pPr>
              <a:spcAft>
                <a:spcPts val="1000"/>
              </a:spcAft>
            </a:pPr>
            <a:r>
              <a:rPr sz="1900">
                <a:solidFill>
                  <a:srgbClr val="222222"/>
                </a:solidFill>
              </a:rPr>
              <a:t>•  New way: an AI watches the water level day and night, and acts</a:t>
            </a:r>
          </a:p>
          <a:p>
            <a:pPr>
              <a:spcAft>
                <a:spcPts val="1000"/>
              </a:spcAft>
            </a:pPr>
            <a:r>
              <a:rPr sz="1900">
                <a:solidFill>
                  <a:srgbClr val="222222"/>
                </a:solidFill>
              </a:rPr>
              <a:t>•  The pump stops before overflow, starts before the taps run dry</a:t>
            </a:r>
          </a:p>
          <a:p>
            <a:pPr>
              <a:spcAft>
                <a:spcPts val="1000"/>
              </a:spcAft>
            </a:pPr>
            <a:r>
              <a:rPr sz="1900">
                <a:solidFill>
                  <a:srgbClr val="222222"/>
                </a:solidFill>
              </a:rPr>
              <a:t>•  No more water spilling off the roof every morning</a:t>
            </a:r>
          </a:p>
          <a:p>
            <a:pPr>
              <a:spcAft>
                <a:spcPts val="1000"/>
              </a:spcAft>
            </a:pPr>
            <a:r>
              <a:rPr sz="1900">
                <a:solidFill>
                  <a:srgbClr val="222222"/>
                </a:solidFill>
              </a:rPr>
              <a:t>•  You decide what "too full" and "too empty" mean; the AI enforces it</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09.2: AI-First: What the AI Must Know About This Sensor</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The AI reads the sensor's ID card before trusting a single number</a:t>
            </a:r>
          </a:p>
          <a:p>
            <a:pPr>
              <a:spcAft>
                <a:spcPts val="1000"/>
              </a:spcAft>
            </a:pPr>
            <a:r>
              <a:rPr sz="1900">
                <a:solidFill>
                  <a:srgbClr val="222222"/>
                </a:solidFill>
              </a:rPr>
              <a:t>•  The card says: I measure distance with sound echoes, 20 cm to 4.5 m</a:t>
            </a:r>
          </a:p>
          <a:p>
            <a:pPr>
              <a:spcAft>
                <a:spcPts val="1000"/>
              </a:spcAft>
            </a:pPr>
            <a:r>
              <a:rPr sz="1900">
                <a:solidFill>
                  <a:srgbClr val="222222"/>
                </a:solidFill>
              </a:rPr>
              <a:t>•  One warning: warm air speeds up sound, so hot afternoons shift the reading</a:t>
            </a:r>
          </a:p>
          <a:p>
            <a:pPr>
              <a:spcAft>
                <a:spcPts val="1000"/>
              </a:spcAft>
            </a:pPr>
            <a:r>
              <a:rPr sz="1900">
                <a:solidFill>
                  <a:srgbClr val="222222"/>
                </a:solidFill>
              </a:rPr>
              <a:t>•  Another: "no echo" can mean an empty tank, or a broken sensor</a:t>
            </a:r>
          </a:p>
          <a:p>
            <a:pPr>
              <a:spcAft>
                <a:spcPts val="1000"/>
              </a:spcAft>
            </a:pPr>
            <a:r>
              <a:rPr sz="1900">
                <a:solidFill>
                  <a:srgbClr val="222222"/>
                </a:solidFill>
              </a:rPr>
              <a:t>•  An AI that knows these limits asks better questions than one that does not</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09.3: The Agentic Pattern: One Sensor Corrects Another</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Pattern in one line: sensors check each other's work</a:t>
            </a:r>
          </a:p>
          <a:p>
            <a:pPr>
              <a:spcAft>
                <a:spcPts val="1000"/>
              </a:spcAft>
            </a:pPr>
            <a:r>
              <a:rPr sz="1900">
                <a:solidFill>
                  <a:srgbClr val="222222"/>
                </a:solidFill>
              </a:rPr>
              <a:t>•  Like a friend who checks your sums: both are better together</a:t>
            </a:r>
          </a:p>
          <a:p>
            <a:pPr>
              <a:spcAft>
                <a:spcPts val="1000"/>
              </a:spcAft>
            </a:pPr>
            <a:r>
              <a:rPr sz="1900">
                <a:solidFill>
                  <a:srgbClr val="222222"/>
                </a:solidFill>
              </a:rPr>
              <a:t>•  Warm air makes this ruler lie slightly; a thermometer fixes it</a:t>
            </a:r>
          </a:p>
          <a:p>
            <a:pPr>
              <a:spcAft>
                <a:spcPts val="1000"/>
              </a:spcAft>
            </a:pPr>
            <a:r>
              <a:rPr sz="1900">
                <a:solidFill>
                  <a:srgbClr val="222222"/>
                </a:solidFill>
              </a:rPr>
              <a:t>•  The AI applies the correction automatically, every few seconds, forever</a:t>
            </a:r>
          </a:p>
          <a:p>
            <a:pPr>
              <a:spcAft>
                <a:spcPts val="1000"/>
              </a:spcAft>
            </a:pPr>
            <a:r>
              <a:rPr sz="1900">
                <a:solidFill>
                  <a:srgbClr val="222222"/>
                </a:solidFill>
              </a:rPr>
              <a:t>•  You design the thinking; the AI does the watching</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09.4: What It Is</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Time-of-flight ultrasonic ranger: emits a 40 kHz sound pulse, times the echo</a:t>
            </a:r>
          </a:p>
          <a:p>
            <a:pPr>
              <a:spcAft>
                <a:spcPts val="1000"/>
              </a:spcAft>
            </a:pPr>
            <a:r>
              <a:rPr sz="1900">
                <a:solidFill>
                  <a:srgbClr val="222222"/>
                </a:solidFill>
              </a:rPr>
              <a:t>•  Distance = (echo time × speed of sound) / 2; sound travels approximately 343 m/s at 20 °C</a:t>
            </a:r>
          </a:p>
          <a:p>
            <a:pPr>
              <a:spcAft>
                <a:spcPts val="1000"/>
              </a:spcAft>
            </a:pPr>
            <a:r>
              <a:rPr sz="1900">
                <a:solidFill>
                  <a:srgbClr val="222222"/>
                </a:solidFill>
              </a:rPr>
              <a:t>•  Waterproof IP67 transducer on a cable, separate from the electronics board</a:t>
            </a:r>
          </a:p>
          <a:p>
            <a:pPr>
              <a:spcAft>
                <a:spcPts val="1000"/>
              </a:spcAft>
            </a:pPr>
            <a:r>
              <a:rPr sz="1900">
                <a:solidFill>
                  <a:srgbClr val="222222"/>
                </a:solidFill>
              </a:rPr>
              <a:t>•  Measures distance to any surface: water, a person, a bin's contents, a vehicle</a:t>
            </a:r>
          </a:p>
          <a:p>
            <a:pPr>
              <a:spcAft>
                <a:spcPts val="1000"/>
              </a:spcAft>
            </a:pPr>
            <a:r>
              <a:rPr sz="1900">
                <a:solidFill>
                  <a:srgbClr val="222222"/>
                </a:solidFill>
              </a:rPr>
              <a:t>•  Non-contact: nothing touches the thing being measured, so nothing corrodes or contaminates</a:t>
            </a:r>
          </a:p>
          <a:p>
            <a:pPr>
              <a:spcAft>
                <a:spcPts val="1000"/>
              </a:spcAft>
            </a:pPr>
            <a:r>
              <a:rPr sz="1900">
                <a:solidFill>
                  <a:srgbClr val="222222"/>
                </a:solidFill>
              </a:rPr>
              <a:t>•  Interface note: output is a timed pulse, not an analog voltage (detail on the technical card)</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09.5: What It Does in Practice</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Liquid level: overhead water tanks, sumps, rainwater harvesting, fuel tanks, lab chemical storage</a:t>
            </a:r>
          </a:p>
          <a:p>
            <a:pPr>
              <a:spcAft>
                <a:spcPts val="1000"/>
              </a:spcAft>
            </a:pPr>
            <a:r>
              <a:rPr sz="1900">
                <a:solidFill>
                  <a:srgbClr val="222222"/>
                </a:solidFill>
              </a:rPr>
              <a:t>•  Stationary occupancy: desk, carrel, and seat detection where PIR goes blind</a:t>
            </a:r>
          </a:p>
          <a:p>
            <a:pPr>
              <a:spcAft>
                <a:spcPts val="1000"/>
              </a:spcAft>
            </a:pPr>
            <a:r>
              <a:rPr sz="1900">
                <a:solidFill>
                  <a:srgbClr val="222222"/>
                </a:solidFill>
              </a:rPr>
              <a:t>•  Waste management: bin fill level enables demand-driven collection rounds</a:t>
            </a:r>
          </a:p>
          <a:p>
            <a:pPr>
              <a:spcAft>
                <a:spcPts val="1000"/>
              </a:spcAft>
            </a:pPr>
            <a:r>
              <a:rPr sz="1900">
                <a:solidFill>
                  <a:srgbClr val="222222"/>
                </a:solidFill>
              </a:rPr>
              <a:t>•  Parking and vehicles: bay occupancy, height checks at gates</a:t>
            </a:r>
          </a:p>
          <a:p>
            <a:pPr>
              <a:spcAft>
                <a:spcPts val="1000"/>
              </a:spcAft>
            </a:pPr>
            <a:r>
              <a:rPr sz="1900">
                <a:solidFill>
                  <a:srgbClr val="222222"/>
                </a:solidFill>
              </a:rPr>
              <a:t>•  Queue measurement: distance to the last person gives queue length directly</a:t>
            </a:r>
          </a:p>
          <a:p>
            <a:pPr>
              <a:spcAft>
                <a:spcPts val="1000"/>
              </a:spcAft>
            </a:pPr>
            <a:r>
              <a:rPr sz="1900">
                <a:solidFill>
                  <a:srgbClr val="222222"/>
                </a:solidFill>
              </a:rPr>
              <a:t>•  Physics instrument: speed of sound, Torricelli tank-draining, projectile experiments</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09.6: Technical Card</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Measurand: distance, via ultrasonic time-of-flight at 40 kHz</a:t>
            </a:r>
          </a:p>
          <a:p>
            <a:pPr>
              <a:spcAft>
                <a:spcPts val="1000"/>
              </a:spcAft>
            </a:pPr>
            <a:r>
              <a:rPr sz="1900">
                <a:solidFill>
                  <a:srgbClr val="222222"/>
                </a:solidFill>
              </a:rPr>
              <a:t>•  Range: 20 cm to 4.5 m; blind zone below approximately 20 cm</a:t>
            </a:r>
          </a:p>
          <a:p>
            <a:pPr>
              <a:spcAft>
                <a:spcPts val="1000"/>
              </a:spcAft>
            </a:pPr>
            <a:r>
              <a:rPr sz="1900">
                <a:solidFill>
                  <a:srgbClr val="222222"/>
                </a:solidFill>
              </a:rPr>
              <a:t>•  Resolution approximately 3-5 mm; practical accuracy about ±1 cm (surface and temperature dependent)</a:t>
            </a:r>
          </a:p>
          <a:p>
            <a:pPr>
              <a:spcAft>
                <a:spcPts val="1000"/>
              </a:spcAft>
            </a:pPr>
            <a:r>
              <a:rPr sz="1900">
                <a:solidFill>
                  <a:srgbClr val="222222"/>
                </a:solidFill>
              </a:rPr>
              <a:t>•  Supply: 5 V from the SIM's boost converter; transducer IP67, electronics board separate</a:t>
            </a:r>
          </a:p>
          <a:p>
            <a:pPr>
              <a:spcAft>
                <a:spcPts val="1000"/>
              </a:spcAft>
            </a:pPr>
            <a:r>
              <a:rPr sz="1900">
                <a:solidFill>
                  <a:srgbClr val="222222"/>
                </a:solidFill>
              </a:rPr>
              <a:t>•  Output: trigger/echo pulse-width, not analog; SIM4 firmware uses GPIO pulse capture, not the ADC</a:t>
            </a:r>
          </a:p>
          <a:p>
            <a:pPr>
              <a:spcAft>
                <a:spcPts val="1000"/>
              </a:spcAft>
            </a:pPr>
            <a:r>
              <a:rPr sz="1900">
                <a:solidFill>
                  <a:srgbClr val="222222"/>
                </a:solidFill>
              </a:rPr>
              <a:t>•  Packaged sensor dimensions: [PLACEHOLDER]</a:t>
            </a:r>
          </a:p>
          <a:p>
            <a:pPr>
              <a:spcAft>
                <a:spcPts val="1000"/>
              </a:spcAft>
            </a:pPr>
            <a:r>
              <a:rPr sz="1900">
                <a:solidFill>
                  <a:srgbClr val="222222"/>
                </a:solidFill>
              </a:rPr>
              <a:t>•  Interface and connector details: [PLACEHOLDER: keyed harness part number]</a:t>
            </a:r>
          </a:p>
          <a:p>
            <a:pPr>
              <a:spcAft>
                <a:spcPts val="1000"/>
              </a:spcAft>
            </a:pPr>
            <a:r>
              <a:rPr sz="1900">
                <a:solidFill>
                  <a:srgbClr val="222222"/>
                </a:solidFill>
              </a:rPr>
              <a:t>•  SIM assignment: SIM4; measurement takes ~26 ms, logged every 5 s</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09.7: Climate Change Applications</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Water security: overhead tank monitoring, pump-off above 90%, pump-on below 20%, ends routine overflow waste</a:t>
            </a:r>
          </a:p>
          <a:p>
            <a:pPr>
              <a:spcAft>
                <a:spcPts val="1000"/>
              </a:spcAft>
            </a:pPr>
            <a:r>
              <a:rPr sz="1900">
                <a:solidFill>
                  <a:srgbClr val="222222"/>
                </a:solidFill>
              </a:rPr>
              <a:t>•  Leak detection: a slow level drop with the pump off is a leak, quantified in litres per hour</a:t>
            </a:r>
          </a:p>
          <a:p>
            <a:pPr>
              <a:spcAft>
                <a:spcPts val="1000"/>
              </a:spcAft>
            </a:pPr>
            <a:r>
              <a:rPr sz="1900">
                <a:solidFill>
                  <a:srgbClr val="222222"/>
                </a:solidFill>
              </a:rPr>
              <a:t>•  Adaptation: sump and basement level as flood early warning during intensifying rain events</a:t>
            </a:r>
          </a:p>
          <a:p>
            <a:pPr>
              <a:spcAft>
                <a:spcPts val="1000"/>
              </a:spcAft>
            </a:pPr>
            <a:r>
              <a:rPr sz="1900">
                <a:solidFill>
                  <a:srgbClr val="222222"/>
                </a:solidFill>
              </a:rPr>
              <a:t>•  Rainwater harvesting: measured collected volume per rain event proves system efficiency</a:t>
            </a:r>
          </a:p>
          <a:p>
            <a:pPr>
              <a:spcAft>
                <a:spcPts val="1000"/>
              </a:spcAft>
            </a:pPr>
            <a:r>
              <a:rPr sz="1900">
                <a:solidFill>
                  <a:srgbClr val="222222"/>
                </a:solidFill>
              </a:rPr>
              <a:t>•  Groundwater-linked: per-building consumption data makes water budgets enforceable</a:t>
            </a:r>
          </a:p>
          <a:p>
            <a:pPr>
              <a:spcAft>
                <a:spcPts val="1000"/>
              </a:spcAft>
            </a:pPr>
            <a:r>
              <a:rPr sz="1900">
                <a:solidFill>
                  <a:srgbClr val="222222"/>
                </a:solidFill>
              </a:rPr>
              <a:t>•  Fuel monitoring: generator diesel consumption per outage, a direct carbon line item</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09.8: Fusion Partners</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DS18B20: speed of sound depends on temperature, c ≈ 331.3 + 0.606 × T (m/s); agent applies the correction</a:t>
            </a:r>
          </a:p>
          <a:p>
            <a:pPr>
              <a:spcAft>
                <a:spcPts val="1000"/>
              </a:spcAft>
            </a:pPr>
            <a:r>
              <a:rPr sz="1900">
                <a:solidFill>
                  <a:srgbClr val="222222"/>
                </a:solidFill>
              </a:rPr>
              <a:t>•  Uncompensated error: approximately 1.7% across a 10 °C swing, centimetres over metres</a:t>
            </a:r>
          </a:p>
          <a:p>
            <a:pPr>
              <a:spcAft>
                <a:spcPts val="1000"/>
              </a:spcAft>
            </a:pPr>
            <a:r>
              <a:rPr sz="1900">
                <a:solidFill>
                  <a:srgbClr val="222222"/>
                </a:solidFill>
              </a:rPr>
              <a:t>•  Water level trace PCB: independent wet/dry confirmation; two signals must agree before a flood alarm</a:t>
            </a:r>
          </a:p>
          <a:p>
            <a:pPr>
              <a:spcAft>
                <a:spcPts val="1000"/>
              </a:spcAft>
            </a:pPr>
            <a:r>
              <a:rPr sz="1900">
                <a:solidFill>
                  <a:srgbClr val="222222"/>
                </a:solidFill>
              </a:rPr>
              <a:t>•  SEN0193 soil moisture: tank outflow vs soil response closes the irrigation loop</a:t>
            </a:r>
          </a:p>
          <a:p>
            <a:pPr>
              <a:spcAft>
                <a:spcPts val="1000"/>
              </a:spcAft>
            </a:pPr>
            <a:r>
              <a:rPr sz="1900">
                <a:solidFill>
                  <a:srgbClr val="222222"/>
                </a:solidFill>
              </a:rPr>
              <a:t>•  PIR: ultrasonic confirms stationary presence exactly where PIR is blind</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09.9: Capstone C6: Where Does the Campus Water Actually Go?</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Question: can we account for every tank-litre, and where is it being lost?</a:t>
            </a:r>
          </a:p>
          <a:p>
            <a:pPr>
              <a:spcAft>
                <a:spcPts val="1000"/>
              </a:spcAft>
            </a:pPr>
            <a:r>
              <a:rPr sz="1900">
                <a:solidFill>
                  <a:srgbClr val="222222"/>
                </a:solidFill>
              </a:rPr>
              <a:t>•  Sensors: JSN-SR04T (tank levels), water level trace (leak points), SEN0193 (irrigation soil response), 4-20 mA industrial transmitters (line pressure)</a:t>
            </a:r>
          </a:p>
          <a:p>
            <a:pPr>
              <a:spcAft>
                <a:spcPts val="1000"/>
              </a:spcAft>
            </a:pPr>
            <a:r>
              <a:rPr sz="1900">
                <a:solidFill>
                  <a:srgbClr val="222222"/>
                </a:solidFill>
              </a:rPr>
              <a:t>•  Contradiction to resolve: consumption inferred from tank drops exceeds what taps and irrigation can explain</a:t>
            </a:r>
          </a:p>
          <a:p>
            <a:pPr>
              <a:spcAft>
                <a:spcPts val="1000"/>
              </a:spcAft>
            </a:pPr>
            <a:r>
              <a:rPr sz="1900">
                <a:solidFill>
                  <a:srgbClr val="222222"/>
                </a:solidFill>
              </a:rPr>
              <a:t>•  Decision: a water balance for one building, with located losses and a costed fix list</a:t>
            </a:r>
          </a:p>
          <a:p>
            <a:pPr>
              <a:spcAft>
                <a:spcPts val="1000"/>
              </a:spcAft>
            </a:pPr>
            <a:r>
              <a:rPr sz="1900">
                <a:solidFill>
                  <a:srgbClr val="222222"/>
                </a:solidFill>
              </a:rPr>
              <a:t>•  Agents: scheduled watchdog queries level trends nightly, annotates anomalies, drafts the weekly water balance</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2286000"/>
            <a:ext cx="10698480" cy="1463040"/>
          </a:xfrm>
          <a:prstGeom prst="rect">
            <a:avLst/>
          </a:prstGeom>
          <a:noFill/>
        </p:spPr>
        <p:txBody>
          <a:bodyPr wrap="square">
            <a:spAutoFit/>
          </a:bodyPr>
          <a:lstStyle/>
          <a:p>
            <a:r>
              <a:rPr sz="3600" b="1">
                <a:solidFill>
                  <a:srgbClr val="1B5E8A"/>
                </a:solidFill>
              </a:rPr>
              <a:t>Sensor 10: Reed Switch - Door/Window Contact State (SIM3, GPIO)</a:t>
            </a:r>
          </a:p>
        </p:txBody>
      </p:sp>
      <p:sp>
        <p:nvSpPr>
          <p:cNvPr id="3" name="TextBox 2"/>
          <p:cNvSpPr txBox="1"/>
          <p:nvPr/>
        </p:nvSpPr>
        <p:spPr>
          <a:xfrm>
            <a:off x="731520" y="3840480"/>
            <a:ext cx="10698480" cy="914400"/>
          </a:xfrm>
          <a:prstGeom prst="rect">
            <a:avLst/>
          </a:prstGeom>
          <a:noFill/>
        </p:spPr>
        <p:txBody>
          <a:bodyPr wrap="square">
            <a:spAutoFit/>
          </a:bodyPr>
          <a:lstStyle/>
          <a:p>
            <a:r>
              <a:rPr sz="1800">
                <a:solidFill>
                  <a:srgbClr val="222222"/>
                </a:solidFill>
              </a:rPr>
              <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10.1: AI-First: The Old Way and the New Way</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Old way: the warm fridge is discovered at breakfast, cause unknown</a:t>
            </a:r>
          </a:p>
          <a:p>
            <a:pPr>
              <a:spcAft>
                <a:spcPts val="1000"/>
              </a:spcAft>
            </a:pPr>
            <a:r>
              <a:rPr sz="1900">
                <a:solidFill>
                  <a:srgbClr val="222222"/>
                </a:solidFill>
              </a:rPr>
              <a:t>•  New way: an AI watches the door and the temperature together, all night</a:t>
            </a:r>
          </a:p>
          <a:p>
            <a:pPr>
              <a:spcAft>
                <a:spcPts val="1000"/>
              </a:spcAft>
            </a:pPr>
            <a:r>
              <a:rPr sz="1900">
                <a:solidFill>
                  <a:srgbClr val="222222"/>
                </a:solidFill>
              </a:rPr>
              <a:t>•  It does not just report a problem; it explains which problem</a:t>
            </a:r>
          </a:p>
          <a:p>
            <a:pPr>
              <a:spcAft>
                <a:spcPts val="1000"/>
              </a:spcAft>
            </a:pPr>
            <a:r>
              <a:rPr sz="1900">
                <a:solidFill>
                  <a:srgbClr val="222222"/>
                </a:solidFill>
              </a:rPr>
              <a:t>•  Door open and warming: carelessness. Door closed and warming: failure</a:t>
            </a:r>
          </a:p>
          <a:p>
            <a:pPr>
              <a:spcAft>
                <a:spcPts val="1000"/>
              </a:spcAft>
            </a:pPr>
            <a:r>
              <a:rPr sz="1900">
                <a:solidFill>
                  <a:srgbClr val="222222"/>
                </a:solidFill>
              </a:rPr>
              <a:t>•  The right explanation decides whether the food is saved or thrown away</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10.2: AI-First: What the AI Must Know About This Sensor</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The sensor's ID card says: two states, open and closed, with exact times</a:t>
            </a:r>
          </a:p>
          <a:p>
            <a:pPr>
              <a:spcAft>
                <a:spcPts val="1000"/>
              </a:spcAft>
            </a:pPr>
            <a:r>
              <a:rPr sz="1900">
                <a:solidFill>
                  <a:srgbClr val="222222"/>
                </a:solidFill>
              </a:rPr>
              <a:t>•  This sensor does not stream numbers; it speaks only when something changes</a:t>
            </a:r>
          </a:p>
          <a:p>
            <a:pPr>
              <a:spcAft>
                <a:spcPts val="1000"/>
              </a:spcAft>
            </a:pPr>
            <a:r>
              <a:rPr sz="1900">
                <a:solidFill>
                  <a:srgbClr val="222222"/>
                </a:solidFill>
              </a:rPr>
              <a:t>•  Its one known lie: a fallen magnet reads "open" forever</a:t>
            </a:r>
          </a:p>
          <a:p>
            <a:pPr>
              <a:spcAft>
                <a:spcPts val="1000"/>
              </a:spcAft>
            </a:pPr>
            <a:r>
              <a:rPr sz="1900">
                <a:solidFill>
                  <a:srgbClr val="222222"/>
                </a:solidFill>
              </a:rPr>
              <a:t>•  So silence has two meanings: nothing happened, or the sensor cannot speak</a:t>
            </a:r>
          </a:p>
          <a:p>
            <a:pPr>
              <a:spcAft>
                <a:spcPts val="1000"/>
              </a:spcAft>
            </a:pPr>
            <a:r>
              <a:rPr sz="1900">
                <a:solidFill>
                  <a:srgbClr val="222222"/>
                </a:solidFill>
              </a:rPr>
              <a:t>•  The AI checks the sensor's heartbeat, so silence can be trusted</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10.3: The Agentic Pattern: Events, Not Samples</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Pattern in one line: some sensors speak only when something happens</a:t>
            </a:r>
          </a:p>
          <a:p>
            <a:pPr>
              <a:spcAft>
                <a:spcPts val="1000"/>
              </a:spcAft>
            </a:pPr>
            <a:r>
              <a:rPr sz="1900">
                <a:solidFill>
                  <a:srgbClr val="222222"/>
                </a:solidFill>
              </a:rPr>
              <a:t>•  This one is a doorbell, not a diary</a:t>
            </a:r>
          </a:p>
          <a:p>
            <a:pPr>
              <a:spcAft>
                <a:spcPts val="1000"/>
              </a:spcAft>
            </a:pPr>
            <a:r>
              <a:rPr sz="1900">
                <a:solidFill>
                  <a:srgbClr val="222222"/>
                </a:solidFill>
              </a:rPr>
              <a:t>•  One ring, "door opened at 2 am", starts an AI investigation</a:t>
            </a:r>
          </a:p>
          <a:p>
            <a:pPr>
              <a:spcAft>
                <a:spcPts val="1000"/>
              </a:spcAft>
            </a:pPr>
            <a:r>
              <a:rPr sz="1900">
                <a:solidFill>
                  <a:srgbClr val="222222"/>
                </a:solidFill>
              </a:rPr>
              <a:t>•  The AI checks temperature, checks motion, and writes down the story</a:t>
            </a:r>
          </a:p>
          <a:p>
            <a:pPr>
              <a:spcAft>
                <a:spcPts val="1000"/>
              </a:spcAft>
            </a:pPr>
            <a:r>
              <a:rPr sz="1900">
                <a:solidFill>
                  <a:srgbClr val="222222"/>
                </a:solidFill>
              </a:rPr>
              <a:t>•  You design the thinking; the AI does the watching</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10.4: What It Is</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Two ferromagnetic contacts sealed in a glass tube; a nearby magnet pulls them together</a:t>
            </a:r>
          </a:p>
          <a:p>
            <a:pPr>
              <a:spcAft>
                <a:spcPts val="1000"/>
              </a:spcAft>
            </a:pPr>
            <a:r>
              <a:rPr sz="1900">
                <a:solidFill>
                  <a:srgbClr val="222222"/>
                </a:solidFill>
              </a:rPr>
              <a:t>•  Two-part install: magnet on the moving part (door), switch on the frame</a:t>
            </a:r>
          </a:p>
          <a:p>
            <a:pPr>
              <a:spcAft>
                <a:spcPts val="1000"/>
              </a:spcAft>
            </a:pPr>
            <a:r>
              <a:rPr sz="1900">
                <a:solidFill>
                  <a:srgbClr val="222222"/>
                </a:solidFill>
              </a:rPr>
              <a:t>•  Output: a single bit, circuit closed or open; no power needed to sense</a:t>
            </a:r>
          </a:p>
          <a:p>
            <a:pPr>
              <a:spcAft>
                <a:spcPts val="1000"/>
              </a:spcAft>
            </a:pPr>
            <a:r>
              <a:rPr sz="1900">
                <a:solidFill>
                  <a:srgbClr val="222222"/>
                </a:solidFill>
              </a:rPr>
              <a:t>•  The simplest sensor in the kit, and the only one that measures state, not a quantity</a:t>
            </a:r>
          </a:p>
          <a:p>
            <a:pPr>
              <a:spcAft>
                <a:spcPts val="1000"/>
              </a:spcAft>
            </a:pPr>
            <a:r>
              <a:rPr sz="1900">
                <a:solidFill>
                  <a:srgbClr val="222222"/>
                </a:solidFill>
              </a:rPr>
              <a:t>•  Hermetically sealed: no wear from dust, humidity, or corrosion; lifetimes in the millions of operations</a:t>
            </a:r>
          </a:p>
          <a:p>
            <a:pPr>
              <a:spcAft>
                <a:spcPts val="1000"/>
              </a:spcAft>
            </a:pPr>
            <a:r>
              <a:rPr sz="1900">
                <a:solidFill>
                  <a:srgbClr val="222222"/>
                </a:solidFill>
              </a:rPr>
              <a:t>•  Invented 1936 at Bell Labs; still the standard door sensor in every alarm system</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10.5: What It Does in Practice</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Cold chain: fridge and freezer door events, the missing context for every temperature alarm</a:t>
            </a:r>
          </a:p>
          <a:p>
            <a:pPr>
              <a:spcAft>
                <a:spcPts val="1000"/>
              </a:spcAft>
            </a:pPr>
            <a:r>
              <a:rPr sz="1900">
                <a:solidFill>
                  <a:srgbClr val="222222"/>
                </a:solidFill>
              </a:rPr>
              <a:t>•  Disambiguation: temperature rising + door open = close the door; temperature rising + door closed = compressor fault, move the food</a:t>
            </a:r>
          </a:p>
          <a:p>
            <a:pPr>
              <a:spcAft>
                <a:spcPts val="1000"/>
              </a:spcAft>
            </a:pPr>
            <a:r>
              <a:rPr sz="1900">
                <a:solidFill>
                  <a:srgbClr val="222222"/>
                </a:solidFill>
              </a:rPr>
              <a:t>•  HACCP food safety: above 5 °C for over 4 hours means discard; the event log proves it either way</a:t>
            </a:r>
          </a:p>
          <a:p>
            <a:pPr>
              <a:spcAft>
                <a:spcPts val="1000"/>
              </a:spcAft>
            </a:pPr>
            <a:r>
              <a:rPr sz="1900">
                <a:solidFill>
                  <a:srgbClr val="222222"/>
                </a:solidFill>
              </a:rPr>
              <a:t>•  Security: after-hours access logs, intrusion sequences, cabinet and rack tamper</a:t>
            </a:r>
          </a:p>
          <a:p>
            <a:pPr>
              <a:spcAft>
                <a:spcPts val="1000"/>
              </a:spcAft>
            </a:pPr>
            <a:r>
              <a:rPr sz="1900">
                <a:solidFill>
                  <a:srgbClr val="222222"/>
                </a:solidFill>
              </a:rPr>
              <a:t>•  Lab safety: fume cupboard sash position, autoclave latch, chemical store access</a:t>
            </a:r>
          </a:p>
          <a:p>
            <a:pPr>
              <a:spcAft>
                <a:spcPts val="1000"/>
              </a:spcAft>
            </a:pPr>
            <a:r>
              <a:rPr sz="1900">
                <a:solidFill>
                  <a:srgbClr val="222222"/>
                </a:solidFill>
              </a:rPr>
              <a:t>•  Building state: window-open detection for HVAC logic</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10.6: Technical Card</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Measurand: binary contact state (magnet present/absent), i.e. door or window open/closed</a:t>
            </a:r>
          </a:p>
          <a:p>
            <a:pPr>
              <a:spcAft>
                <a:spcPts val="1000"/>
              </a:spcAft>
            </a:pPr>
            <a:r>
              <a:rPr sz="1900">
                <a:solidFill>
                  <a:srgbClr val="222222"/>
                </a:solidFill>
              </a:rPr>
              <a:t>•  Actuation distance: approximately 10-20 mm gap, magnet dependent; hysteresis prevents chatter</a:t>
            </a:r>
          </a:p>
          <a:p>
            <a:pPr>
              <a:spcAft>
                <a:spcPts val="1000"/>
              </a:spcAft>
            </a:pPr>
            <a:r>
              <a:rPr sz="1900">
                <a:solidFill>
                  <a:srgbClr val="222222"/>
                </a:solidFill>
              </a:rPr>
              <a:t>•  Accuracy: state detection is essentially error-free; event timing resolved to milliseconds by SIM3 interrupts</a:t>
            </a:r>
          </a:p>
          <a:p>
            <a:pPr>
              <a:spcAft>
                <a:spcPts val="1000"/>
              </a:spcAft>
            </a:pPr>
            <a:r>
              <a:rPr sz="1900">
                <a:solidFill>
                  <a:srgbClr val="222222"/>
                </a:solidFill>
              </a:rPr>
              <a:t>•  Raw device: glass-encapsulated reed contact in plastic housing, paired magnet block</a:t>
            </a:r>
          </a:p>
          <a:p>
            <a:pPr>
              <a:spcAft>
                <a:spcPts val="1000"/>
              </a:spcAft>
            </a:pPr>
            <a:r>
              <a:rPr sz="1900">
                <a:solidFill>
                  <a:srgbClr val="222222"/>
                </a:solidFill>
              </a:rPr>
              <a:t>•  Output: dry contact, wired as GPIO with internal pull-up; closed = low, open = high</a:t>
            </a:r>
          </a:p>
          <a:p>
            <a:pPr>
              <a:spcAft>
                <a:spcPts val="1000"/>
              </a:spcAft>
            </a:pPr>
            <a:r>
              <a:rPr sz="1900">
                <a:solidFill>
                  <a:srgbClr val="222222"/>
                </a:solidFill>
              </a:rPr>
              <a:t>•  Packaged sensor dimensions: [PLACEHOLDER]</a:t>
            </a:r>
          </a:p>
          <a:p>
            <a:pPr>
              <a:spcAft>
                <a:spcPts val="1000"/>
              </a:spcAft>
            </a:pPr>
            <a:r>
              <a:rPr sz="1900">
                <a:solidFill>
                  <a:srgbClr val="222222"/>
                </a:solidFill>
              </a:rPr>
              <a:t>•  Interface and connector details: [PLACEHOLDER: keyed harness part number]</a:t>
            </a:r>
          </a:p>
          <a:p>
            <a:pPr>
              <a:spcAft>
                <a:spcPts val="1000"/>
              </a:spcAft>
            </a:pPr>
            <a:r>
              <a:rPr sz="1900">
                <a:solidFill>
                  <a:srgbClr val="222222"/>
                </a:solidFill>
              </a:rPr>
              <a:t>•  SIM assignment: SIM3 (GPIO), same debounced edge-capture path as the PIR</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10.7: Climate Change Applications</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The costliest common waste: air conditioning fighting an open window, invisible to every other sensor</a:t>
            </a:r>
          </a:p>
          <a:p>
            <a:pPr>
              <a:spcAft>
                <a:spcPts val="1000"/>
              </a:spcAft>
            </a:pPr>
            <a:r>
              <a:rPr sz="1900">
                <a:solidFill>
                  <a:srgbClr val="222222"/>
                </a:solidFill>
              </a:rPr>
              <a:t>•  Envelope-open detection marks CO2 and temperature data as invalid for control, preventing wrong HVAC decisions</a:t>
            </a:r>
          </a:p>
          <a:p>
            <a:pPr>
              <a:spcAft>
                <a:spcPts val="1000"/>
              </a:spcAft>
            </a:pPr>
            <a:r>
              <a:rPr sz="1900">
                <a:solidFill>
                  <a:srgbClr val="222222"/>
                </a:solidFill>
              </a:rPr>
              <a:t>•  Natural ventilation logic: mild outdoor air + window open = mechanical ventilation off, free cooling</a:t>
            </a:r>
          </a:p>
          <a:p>
            <a:pPr>
              <a:spcAft>
                <a:spcPts val="1000"/>
              </a:spcAft>
            </a:pPr>
            <a:r>
              <a:rPr sz="1900">
                <a:solidFill>
                  <a:srgbClr val="222222"/>
                </a:solidFill>
              </a:rPr>
              <a:t>•  Cold chain efficiency: door-open minutes are compressor kilowatt-hours; behaviour change becomes measurable</a:t>
            </a:r>
          </a:p>
          <a:p>
            <a:pPr>
              <a:spcAft>
                <a:spcPts val="1000"/>
              </a:spcAft>
            </a:pPr>
            <a:r>
              <a:rPr sz="1900">
                <a:solidFill>
                  <a:srgbClr val="222222"/>
                </a:solidFill>
              </a:rPr>
              <a:t>•  Root-cause attribution keeps the whole sensing model honest, and honest models are what save energy</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10.8: Fusion Partners</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DS18B20: door state + temperature = cold chain root-cause diagnosis (the four-quadrant table)</a:t>
            </a:r>
          </a:p>
          <a:p>
            <a:pPr>
              <a:spcAft>
                <a:spcPts val="1000"/>
              </a:spcAft>
            </a:pPr>
            <a:r>
              <a:rPr sz="1900">
                <a:solidFill>
                  <a:srgbClr val="222222"/>
                </a:solidFill>
              </a:rPr>
              <a:t>•  SCD41: window state marks CO2 occupancy inference valid or invalid; kills the ventilation confound</a:t>
            </a:r>
          </a:p>
          <a:p>
            <a:pPr>
              <a:spcAft>
                <a:spcPts val="1000"/>
              </a:spcAft>
            </a:pPr>
            <a:r>
              <a:rPr sz="1900">
                <a:solidFill>
                  <a:srgbClr val="222222"/>
                </a:solidFill>
              </a:rPr>
              <a:t>•  SCT-013: window open + compressor current flowing = simultaneous heat-and-cool waste, logged and costed</a:t>
            </a:r>
          </a:p>
          <a:p>
            <a:pPr>
              <a:spcAft>
                <a:spcPts val="1000"/>
              </a:spcAft>
            </a:pPr>
            <a:r>
              <a:rPr sz="1900">
                <a:solidFill>
                  <a:srgbClr val="222222"/>
                </a:solidFill>
              </a:rPr>
              <a:t>•  PIR: door_open then PIR zone 1 then PIR zone 2 = three-stage intrusion narrative; door with no PIR = door ajar</a:t>
            </a:r>
          </a:p>
          <a:p>
            <a:pPr>
              <a:spcAft>
                <a:spcPts val="1000"/>
              </a:spcAft>
            </a:pPr>
            <a:r>
              <a:rPr sz="1900">
                <a:solidFill>
                  <a:srgbClr val="222222"/>
                </a:solidFill>
              </a:rPr>
              <a:t>•  Agent role: event-sequence reasoning over timestamped bits, via `query_timeseries` and `annotate`</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10.9: Capstone C5: Is the Restricted Zone Secure Against More Than One Threat?</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Question: can one room defend itself against intrusion, tamper, flood, and equipment failure at once?</a:t>
            </a:r>
          </a:p>
          <a:p>
            <a:pPr>
              <a:spcAft>
                <a:spcPts val="1000"/>
              </a:spcAft>
            </a:pPr>
            <a:r>
              <a:rPr sz="1900">
                <a:solidFill>
                  <a:srgbClr val="222222"/>
                </a:solidFill>
              </a:rPr>
              <a:t>•  Sensors: reed (door), PIR (motion zones), VEML7700 (enclosure tamper), SCT-013 (equipment load), water level trace (flood)</a:t>
            </a:r>
          </a:p>
          <a:p>
            <a:pPr>
              <a:spcAft>
                <a:spcPts val="1000"/>
              </a:spcAft>
            </a:pPr>
            <a:r>
              <a:rPr sz="1900">
                <a:solidFill>
                  <a:srgbClr val="222222"/>
                </a:solidFill>
              </a:rPr>
              <a:t>•  Contradiction to resolve: single-sensor alerts are noisy; demanding multi-sensor agreement can miss real, single-channel events</a:t>
            </a:r>
          </a:p>
          <a:p>
            <a:pPr>
              <a:spcAft>
                <a:spcPts val="1000"/>
              </a:spcAft>
            </a:pPr>
            <a:r>
              <a:rPr sz="1900">
                <a:solidFill>
                  <a:srgbClr val="222222"/>
                </a:solidFill>
              </a:rPr>
              <a:t>•  Decision: a tiered alert policy, which sequences page a human at 2 a.m. and which wait for morning</a:t>
            </a:r>
          </a:p>
          <a:p>
            <a:pPr>
              <a:spcAft>
                <a:spcPts val="1000"/>
              </a:spcAft>
            </a:pPr>
            <a:r>
              <a:rPr sz="1900">
                <a:solidFill>
                  <a:srgbClr val="222222"/>
                </a:solidFill>
              </a:rPr>
              <a:t>•  Agents: watchdog reconstructs event narratives from timestamps and drafts the incident report</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2286000"/>
            <a:ext cx="10698480" cy="1463040"/>
          </a:xfrm>
          <a:prstGeom prst="rect">
            <a:avLst/>
          </a:prstGeom>
          <a:noFill/>
        </p:spPr>
        <p:txBody>
          <a:bodyPr wrap="square">
            <a:spAutoFit/>
          </a:bodyPr>
          <a:lstStyle/>
          <a:p>
            <a:r>
              <a:rPr sz="3600" b="1">
                <a:solidFill>
                  <a:srgbClr val="1B5E8A"/>
                </a:solidFill>
              </a:rPr>
              <a:t>Sensor 11: SCT-013 Split-Core Current Transformer - AC Current / Power (SIM4, Analog)</a:t>
            </a:r>
          </a:p>
        </p:txBody>
      </p:sp>
      <p:sp>
        <p:nvSpPr>
          <p:cNvPr id="3" name="TextBox 2"/>
          <p:cNvSpPr txBox="1"/>
          <p:nvPr/>
        </p:nvSpPr>
        <p:spPr>
          <a:xfrm>
            <a:off x="731520" y="3840480"/>
            <a:ext cx="10698480" cy="914400"/>
          </a:xfrm>
          <a:prstGeom prst="rect">
            <a:avLst/>
          </a:prstGeom>
          <a:noFill/>
        </p:spPr>
        <p:txBody>
          <a:bodyPr wrap="square">
            <a:spAutoFit/>
          </a:bodyPr>
          <a:lstStyle/>
          <a:p>
            <a:r>
              <a:rPr sz="1800">
                <a:solidFill>
                  <a:srgbClr val="222222"/>
                </a:solidFill>
              </a:rPr>
              <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11.1: AI-First: The Old Way and the New Way</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Old way: the electricity bill arrives weeks after the waste happened</a:t>
            </a:r>
          </a:p>
          <a:p>
            <a:pPr>
              <a:spcAft>
                <a:spcPts val="1000"/>
              </a:spcAft>
            </a:pPr>
            <a:r>
              <a:rPr sz="1900">
                <a:solidFill>
                  <a:srgbClr val="222222"/>
                </a:solidFill>
              </a:rPr>
              <a:t>•  New way: an AI watches the power live, minute by minute</a:t>
            </a:r>
          </a:p>
          <a:p>
            <a:pPr>
              <a:spcAft>
                <a:spcPts val="1000"/>
              </a:spcAft>
            </a:pPr>
            <a:r>
              <a:rPr sz="1900">
                <a:solidFill>
                  <a:srgbClr val="222222"/>
                </a:solidFill>
              </a:rPr>
              <a:t>•  The AC cooling an empty classroom shows up as it happens</a:t>
            </a:r>
          </a:p>
          <a:p>
            <a:pPr>
              <a:spcAft>
                <a:spcPts val="1000"/>
              </a:spcAft>
            </a:pPr>
            <a:r>
              <a:rPr sz="1900">
                <a:solidFill>
                  <a:srgbClr val="222222"/>
                </a:solidFill>
              </a:rPr>
              <a:t>•  The AC left running all weekend no longer hides in a total</a:t>
            </a:r>
          </a:p>
          <a:p>
            <a:pPr>
              <a:spcAft>
                <a:spcPts val="1000"/>
              </a:spcAft>
            </a:pPr>
            <a:r>
              <a:rPr sz="1900">
                <a:solidFill>
                  <a:srgbClr val="222222"/>
                </a:solidFill>
              </a:rPr>
              <a:t>•  You set the goal; the AI does the constant accounting</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11.2: AI-First: What the AI Must Know About This Sensor</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The clamp measures the real current in a wire, without touching metal</a:t>
            </a:r>
          </a:p>
          <a:p>
            <a:pPr>
              <a:spcAft>
                <a:spcPts val="1000"/>
              </a:spcAft>
            </a:pPr>
            <a:r>
              <a:rPr sz="1900">
                <a:solidFill>
                  <a:srgbClr val="222222"/>
                </a:solidFill>
              </a:rPr>
              <a:t>•  Most sensors help the AI guess; this one proves things</a:t>
            </a:r>
          </a:p>
          <a:p>
            <a:pPr>
              <a:spcAft>
                <a:spcPts val="1000"/>
              </a:spcAft>
            </a:pPr>
            <a:r>
              <a:rPr sz="1900">
                <a:solidFill>
                  <a:srgbClr val="222222"/>
                </a:solidFill>
              </a:rPr>
              <a:t>•  Its one weakness: a half-closed clamp reads low while looking believable</a:t>
            </a:r>
          </a:p>
          <a:p>
            <a:pPr>
              <a:spcAft>
                <a:spcPts val="1000"/>
              </a:spcAft>
            </a:pPr>
            <a:r>
              <a:rPr sz="1900">
                <a:solidFill>
                  <a:srgbClr val="222222"/>
                </a:solidFill>
              </a:rPr>
              <a:t>•  So installation ends with a test: a kettle of known power, measured</a:t>
            </a:r>
          </a:p>
          <a:p>
            <a:pPr>
              <a:spcAft>
                <a:spcPts val="1000"/>
              </a:spcAft>
            </a:pPr>
            <a:r>
              <a:rPr sz="1900">
                <a:solidFill>
                  <a:srgbClr val="222222"/>
                </a:solidFill>
              </a:rPr>
              <a:t>•  The test result is written on the sensor's ID card the AI reads</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11.3: The Agentic Pattern: The Agent Audits Itself</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Pattern in one line: advice must come back with a receipt</a:t>
            </a:r>
          </a:p>
          <a:p>
            <a:pPr>
              <a:spcAft>
                <a:spcPts val="1000"/>
              </a:spcAft>
            </a:pPr>
            <a:r>
              <a:rPr sz="1900">
                <a:solidFill>
                  <a:srgbClr val="222222"/>
                </a:solidFill>
              </a:rPr>
              <a:t>•  Like a shop showing the discount on the bill, not just the advert</a:t>
            </a:r>
          </a:p>
          <a:p>
            <a:pPr>
              <a:spcAft>
                <a:spcPts val="1000"/>
              </a:spcAft>
            </a:pPr>
            <a:r>
              <a:rPr sz="1900">
                <a:solidFill>
                  <a:srgbClr val="222222"/>
                </a:solidFill>
              </a:rPr>
              <a:t>•  The AI predicts a saving; the clamp measures what really happened</a:t>
            </a:r>
          </a:p>
          <a:p>
            <a:pPr>
              <a:spcAft>
                <a:spcPts val="1000"/>
              </a:spcAft>
            </a:pPr>
            <a:r>
              <a:rPr sz="1900">
                <a:solidFill>
                  <a:srgbClr val="222222"/>
                </a:solidFill>
              </a:rPr>
              <a:t>•  If the numbers disagree, the AI investigates and revises its advice</a:t>
            </a:r>
          </a:p>
          <a:p>
            <a:pPr>
              <a:spcAft>
                <a:spcPts val="1000"/>
              </a:spcAft>
            </a:pPr>
            <a:r>
              <a:rPr sz="1900">
                <a:solidFill>
                  <a:srgbClr val="222222"/>
                </a:solidFill>
              </a:rPr>
              <a:t>•  You design the thinking; the AI does the watching</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11.4: What It Is</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A clamp that measures electric current through a wire without touching any conductor</a:t>
            </a:r>
          </a:p>
          <a:p>
            <a:pPr>
              <a:spcAft>
                <a:spcPts val="1000"/>
              </a:spcAft>
            </a:pPr>
            <a:r>
              <a:rPr sz="1900">
                <a:solidFill>
                  <a:srgbClr val="222222"/>
                </a:solidFill>
              </a:rPr>
              <a:t>•  Principle: alternating current creates an alternating magnetic field; a ferrite ring around the wire harvests it</a:t>
            </a:r>
          </a:p>
          <a:p>
            <a:pPr>
              <a:spcAft>
                <a:spcPts val="1000"/>
              </a:spcAft>
            </a:pPr>
            <a:r>
              <a:rPr sz="1900">
                <a:solidFill>
                  <a:srgbClr val="222222"/>
                </a:solidFill>
              </a:rPr>
              <a:t>•  Split-core: the ring hinges open, clips around one insulated wire, snaps shut; 60-second install</a:t>
            </a:r>
          </a:p>
          <a:p>
            <a:pPr>
              <a:spcAft>
                <a:spcPts val="1000"/>
              </a:spcAft>
            </a:pPr>
            <a:r>
              <a:rPr sz="1900">
                <a:solidFill>
                  <a:srgbClr val="222222"/>
                </a:solidFill>
              </a:rPr>
              <a:t>•  Secondary winding scales thousands of milliamps down to a small measurable signal</a:t>
            </a:r>
          </a:p>
          <a:p>
            <a:pPr>
              <a:spcAft>
                <a:spcPts val="1000"/>
              </a:spcAft>
            </a:pPr>
            <a:r>
              <a:rPr sz="1900">
                <a:solidFill>
                  <a:srgbClr val="222222"/>
                </a:solidFill>
              </a:rPr>
              <a:t>•  SCT-013-030 variant: 30 A primary becomes 1 V output, burden resistor built in</a:t>
            </a:r>
          </a:p>
          <a:p>
            <a:pPr>
              <a:spcAft>
                <a:spcPts val="1000"/>
              </a:spcAft>
            </a:pPr>
            <a:r>
              <a:rPr sz="1900">
                <a:solidFill>
                  <a:srgbClr val="222222"/>
                </a:solidFill>
              </a:rPr>
              <a:t>•  Non-invasive and safe: no circuit is broken, no live part is exposed</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11.5: What It Does in Practice</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Energy audits: appliance-level and circuit-level kWh, the auditor's first instrument</a:t>
            </a:r>
          </a:p>
          <a:p>
            <a:pPr>
              <a:spcAft>
                <a:spcPts val="1000"/>
              </a:spcAft>
            </a:pPr>
            <a:r>
              <a:rPr sz="1900">
                <a:solidFill>
                  <a:srgbClr val="222222"/>
                </a:solidFill>
              </a:rPr>
              <a:t>•  Machine state: compressor draws 8-20 A running, under 0.5 A idle; on/off is unambiguous</a:t>
            </a:r>
          </a:p>
          <a:p>
            <a:pPr>
              <a:spcAft>
                <a:spcPts val="1000"/>
              </a:spcAft>
            </a:pPr>
            <a:r>
              <a:rPr sz="1900">
                <a:solidFill>
                  <a:srgbClr val="222222"/>
                </a:solidFill>
              </a:rPr>
              <a:t>•  Predictive maintenance: rising current at constant load flags bearing wear; short-cycling flags refrigerant loss</a:t>
            </a:r>
          </a:p>
          <a:p>
            <a:pPr>
              <a:spcAft>
                <a:spcPts val="1000"/>
              </a:spcAft>
            </a:pPr>
            <a:r>
              <a:rPr sz="1900">
                <a:solidFill>
                  <a:srgbClr val="222222"/>
                </a:solidFill>
              </a:rPr>
              <a:t>•  Safety: sustained current near breaker rating warns of overload before trip or fire</a:t>
            </a:r>
          </a:p>
          <a:p>
            <a:pPr>
              <a:spcAft>
                <a:spcPts val="1000"/>
              </a:spcAft>
            </a:pPr>
            <a:r>
              <a:rPr sz="1900">
                <a:solidFill>
                  <a:srgbClr val="222222"/>
                </a:solidFill>
              </a:rPr>
              <a:t>•  Occupancy proxy: a computer lab full of powered PCs betrays itself electrically</a:t>
            </a:r>
          </a:p>
          <a:p>
            <a:pPr>
              <a:spcAft>
                <a:spcPts val="1000"/>
              </a:spcAft>
            </a:pPr>
            <a:r>
              <a:rPr sz="1900">
                <a:solidFill>
                  <a:srgbClr val="222222"/>
                </a:solidFill>
              </a:rPr>
              <a:t>•  Grid and renewables: solar generation logging (AC side), EV charge sessions, phase balance</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11.6: Technical Card</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Measurand: AC RMS current; apparent power S = V × I at a nominal 230 V; energy by integration</a:t>
            </a:r>
          </a:p>
          <a:p>
            <a:pPr>
              <a:spcAft>
                <a:spcPts val="1000"/>
              </a:spcAft>
            </a:pPr>
            <a:r>
              <a:rPr sz="1900">
                <a:solidFill>
                  <a:srgbClr val="222222"/>
                </a:solidFill>
              </a:rPr>
              <a:t>•  Variant: SCT-013-030, 0-30 A, output 0-1 V, 33.3 mV/A, internal burden resistor</a:t>
            </a:r>
          </a:p>
          <a:p>
            <a:pPr>
              <a:spcAft>
                <a:spcPts val="1000"/>
              </a:spcAft>
            </a:pPr>
            <a:r>
              <a:rPr sz="1900">
                <a:solidFill>
                  <a:srgbClr val="222222"/>
                </a:solidFill>
              </a:rPr>
              <a:t>•  Firmware: approximately 1 kHz burst sampling, RMS computed on the SIM, one reading per second</a:t>
            </a:r>
          </a:p>
          <a:p>
            <a:pPr>
              <a:spcAft>
                <a:spcPts val="1000"/>
              </a:spcAft>
            </a:pPr>
            <a:r>
              <a:rPr sz="1900">
                <a:solidFill>
                  <a:srgbClr val="222222"/>
                </a:solidFill>
              </a:rPr>
              <a:t>•  Floor: approximately 24 mA unassisted (approximately 3 mA with oversampling); below approximately 50 mA unreliable</a:t>
            </a:r>
          </a:p>
          <a:p>
            <a:pPr>
              <a:spcAft>
                <a:spcPts val="1000"/>
              </a:spcAft>
            </a:pPr>
            <a:r>
              <a:rPr sz="1900">
                <a:solidFill>
                  <a:srgbClr val="222222"/>
                </a:solidFill>
              </a:rPr>
              <a:t>•  For small loads use SCT-013-005 (5 A, 200 mV/A); ESP32 ADC nonlinearity limits the bottom decade</a:t>
            </a:r>
          </a:p>
          <a:p>
            <a:pPr>
              <a:spcAft>
                <a:spcPts val="1000"/>
              </a:spcAft>
            </a:pPr>
            <a:r>
              <a:rPr sz="1900">
                <a:solidFill>
                  <a:srgbClr val="222222"/>
                </a:solidFill>
              </a:rPr>
              <a:t>•  Packaged sensor dimensions: [PLACEHOLDER]</a:t>
            </a:r>
          </a:p>
          <a:p>
            <a:pPr>
              <a:spcAft>
                <a:spcPts val="1000"/>
              </a:spcAft>
            </a:pPr>
            <a:r>
              <a:rPr sz="1900">
                <a:solidFill>
                  <a:srgbClr val="222222"/>
                </a:solidFill>
              </a:rPr>
              <a:t>•  Interface and connector details: [PLACEHOLDER: keyed harness part number]</a:t>
            </a:r>
          </a:p>
          <a:p>
            <a:pPr>
              <a:spcAft>
                <a:spcPts val="1000"/>
              </a:spcAft>
            </a:pPr>
            <a:r>
              <a:rPr sz="1900">
                <a:solidFill>
                  <a:srgbClr val="222222"/>
                </a:solidFill>
              </a:rPr>
              <a:t>•  SIM assignment: SIM4 (Analog), signal biased to mid-rail before the ADC</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11.7: Climate Change Applications</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Measured, not modelled: baseline fortnight vs intervention fortnight gives kWh savings as fact</a:t>
            </a:r>
          </a:p>
          <a:p>
            <a:pPr>
              <a:spcAft>
                <a:spcPts val="1000"/>
              </a:spcAft>
            </a:pPr>
            <a:r>
              <a:rPr sz="1900">
                <a:solidFill>
                  <a:srgbClr val="222222"/>
                </a:solidFill>
              </a:rPr>
              <a:t>•  Carbon arithmetic: kWh × grid factor (India approximately 0.82 kg CO2/kWh) = measured emissions avoided</a:t>
            </a:r>
          </a:p>
          <a:p>
            <a:pPr>
              <a:spcAft>
                <a:spcPts val="1000"/>
              </a:spcAft>
            </a:pPr>
            <a:r>
              <a:rPr sz="1900">
                <a:solidFill>
                  <a:srgbClr val="222222"/>
                </a:solidFill>
              </a:rPr>
              <a:t>•  Finds the waste: AC in empty rooms, weekend loads, phantom standby, simultaneous heat-and-cool</a:t>
            </a:r>
          </a:p>
          <a:p>
            <a:pPr>
              <a:spcAft>
                <a:spcPts val="1000"/>
              </a:spcAft>
            </a:pPr>
            <a:r>
              <a:rPr sz="1900">
                <a:solidFill>
                  <a:srgbClr val="222222"/>
                </a:solidFill>
              </a:rPr>
              <a:t>•  Verifies the clean side: solar output vs irradiance expectation catches degradation and soiling</a:t>
            </a:r>
          </a:p>
          <a:p>
            <a:pPr>
              <a:spcAft>
                <a:spcPts val="1000"/>
              </a:spcAft>
            </a:pPr>
            <a:r>
              <a:rPr sz="1900">
                <a:solidFill>
                  <a:srgbClr val="222222"/>
                </a:solidFill>
              </a:rPr>
              <a:t>•  Institutional force: finance committees act on measured numbers; models get filed</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11.8: Fusion Partners</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SCD41 + PIR: occupancy × HVAC current, the five-row waste table (AC on, room empty, at 08:00 and 18:00)</a:t>
            </a:r>
          </a:p>
          <a:p>
            <a:pPr>
              <a:spcAft>
                <a:spcPts val="1000"/>
              </a:spcAft>
            </a:pPr>
            <a:r>
              <a:rPr sz="1900">
                <a:solidFill>
                  <a:srgbClr val="222222"/>
                </a:solidFill>
              </a:rPr>
              <a:t>•  VEML7700: lighting current during daylight-sufficient hours = quantified lighting waste</a:t>
            </a:r>
          </a:p>
          <a:p>
            <a:pPr>
              <a:spcAft>
                <a:spcPts val="1000"/>
              </a:spcAft>
            </a:pPr>
            <a:r>
              <a:rPr sz="1900">
                <a:solidFill>
                  <a:srgbClr val="222222"/>
                </a:solidFill>
              </a:rPr>
              <a:t>•  RS485 energy meter (SIM5): class-1 reference to cross-check the clamp; catches the partially closed jaw</a:t>
            </a:r>
          </a:p>
          <a:p>
            <a:pPr>
              <a:spcAft>
                <a:spcPts val="1000"/>
              </a:spcAft>
            </a:pPr>
            <a:r>
              <a:rPr sz="1900">
                <a:solidFill>
                  <a:srgbClr val="222222"/>
                </a:solidFill>
              </a:rPr>
              <a:t>•  SPL: acoustic hum and electrical draw must agree on machine state; disagreement = fault</a:t>
            </a:r>
          </a:p>
          <a:p>
            <a:pPr>
              <a:spcAft>
                <a:spcPts val="1000"/>
              </a:spcAft>
            </a:pPr>
            <a:r>
              <a:rPr sz="1900">
                <a:solidFill>
                  <a:srgbClr val="222222"/>
                </a:solidFill>
              </a:rPr>
              <a:t>•  Jaw-closure check: kettle reference load at install, reading must match P/230 V within ±10%</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11.9: Capstone C8: What Does the Machine's Electrical Signature Say Before It Fails?</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Question: can we hear a machine failing in its current draw weeks before it stops?</a:t>
            </a:r>
          </a:p>
          <a:p>
            <a:pPr>
              <a:spcAft>
                <a:spcPts val="1000"/>
              </a:spcAft>
            </a:pPr>
            <a:r>
              <a:rPr sz="1900">
                <a:solidFill>
                  <a:srgbClr val="222222"/>
                </a:solidFill>
              </a:rPr>
              <a:t>•  Sensors: SCT-013 (electrical signature), SPL (acoustic baseline), DS18B20 (thermal lag confirmation), RS485 meter (reference)</a:t>
            </a:r>
          </a:p>
          <a:p>
            <a:pPr>
              <a:spcAft>
                <a:spcPts val="1000"/>
              </a:spcAft>
            </a:pPr>
            <a:r>
              <a:rPr sz="1900">
                <a:solidFill>
                  <a:srgbClr val="222222"/>
                </a:solidFill>
              </a:rPr>
              <a:t>•  Contradiction to resolve: baseline drift can be seasonal load change, sensor drift, or genuine wear; which is it?</a:t>
            </a:r>
          </a:p>
          <a:p>
            <a:pPr>
              <a:spcAft>
                <a:spcPts val="1000"/>
              </a:spcAft>
            </a:pPr>
            <a:r>
              <a:rPr sz="1900">
                <a:solidFill>
                  <a:srgbClr val="222222"/>
                </a:solidFill>
              </a:rPr>
              <a:t>•  Decision: a maintenance recommendation with evidence, or a defended verdict that the machine is healthy</a:t>
            </a:r>
          </a:p>
          <a:p>
            <a:pPr>
              <a:spcAft>
                <a:spcPts val="1000"/>
              </a:spcAft>
            </a:pPr>
            <a:r>
              <a:rPr sz="1900">
                <a:solidFill>
                  <a:srgbClr val="222222"/>
                </a:solidFill>
              </a:rPr>
              <a:t>•  Agents: nightly watchdog fits trends, tests the three hypotheses, and adjudicates with the reference meter</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2286000"/>
            <a:ext cx="10698480" cy="1463040"/>
          </a:xfrm>
          <a:prstGeom prst="rect">
            <a:avLst/>
          </a:prstGeom>
          <a:noFill/>
        </p:spPr>
        <p:txBody>
          <a:bodyPr wrap="square">
            <a:spAutoFit/>
          </a:bodyPr>
          <a:lstStyle/>
          <a:p>
            <a:r>
              <a:rPr sz="3600" b="1">
                <a:solidFill>
                  <a:srgbClr val="1B5E8A"/>
                </a:solidFill>
              </a:rPr>
              <a:t>Sensor 12: DFRobot SEN0193 - Soil Moisture (SIM4, Analog)</a:t>
            </a:r>
          </a:p>
        </p:txBody>
      </p:sp>
      <p:sp>
        <p:nvSpPr>
          <p:cNvPr id="3" name="TextBox 2"/>
          <p:cNvSpPr txBox="1"/>
          <p:nvPr/>
        </p:nvSpPr>
        <p:spPr>
          <a:xfrm>
            <a:off x="731520" y="3840480"/>
            <a:ext cx="10698480" cy="914400"/>
          </a:xfrm>
          <a:prstGeom prst="rect">
            <a:avLst/>
          </a:prstGeom>
          <a:noFill/>
        </p:spPr>
        <p:txBody>
          <a:bodyPr wrap="square">
            <a:spAutoFit/>
          </a:bodyPr>
          <a:lstStyle/>
          <a:p>
            <a:r>
              <a:rPr sz="1800">
                <a:solidFill>
                  <a:srgbClr val="222222"/>
                </a:solidFill>
              </a:rPr>
              <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12.1: AI-First: The Old Way and the New Way</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The old way: a person checks a reading and decides to water</a:t>
            </a:r>
          </a:p>
          <a:p>
            <a:pPr>
              <a:spcAft>
                <a:spcPts val="1000"/>
              </a:spcAft>
            </a:pPr>
            <a:r>
              <a:rPr sz="1900">
                <a:solidFill>
                  <a:srgbClr val="222222"/>
                </a:solidFill>
              </a:rPr>
              <a:t>•  The new way: an AI watches the soil for you, day and night</a:t>
            </a:r>
          </a:p>
          <a:p>
            <a:pPr>
              <a:spcAft>
                <a:spcPts val="1000"/>
              </a:spcAft>
            </a:pPr>
            <a:r>
              <a:rPr sz="1900">
                <a:solidFill>
                  <a:srgbClr val="222222"/>
                </a:solidFill>
              </a:rPr>
              <a:t>•  When the bed runs dry, the AI can start the watering itself</a:t>
            </a:r>
          </a:p>
          <a:p>
            <a:pPr>
              <a:spcAft>
                <a:spcPts val="1000"/>
              </a:spcAft>
            </a:pPr>
            <a:r>
              <a:rPr sz="1900">
                <a:solidFill>
                  <a:srgbClr val="222222"/>
                </a:solidFill>
              </a:rPr>
              <a:t>•  Like a garden caretaker who never sleeps</a:t>
            </a:r>
          </a:p>
          <a:p>
            <a:pPr>
              <a:spcAft>
                <a:spcPts val="1000"/>
              </a:spcAft>
            </a:pPr>
            <a:r>
              <a:rPr sz="1900">
                <a:solidFill>
                  <a:srgbClr val="222222"/>
                </a:solidFill>
              </a:rPr>
              <a:t>•  This deck: soil moisture as something an AI senses and acts on</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12.2: AI-First: What the AI Must Know About This Sensor</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An AI is only as good as what it knows about its senses</a:t>
            </a:r>
          </a:p>
          <a:p>
            <a:pPr>
              <a:spcAft>
                <a:spcPts val="1000"/>
              </a:spcAft>
            </a:pPr>
            <a:r>
              <a:rPr sz="1900">
                <a:solidFill>
                  <a:srgbClr val="222222"/>
                </a:solidFill>
              </a:rPr>
              <a:t>•  It reads the sensor's ID card: what the probe says, how it fails</a:t>
            </a:r>
          </a:p>
          <a:p>
            <a:pPr>
              <a:spcAft>
                <a:spcPts val="1000"/>
              </a:spcAft>
            </a:pPr>
            <a:r>
              <a:rPr sz="1900">
                <a:solidFill>
                  <a:srgbClr val="222222"/>
                </a:solidFill>
              </a:rPr>
              <a:t>•  The probe reports a voltage, not a moisture percentage</a:t>
            </a:r>
          </a:p>
          <a:p>
            <a:pPr>
              <a:spcAft>
                <a:spcPts val="1000"/>
              </a:spcAft>
            </a:pPr>
            <a:r>
              <a:rPr sz="1900">
                <a:solidFill>
                  <a:srgbClr val="222222"/>
                </a:solidFill>
              </a:rPr>
              <a:t>•  Pulled out of the soil, it looks like a sudden drought</a:t>
            </a:r>
          </a:p>
          <a:p>
            <a:pPr>
              <a:spcAft>
                <a:spcPts val="1000"/>
              </a:spcAft>
            </a:pPr>
            <a:r>
              <a:rPr sz="1900">
                <a:solidFill>
                  <a:srgbClr val="222222"/>
                </a:solidFill>
              </a:rPr>
              <a:t>•  Its numbers mean nothing until it learns its own dry and wet points</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12.3: The Agentic Pattern: No Meaning Without Calibration</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The pattern: a raw number means nothing without a reference point</a:t>
            </a:r>
          </a:p>
          <a:p>
            <a:pPr>
              <a:spcAft>
                <a:spcPts val="1000"/>
              </a:spcAft>
            </a:pPr>
            <a:r>
              <a:rPr sz="1900">
                <a:solidFill>
                  <a:srgbClr val="222222"/>
                </a:solidFill>
              </a:rPr>
              <a:t>•  Like scoring 43 marks without knowing the maximum</a:t>
            </a:r>
          </a:p>
          <a:p>
            <a:pPr>
              <a:spcAft>
                <a:spcPts val="1000"/>
              </a:spcAft>
            </a:pPr>
            <a:r>
              <a:rPr sz="1900">
                <a:solidFill>
                  <a:srgbClr val="222222"/>
                </a:solidFill>
              </a:rPr>
              <a:t>•  The probe first learns its own "bone dry" and "soaking wet" readings</a:t>
            </a:r>
          </a:p>
          <a:p>
            <a:pPr>
              <a:spcAft>
                <a:spcPts val="1000"/>
              </a:spcAft>
            </a:pPr>
            <a:r>
              <a:rPr sz="1900">
                <a:solidFill>
                  <a:srgbClr val="222222"/>
                </a:solidFill>
              </a:rPr>
              <a:t>•  The AI guides you through the teaching: hold in air, dip in water, done</a:t>
            </a:r>
          </a:p>
          <a:p>
            <a:pPr>
              <a:spcAft>
                <a:spcPts val="1000"/>
              </a:spcAft>
            </a:pPr>
            <a:r>
              <a:rPr sz="1900">
                <a:solidFill>
                  <a:srgbClr val="222222"/>
                </a:solidFill>
              </a:rPr>
              <a:t>•  You design the thinking; the AI does the watching</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12.4: What It Is</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A capacitive soil moisture sensor: it measures how much water is in the soil without any metal touching the soil</a:t>
            </a:r>
          </a:p>
          <a:p>
            <a:pPr>
              <a:spcAft>
                <a:spcPts val="1000"/>
              </a:spcAft>
            </a:pPr>
            <a:r>
              <a:rPr sz="1900">
                <a:solidFill>
                  <a:srgbClr val="222222"/>
                </a:solidFill>
              </a:rPr>
              <a:t>•  Water changes the dielectric constant of soil; dry soil is approximately 3-5, water is approximately 80</a:t>
            </a:r>
          </a:p>
          <a:p>
            <a:pPr>
              <a:spcAft>
                <a:spcPts val="1000"/>
              </a:spcAft>
            </a:pPr>
            <a:r>
              <a:rPr sz="1900">
                <a:solidFill>
                  <a:srgbClr val="222222"/>
                </a:solidFill>
              </a:rPr>
              <a:t>•  The probe is a flat PCB paddle; its copper sensing pad forms one plate of a capacitor, the surrounding soil completes it</a:t>
            </a:r>
          </a:p>
          <a:p>
            <a:pPr>
              <a:spcAft>
                <a:spcPts val="1000"/>
              </a:spcAft>
            </a:pPr>
            <a:r>
              <a:rPr sz="1900">
                <a:solidFill>
                  <a:srgbClr val="222222"/>
                </a:solidFill>
              </a:rPr>
              <a:t>•  A 555-style oscillator on the probe converts capacitance to a smooth analog voltage, 0 to approximately 3.0 V</a:t>
            </a:r>
          </a:p>
          <a:p>
            <a:pPr>
              <a:spcAft>
                <a:spcPts val="1000"/>
              </a:spcAft>
            </a:pPr>
            <a:r>
              <a:rPr sz="1900">
                <a:solidFill>
                  <a:srgbClr val="222222"/>
                </a:solidFill>
              </a:rPr>
              <a:t>•  More water means higher capacitance, which means a lower output voltage</a:t>
            </a:r>
          </a:p>
          <a:p>
            <a:pPr>
              <a:spcAft>
                <a:spcPts val="1000"/>
              </a:spcAft>
            </a:pPr>
            <a:r>
              <a:rPr sz="1900">
                <a:solidFill>
                  <a:srgbClr val="222222"/>
                </a:solidFill>
              </a:rPr>
              <a:t>•  No exposed electrodes: the sensing area is covered by solder mask, so nothing corrodes</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12.5: What It Does in Practice</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Irrigation scheduling: water when the root zone is dry, skip when it is not</a:t>
            </a:r>
          </a:p>
          <a:p>
            <a:pPr>
              <a:spcAft>
                <a:spcPts val="1000"/>
              </a:spcAft>
            </a:pPr>
            <a:r>
              <a:rPr sz="1900">
                <a:solidFill>
                  <a:srgbClr val="222222"/>
                </a:solidFill>
              </a:rPr>
              <a:t>•  Container and greenhouse growing: per-pot moisture monitoring</a:t>
            </a:r>
          </a:p>
          <a:p>
            <a:pPr>
              <a:spcAft>
                <a:spcPts val="1000"/>
              </a:spcAft>
            </a:pPr>
            <a:r>
              <a:rPr sz="1900">
                <a:solidFill>
                  <a:srgbClr val="222222"/>
                </a:solidFill>
              </a:rPr>
              <a:t>•  Green roofs and vertical gardens: confirm the substrate is holding design moisture</a:t>
            </a:r>
          </a:p>
          <a:p>
            <a:pPr>
              <a:spcAft>
                <a:spcPts val="1000"/>
              </a:spcAft>
            </a:pPr>
            <a:r>
              <a:rPr sz="1900">
                <a:solidFill>
                  <a:srgbClr val="222222"/>
                </a:solidFill>
              </a:rPr>
              <a:t>•  Lawn and grounds management: detect overwatering, the most common failure</a:t>
            </a:r>
          </a:p>
          <a:p>
            <a:pPr>
              <a:spcAft>
                <a:spcPts val="1000"/>
              </a:spcAft>
            </a:pPr>
            <a:r>
              <a:rPr sz="1900">
                <a:solidFill>
                  <a:srgbClr val="222222"/>
                </a:solidFill>
              </a:rPr>
              <a:t>•  Research and teaching: drought stress experiments, infiltration studies</a:t>
            </a:r>
          </a:p>
          <a:p>
            <a:pPr>
              <a:spcAft>
                <a:spcPts val="1000"/>
              </a:spcAft>
            </a:pPr>
            <a:r>
              <a:rPr sz="1900">
                <a:solidFill>
                  <a:srgbClr val="222222"/>
                </a:solidFill>
              </a:rPr>
              <a:t>•  Why capacitive wins outdoors: resistive probes corrode electrolytically and drift within weeks; this probe holds calibration for a season</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12.6: Technical Card</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Measurand: volumetric soil moisture, reported as a calibrated 0-100 percent scale</a:t>
            </a:r>
          </a:p>
          <a:p>
            <a:pPr>
              <a:spcAft>
                <a:spcPts val="1000"/>
              </a:spcAft>
            </a:pPr>
            <a:r>
              <a:rPr sz="1900">
                <a:solidFill>
                  <a:srgbClr val="222222"/>
                </a:solidFill>
              </a:rPr>
              <a:t>•  Raw range: analog 0 to approximately 3.0 V (dry reads high, saturated reads low)</a:t>
            </a:r>
          </a:p>
          <a:p>
            <a:pPr>
              <a:spcAft>
                <a:spcPts val="1000"/>
              </a:spcAft>
            </a:pPr>
            <a:r>
              <a:rPr sz="1900">
                <a:solidFill>
                  <a:srgbClr val="222222"/>
                </a:solidFill>
              </a:rPr>
              <a:t>•  Accuracy: no absolute vendor spec; after two-point calibration, repeatability is approximately ±3-5 percent of scale (moderate confidence)</a:t>
            </a:r>
          </a:p>
          <a:p>
            <a:pPr>
              <a:spcAft>
                <a:spcPts val="1000"/>
              </a:spcAft>
            </a:pPr>
            <a:r>
              <a:rPr sz="1900">
                <a:solidFill>
                  <a:srgbClr val="222222"/>
                </a:solidFill>
              </a:rPr>
              <a:t>•  Supply: 3.3-5.5 V, approximately 5 mA; powered from the SIM rail</a:t>
            </a:r>
          </a:p>
          <a:p>
            <a:pPr>
              <a:spcAft>
                <a:spcPts val="1000"/>
              </a:spcAft>
            </a:pPr>
            <a:r>
              <a:rPr sz="1900">
                <a:solidFill>
                  <a:srgbClr val="222222"/>
                </a:solidFill>
              </a:rPr>
              <a:t>•  Original form: single PCB module, approximately 98 x 23 mm probe</a:t>
            </a:r>
          </a:p>
          <a:p>
            <a:pPr>
              <a:spcAft>
                <a:spcPts val="1000"/>
              </a:spcAft>
            </a:pPr>
            <a:r>
              <a:rPr sz="1900">
                <a:solidFill>
                  <a:srgbClr val="222222"/>
                </a:solidFill>
              </a:rPr>
              <a:t>•  Packaged sensor dimensions: [PLACEHOLDER]</a:t>
            </a:r>
          </a:p>
          <a:p>
            <a:pPr>
              <a:spcAft>
                <a:spcPts val="1000"/>
              </a:spcAft>
            </a:pPr>
            <a:r>
              <a:rPr sz="1900">
                <a:solidFill>
                  <a:srgbClr val="222222"/>
                </a:solidFill>
              </a:rPr>
              <a:t>•  Interface/connector details: [PLACEHOLDER: keyed harness part number]</a:t>
            </a:r>
          </a:p>
          <a:p>
            <a:pPr>
              <a:spcAft>
                <a:spcPts val="1000"/>
              </a:spcAft>
            </a:pPr>
            <a:r>
              <a:rPr sz="1900">
                <a:solidFill>
                  <a:srgbClr val="222222"/>
                </a:solidFill>
              </a:rPr>
              <a:t>•  SIM assignment: SIM4, analog ADC input</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12.7: Climate Change Applications</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Irrigation is approximately 70 percent of global freshwater withdrawals; scheduling from measured moisture saves 30-50 percent of irrigation water</a:t>
            </a:r>
          </a:p>
          <a:p>
            <a:pPr>
              <a:spcAft>
                <a:spcPts val="1000"/>
              </a:spcAft>
            </a:pPr>
            <a:r>
              <a:rPr sz="1900">
                <a:solidFill>
                  <a:srgbClr val="222222"/>
                </a:solidFill>
              </a:rPr>
              <a:t>•  Adaptation: drought monitoring networks, early warning for crop stress</a:t>
            </a:r>
          </a:p>
          <a:p>
            <a:pPr>
              <a:spcAft>
                <a:spcPts val="1000"/>
              </a:spcAft>
            </a:pPr>
            <a:r>
              <a:rPr sz="1900">
                <a:solidFill>
                  <a:srgbClr val="222222"/>
                </a:solidFill>
              </a:rPr>
              <a:t>•  Urban heat and stormwater: green roofs and rain gardens only perform when substrate moisture is managed</a:t>
            </a:r>
          </a:p>
          <a:p>
            <a:pPr>
              <a:spcAft>
                <a:spcPts val="1000"/>
              </a:spcAft>
            </a:pPr>
            <a:r>
              <a:rPr sz="1900">
                <a:solidFill>
                  <a:srgbClr val="222222"/>
                </a:solidFill>
              </a:rPr>
              <a:t>•  Soil health: chronic overwatering drives nutrient runoff and nitrous oxide emissions</a:t>
            </a:r>
          </a:p>
          <a:p>
            <a:pPr>
              <a:spcAft>
                <a:spcPts val="1000"/>
              </a:spcAft>
            </a:pPr>
            <a:r>
              <a:rPr sz="1900">
                <a:solidFill>
                  <a:srgbClr val="222222"/>
                </a:solidFill>
              </a:rPr>
              <a:t>•  Measurement role: ground truth for satellite soil moisture products at a single field point</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12.8: Fusion Partners</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VEML7700 (lux): light dose drives evaporation; agent computes daily light integral alongside moisture decline</a:t>
            </a:r>
          </a:p>
          <a:p>
            <a:pPr>
              <a:spcAft>
                <a:spcPts val="1000"/>
              </a:spcAft>
            </a:pPr>
            <a:r>
              <a:rPr sz="1900">
                <a:solidFill>
                  <a:srgbClr val="222222"/>
                </a:solidFill>
              </a:rPr>
              <a:t>•  DS18B20 + BME688 (temperature, humidity): together they form an evapotranspiration proxy; agent predicts tomorrow's moisture, not just today's</a:t>
            </a:r>
          </a:p>
          <a:p>
            <a:pPr>
              <a:spcAft>
                <a:spcPts val="1000"/>
              </a:spcAft>
            </a:pPr>
            <a:r>
              <a:rPr sz="1900">
                <a:solidFill>
                  <a:srgbClr val="222222"/>
                </a:solidFill>
              </a:rPr>
              <a:t>•  JSN-SR04T (tank level): soil demand on one side, water supply on the other; agent closes the full irrigation loop</a:t>
            </a:r>
          </a:p>
          <a:p>
            <a:pPr>
              <a:spcAft>
                <a:spcPts val="1000"/>
              </a:spcAft>
            </a:pPr>
            <a:r>
              <a:rPr sz="1900">
                <a:solidFill>
                  <a:srgbClr val="222222"/>
                </a:solidFill>
              </a:rPr>
              <a:t>•  Water level trace PCB: detects overflow or runoff at the drainage point, catching overwatering the soil probe misses</a:t>
            </a:r>
          </a:p>
          <a:p>
            <a:pPr>
              <a:spcAft>
                <a:spcPts val="1000"/>
              </a:spcAft>
            </a:pPr>
            <a:r>
              <a:rPr sz="1900">
                <a:solidFill>
                  <a:srgbClr val="222222"/>
                </a:solidFill>
              </a:rPr>
              <a:t>•  Agent inference via MCP: query_timeseries across all streams, aligned on tick_ms, then a watering decision with stated confidence</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12.9: Capstone C7: When Should We Water, and Did It Work?</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Question: when should this planted bed be watered, and did the policy actually save water?</a:t>
            </a:r>
          </a:p>
          <a:p>
            <a:pPr>
              <a:spcAft>
                <a:spcPts val="1000"/>
              </a:spcAft>
            </a:pPr>
            <a:r>
              <a:rPr sz="1900">
                <a:solidFill>
                  <a:srgbClr val="222222"/>
                </a:solidFill>
              </a:rPr>
              <a:t>•  Sensors: SEN0193 (moisture), VEML7700 (light), DS18B20 (temperature), BME688 (humidity, pressure)</a:t>
            </a:r>
          </a:p>
          <a:p>
            <a:pPr>
              <a:spcAft>
                <a:spcPts val="1000"/>
              </a:spcAft>
            </a:pPr>
            <a:r>
              <a:rPr sz="1900">
                <a:solidFill>
                  <a:srgbClr val="222222"/>
                </a:solidFill>
              </a:rPr>
              <a:t>•  Contradiction to resolve: soil reads dry but rain is likely, or reads wet immediately after watering while the root zone below is still dry</a:t>
            </a:r>
          </a:p>
          <a:p>
            <a:pPr>
              <a:spcAft>
                <a:spcPts val="1000"/>
              </a:spcAft>
            </a:pPr>
            <a:r>
              <a:rPr sz="1900">
                <a:solidFill>
                  <a:srgbClr val="222222"/>
                </a:solidFill>
              </a:rPr>
              <a:t>•  Baseline week on a fixed schedule, intervention weeks on agent-recommended watering; compare litres used and plant condition</a:t>
            </a:r>
          </a:p>
          <a:p>
            <a:pPr>
              <a:spcAft>
                <a:spcPts val="1000"/>
              </a:spcAft>
            </a:pPr>
            <a:r>
              <a:rPr sz="1900">
                <a:solidFill>
                  <a:srgbClr val="222222"/>
                </a:solidFill>
              </a:rPr>
              <a:t>•  Edge loop: LLM authors a deterministic watering rule; cloud loop: agent reviews the week and revises the rule</a:t>
            </a:r>
          </a:p>
          <a:p>
            <a:pPr>
              <a:spcAft>
                <a:spcPts val="1000"/>
              </a:spcAft>
            </a:pPr>
            <a:r>
              <a:rPr sz="1900">
                <a:solidFill>
                  <a:srgbClr val="222222"/>
                </a:solidFill>
              </a:rPr>
              <a:t>•  Decision at the end: adopt, revise, or reject the sensor-driven schedule, with measured evidence</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2286000"/>
            <a:ext cx="10698480" cy="1463040"/>
          </a:xfrm>
          <a:prstGeom prst="rect">
            <a:avLst/>
          </a:prstGeom>
          <a:noFill/>
        </p:spPr>
        <p:txBody>
          <a:bodyPr wrap="square">
            <a:spAutoFit/>
          </a:bodyPr>
          <a:lstStyle/>
          <a:p>
            <a:r>
              <a:rPr sz="3600" b="1">
                <a:solidFill>
                  <a:srgbClr val="1B5E8A"/>
                </a:solidFill>
              </a:rPr>
              <a:t>Sensor 13: RadioStudio Bare-Trace PCB - Water Presence / Level (SIM4, Analog, resistive)</a:t>
            </a:r>
          </a:p>
        </p:txBody>
      </p:sp>
      <p:sp>
        <p:nvSpPr>
          <p:cNvPr id="3" name="TextBox 2"/>
          <p:cNvSpPr txBox="1"/>
          <p:nvPr/>
        </p:nvSpPr>
        <p:spPr>
          <a:xfrm>
            <a:off x="731520" y="3840480"/>
            <a:ext cx="10698480" cy="914400"/>
          </a:xfrm>
          <a:prstGeom prst="rect">
            <a:avLst/>
          </a:prstGeom>
          <a:noFill/>
        </p:spPr>
        <p:txBody>
          <a:bodyPr wrap="square">
            <a:spAutoFit/>
          </a:bodyPr>
          <a:lstStyle/>
          <a:p>
            <a:r>
              <a:rPr sz="1800">
                <a:solidFill>
                  <a:srgbClr val="222222"/>
                </a:solidFill>
              </a:rPr>
              <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13.1: AI-First: The Old Way and the New Way</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This sensor says "dry" for months; one wet hour is why it exists</a:t>
            </a:r>
          </a:p>
          <a:p>
            <a:pPr>
              <a:spcAft>
                <a:spcPts val="1000"/>
              </a:spcAft>
            </a:pPr>
            <a:r>
              <a:rPr sz="1900">
                <a:solidFill>
                  <a:srgbClr val="222222"/>
                </a:solidFill>
              </a:rPr>
              <a:t>•  The old way: someone spots water on the floor, usually too late</a:t>
            </a:r>
          </a:p>
          <a:p>
            <a:pPr>
              <a:spcAft>
                <a:spcPts val="1000"/>
              </a:spcAft>
            </a:pPr>
            <a:r>
              <a:rPr sz="1900">
                <a:solidFill>
                  <a:srgbClr val="222222"/>
                </a:solidFill>
              </a:rPr>
              <a:t>•  The new way: an AI watches for that hour and never gets bored</a:t>
            </a:r>
          </a:p>
          <a:p>
            <a:pPr>
              <a:spcAft>
                <a:spcPts val="1000"/>
              </a:spcAft>
            </a:pPr>
            <a:r>
              <a:rPr sz="1900">
                <a:solidFill>
                  <a:srgbClr val="222222"/>
                </a:solidFill>
              </a:rPr>
              <a:t>•  Water under a rack at 2 a.m. is caught at 2 a.m., not at 9</a:t>
            </a:r>
          </a:p>
          <a:p>
            <a:pPr>
              <a:spcAft>
                <a:spcPts val="1000"/>
              </a:spcAft>
            </a:pPr>
            <a:r>
              <a:rPr sz="1900">
                <a:solidFill>
                  <a:srgbClr val="222222"/>
                </a:solidFill>
              </a:rPr>
              <a:t>•  This deck: how an AI stands guard over a rare event</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13.2: AI-First: What the AI Must Know About This Sensor</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An AI is only as good as what it knows about its senses</a:t>
            </a:r>
          </a:p>
          <a:p>
            <a:pPr>
              <a:spcAft>
                <a:spcPts val="1000"/>
              </a:spcAft>
            </a:pPr>
            <a:r>
              <a:rPr sz="1900">
                <a:solidFill>
                  <a:srgbClr val="222222"/>
                </a:solidFill>
              </a:rPr>
              <a:t>•  It reads the sensor's ID card: what this board says, and how it fails</a:t>
            </a:r>
          </a:p>
          <a:p>
            <a:pPr>
              <a:spcAft>
                <a:spcPts val="1000"/>
              </a:spcAft>
            </a:pPr>
            <a:r>
              <a:rPr sz="1900">
                <a:solidFill>
                  <a:srgbClr val="222222"/>
                </a:solidFill>
              </a:rPr>
              <a:t>•  Wetting is noticed within a second; drying takes minutes</a:t>
            </a:r>
          </a:p>
          <a:p>
            <a:pPr>
              <a:spcAft>
                <a:spcPts val="1000"/>
              </a:spcAft>
            </a:pPr>
            <a:r>
              <a:rPr sz="1900">
                <a:solidFill>
                  <a:srgbClr val="222222"/>
                </a:solidFill>
              </a:rPr>
              <a:t>•  The trap: a dead sensor and a dry floor both send nothing</a:t>
            </a:r>
          </a:p>
          <a:p>
            <a:pPr>
              <a:spcAft>
                <a:spcPts val="1000"/>
              </a:spcAft>
            </a:pPr>
            <a:r>
              <a:rPr sz="1900">
                <a:solidFill>
                  <a:srgbClr val="222222"/>
                </a:solidFill>
              </a:rPr>
              <a:t>•  So the AI must also check that the sensor itself is alive</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13.3: The Agentic Pattern: Is Silence Good News?</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The pattern: silence means "all clear" only if the sensor is alive</a:t>
            </a:r>
          </a:p>
          <a:p>
            <a:pPr>
              <a:spcAft>
                <a:spcPts val="1000"/>
              </a:spcAft>
            </a:pPr>
            <a:r>
              <a:rPr sz="1900">
                <a:solidFill>
                  <a:srgbClr val="222222"/>
                </a:solidFill>
              </a:rPr>
              <a:t>•  Like pressing the test button on a smoke alarm</a:t>
            </a:r>
          </a:p>
          <a:p>
            <a:pPr>
              <a:spcAft>
                <a:spcPts val="1000"/>
              </a:spcAft>
            </a:pPr>
            <a:r>
              <a:rPr sz="1900">
                <a:solidFill>
                  <a:srgbClr val="222222"/>
                </a:solidFill>
              </a:rPr>
              <a:t>•  You do not wait for a fire to find out the battery died</a:t>
            </a:r>
          </a:p>
          <a:p>
            <a:pPr>
              <a:spcAft>
                <a:spcPts val="1000"/>
              </a:spcAft>
            </a:pPr>
            <a:r>
              <a:rPr sz="1900">
                <a:solidFill>
                  <a:srgbClr val="222222"/>
                </a:solidFill>
              </a:rPr>
              <a:t>•  The AI presses that button on a schedule, using a heartbeat signal</a:t>
            </a:r>
          </a:p>
          <a:p>
            <a:pPr>
              <a:spcAft>
                <a:spcPts val="1000"/>
              </a:spcAft>
            </a:pPr>
            <a:r>
              <a:rPr sz="1900">
                <a:solidFill>
                  <a:srgbClr val="222222"/>
                </a:solidFill>
              </a:rPr>
              <a:t>•  You decide what silence must prove; the AI keeps checking</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13.4: What It Is</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The simplest sensor in the kit: a bare PCB with interdigitated copper traces, built by RadioStudio</a:t>
            </a:r>
          </a:p>
          <a:p>
            <a:pPr>
              <a:spcAft>
                <a:spcPts val="1000"/>
              </a:spcAft>
            </a:pPr>
            <a:r>
              <a:rPr sz="1900">
                <a:solidFill>
                  <a:srgbClr val="222222"/>
                </a:solidFill>
              </a:rPr>
              <a:t>•  Two comb-shaped trace sets interleave without touching; dry, the resistance between them is effectively infinite</a:t>
            </a:r>
          </a:p>
          <a:p>
            <a:pPr>
              <a:spcAft>
                <a:spcPts val="1000"/>
              </a:spcAft>
            </a:pPr>
            <a:r>
              <a:rPr sz="1900">
                <a:solidFill>
                  <a:srgbClr val="222222"/>
                </a:solidFill>
              </a:rPr>
              <a:t>•  Water bridging any pair of fingers drops the resistance sharply; a pull-up resistor converts that to a voltage the ADC reads</a:t>
            </a:r>
          </a:p>
          <a:p>
            <a:pPr>
              <a:spcAft>
                <a:spcPts val="1000"/>
              </a:spcAft>
            </a:pPr>
            <a:r>
              <a:rPr sz="1900">
                <a:solidFill>
                  <a:srgbClr val="222222"/>
                </a:solidFill>
              </a:rPr>
              <a:t>•  Technically resistive, and that is the correct choice here: the sensor is dry in normal operation, so corrosion never accumulates</a:t>
            </a:r>
          </a:p>
          <a:p>
            <a:pPr>
              <a:spcAft>
                <a:spcPts val="1000"/>
              </a:spcAft>
            </a:pPr>
            <a:r>
              <a:rPr sz="1900">
                <a:solidFill>
                  <a:srgbClr val="222222"/>
                </a:solidFill>
              </a:rPr>
              <a:t>•  Firmware duty-cycles the excitation voltage, energizing the traces only during a reading, to prevent electrolysis</a:t>
            </a:r>
          </a:p>
          <a:p>
            <a:pPr>
              <a:spcAft>
                <a:spcPts val="1000"/>
              </a:spcAft>
            </a:pPr>
            <a:r>
              <a:rPr sz="1900">
                <a:solidFill>
                  <a:srgbClr val="222222"/>
                </a:solidFill>
              </a:rPr>
              <a:t>•  A deliberate teaching artifact: a bare PCB is a sensor; there is no chip at all</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13.5: What It Does in Practice</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Leak detection under equipment racks, server rooms, battery banks</a:t>
            </a:r>
          </a:p>
          <a:p>
            <a:pPr>
              <a:spcAft>
                <a:spcPts val="1000"/>
              </a:spcAft>
            </a:pPr>
            <a:r>
              <a:rPr sz="1900">
                <a:solidFill>
                  <a:srgbClr val="222222"/>
                </a:solidFill>
              </a:rPr>
              <a:t>•  Basement and undercroft flood ingress: earliest possible warning at floor level</a:t>
            </a:r>
          </a:p>
          <a:p>
            <a:pPr>
              <a:spcAft>
                <a:spcPts val="1000"/>
              </a:spcAft>
            </a:pPr>
            <a:r>
              <a:rPr sz="1900">
                <a:solidFill>
                  <a:srgbClr val="222222"/>
                </a:solidFill>
              </a:rPr>
              <a:t>•  Cold-storage defrost drain blockage: water backing up where it should drain away</a:t>
            </a:r>
          </a:p>
          <a:p>
            <a:pPr>
              <a:spcAft>
                <a:spcPts val="1000"/>
              </a:spcAft>
            </a:pPr>
            <a:r>
              <a:rPr sz="1900">
                <a:solidFill>
                  <a:srgbClr val="222222"/>
                </a:solidFill>
              </a:rPr>
              <a:t>•  Rainwater tank and sump overflow: a trace strip at the overflow line</a:t>
            </a:r>
          </a:p>
          <a:p>
            <a:pPr>
              <a:spcAft>
                <a:spcPts val="1000"/>
              </a:spcAft>
            </a:pPr>
            <a:r>
              <a:rPr sz="1900">
                <a:solidFill>
                  <a:srgbClr val="222222"/>
                </a:solidFill>
              </a:rPr>
              <a:t>•  Washing machine, water heater, and plumbing joint monitoring in facilities</a:t>
            </a:r>
          </a:p>
          <a:p>
            <a:pPr>
              <a:spcAft>
                <a:spcPts val="1000"/>
              </a:spcAft>
            </a:pPr>
            <a:r>
              <a:rPr sz="1900">
                <a:solidFill>
                  <a:srgbClr val="222222"/>
                </a:solidFill>
              </a:rPr>
              <a:t>•  Graded response: mounted vertically, more fingers bridged means lower resistance, giving a coarse depth indication</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13.6: Technical Card</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Measurand: water presence (binary wet/dry), plus coarse level when mounted vertically</a:t>
            </a:r>
          </a:p>
          <a:p>
            <a:pPr>
              <a:spcAft>
                <a:spcPts val="1000"/>
              </a:spcAft>
            </a:pPr>
            <a:r>
              <a:rPr sz="1900">
                <a:solidFill>
                  <a:srgbClr val="222222"/>
                </a:solidFill>
              </a:rPr>
              <a:t>•  Sensing element: interdigitated copper traces, ENIG finish, on FR4 PCB</a:t>
            </a:r>
          </a:p>
          <a:p>
            <a:pPr>
              <a:spcAft>
                <a:spcPts val="1000"/>
              </a:spcAft>
            </a:pPr>
            <a:r>
              <a:rPr sz="1900">
                <a:solidFill>
                  <a:srgbClr val="222222"/>
                </a:solidFill>
              </a:rPr>
              <a:t>•  Output: resistance drop read as analog voltage via pull-up; dry reads near supply, wet reads low</a:t>
            </a:r>
          </a:p>
          <a:p>
            <a:pPr>
              <a:spcAft>
                <a:spcPts val="1000"/>
              </a:spcAft>
            </a:pPr>
            <a:r>
              <a:rPr sz="1900">
                <a:solidFill>
                  <a:srgbClr val="222222"/>
                </a:solidFill>
              </a:rPr>
              <a:t>•  Response: wetting detected within one excitation cycle (approximately 1 s at default cadence); drying lags as the surface evaporates</a:t>
            </a:r>
          </a:p>
          <a:p>
            <a:pPr>
              <a:spcAft>
                <a:spcPts val="1000"/>
              </a:spcAft>
            </a:pPr>
            <a:r>
              <a:rPr sz="1900">
                <a:solidFill>
                  <a:srgbClr val="222222"/>
                </a:solidFill>
              </a:rPr>
              <a:t>•  Excitation: duty-cycled by SIM4 firmware to prevent electrolysis; no continuous DC across traces</a:t>
            </a:r>
          </a:p>
          <a:p>
            <a:pPr>
              <a:spcAft>
                <a:spcPts val="1000"/>
              </a:spcAft>
            </a:pPr>
            <a:r>
              <a:rPr sz="1900">
                <a:solidFill>
                  <a:srgbClr val="222222"/>
                </a:solidFill>
              </a:rPr>
              <a:t>•  Original form: RadioStudio bare PCB, approximately 30 x 10 mm sensing area (to be confirmed)</a:t>
            </a:r>
          </a:p>
          <a:p>
            <a:pPr>
              <a:spcAft>
                <a:spcPts val="1000"/>
              </a:spcAft>
            </a:pPr>
            <a:r>
              <a:rPr sz="1900">
                <a:solidFill>
                  <a:srgbClr val="222222"/>
                </a:solidFill>
              </a:rPr>
              <a:t>•  Packaged sensor dimensions: [PLACEHOLDER]</a:t>
            </a:r>
          </a:p>
          <a:p>
            <a:pPr>
              <a:spcAft>
                <a:spcPts val="1000"/>
              </a:spcAft>
            </a:pPr>
            <a:r>
              <a:rPr sz="1900">
                <a:solidFill>
                  <a:srgbClr val="222222"/>
                </a:solidFill>
              </a:rPr>
              <a:t>•  Interface/connector details: [PLACEHOLDER: keyed harness part number]</a:t>
            </a:r>
          </a:p>
          <a:p>
            <a:pPr>
              <a:spcAft>
                <a:spcPts val="1000"/>
              </a:spcAft>
            </a:pPr>
            <a:r>
              <a:rPr sz="1900">
                <a:solidFill>
                  <a:srgbClr val="222222"/>
                </a:solidFill>
              </a:rPr>
              <a:t>•  SIM assignment: SIM4, analog ADC input</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13.7: Climate Change Applications</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Adaptation headline: climate change intensifies short-duration rainfall; urban flash flooding is rising on every continent</a:t>
            </a:r>
          </a:p>
          <a:p>
            <a:pPr>
              <a:spcAft>
                <a:spcPts val="1000"/>
              </a:spcAft>
            </a:pPr>
            <a:r>
              <a:rPr sz="1900">
                <a:solidFill>
                  <a:srgbClr val="222222"/>
                </a:solidFill>
              </a:rPr>
              <a:t>•  A distributed grid of trace sensors gives street-level, basement-level flood truth that rain gauges cannot</a:t>
            </a:r>
          </a:p>
          <a:p>
            <a:pPr>
              <a:spcAft>
                <a:spcPts val="1000"/>
              </a:spcAft>
            </a:pPr>
            <a:r>
              <a:rPr sz="1900">
                <a:solidFill>
                  <a:srgbClr val="222222"/>
                </a:solidFill>
              </a:rPr>
              <a:t>•  Early warning: minutes of notice at floor level protects equipment, archives, switchgear, and lives</a:t>
            </a:r>
          </a:p>
          <a:p>
            <a:pPr>
              <a:spcAft>
                <a:spcPts val="1000"/>
              </a:spcAft>
            </a:pPr>
            <a:r>
              <a:rPr sz="1900">
                <a:solidFill>
                  <a:srgbClr val="222222"/>
                </a:solidFill>
              </a:rPr>
              <a:t>•  Protecting mitigation infrastructure: battery storage, inverter rooms, and pump pits are flood-sensitive climate assets</a:t>
            </a:r>
          </a:p>
          <a:p>
            <a:pPr>
              <a:spcAft>
                <a:spcPts val="1000"/>
              </a:spcAft>
            </a:pPr>
            <a:r>
              <a:rPr sz="1900">
                <a:solidFill>
                  <a:srgbClr val="222222"/>
                </a:solidFill>
              </a:rPr>
              <a:t>•  Water conservation: overflow detection at tanks stops collected rainwater from being wasted</a:t>
            </a:r>
          </a:p>
          <a:p>
            <a:pPr>
              <a:spcAft>
                <a:spcPts val="1000"/>
              </a:spcAft>
            </a:pPr>
            <a:r>
              <a:rPr sz="1900">
                <a:solidFill>
                  <a:srgbClr val="222222"/>
                </a:solidFill>
              </a:rPr>
              <a:t>•  Measurement role: timestamped ingress events build a flood-frequency record for a building or campus</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13.8: Fusion Partners</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JSN-SR04T (ultrasonic level): trend and rate of rise; the trace PCB gives binary ground truth at a fixed height; two different physics, one conclusion</a:t>
            </a:r>
          </a:p>
          <a:p>
            <a:pPr>
              <a:spcAft>
                <a:spcPts val="1000"/>
              </a:spcAft>
            </a:pPr>
            <a:r>
              <a:rPr sz="1900">
                <a:solidFill>
                  <a:srgbClr val="222222"/>
                </a:solidFill>
              </a:rPr>
              <a:t>•  Reed switch (door state): was the flood path a door left open, or a pipe? Sequence of events disambiguates</a:t>
            </a:r>
          </a:p>
          <a:p>
            <a:pPr>
              <a:spcAft>
                <a:spcPts val="1000"/>
              </a:spcAft>
            </a:pPr>
            <a:r>
              <a:rPr sz="1900">
                <a:solidFill>
                  <a:srgbClr val="222222"/>
                </a:solidFill>
              </a:rPr>
              <a:t>•  SCT-013 (pump current): confirms the sump pump actually ran when water was detected; detects the failed-pump scenario</a:t>
            </a:r>
          </a:p>
          <a:p>
            <a:pPr>
              <a:spcAft>
                <a:spcPts val="1000"/>
              </a:spcAft>
            </a:pPr>
            <a:r>
              <a:rPr sz="1900">
                <a:solidFill>
                  <a:srgbClr val="222222"/>
                </a:solidFill>
              </a:rPr>
              <a:t>•  BME688 (humidity): rising humidity plus a wet event distinguishes slow seepage from sudden ingress</a:t>
            </a:r>
          </a:p>
          <a:p>
            <a:pPr>
              <a:spcAft>
                <a:spcPts val="1000"/>
              </a:spcAft>
            </a:pPr>
            <a:r>
              <a:rPr sz="1900">
                <a:solidFill>
                  <a:srgbClr val="222222"/>
                </a:solidFill>
              </a:rPr>
              <a:t>•  Agent inference via MCP: correlate wet events, level trends, pump current, and door state into a single narrated incident timeline</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13.9: Capstone C5: Is the Restricted Zone Secure Against More Than One Threat?</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Question: can one room be defended against intrusion, equipment failure, and flood with a coherent sensor story?</a:t>
            </a:r>
          </a:p>
          <a:p>
            <a:pPr>
              <a:spcAft>
                <a:spcPts val="1000"/>
              </a:spcAft>
            </a:pPr>
            <a:r>
              <a:rPr sz="1900">
                <a:solidFill>
                  <a:srgbClr val="222222"/>
                </a:solidFill>
              </a:rPr>
              <a:t>•  Sensors: reed (door), PIR (motion), VEML7700 (enclosure tamper), SCT-013 (equipment current), water level trace (flood)</a:t>
            </a:r>
          </a:p>
          <a:p>
            <a:pPr>
              <a:spcAft>
                <a:spcPts val="1000"/>
              </a:spcAft>
            </a:pPr>
            <a:r>
              <a:rPr sz="1900">
                <a:solidFill>
                  <a:srgbClr val="222222"/>
                </a:solidFill>
              </a:rPr>
              <a:t>•  The trace PCB adds the fourth threat model: water, independent of every other signal</a:t>
            </a:r>
          </a:p>
          <a:p>
            <a:pPr>
              <a:spcAft>
                <a:spcPts val="1000"/>
              </a:spcAft>
            </a:pPr>
            <a:r>
              <a:rPr sz="1900">
                <a:solidFill>
                  <a:srgbClr val="222222"/>
                </a:solidFill>
              </a:rPr>
              <a:t>•  Contradiction to resolve: a wet reading during mopping and cleaning versus genuine ingress; context distinguishes them</a:t>
            </a:r>
          </a:p>
          <a:p>
            <a:pPr>
              <a:spcAft>
                <a:spcPts val="1000"/>
              </a:spcAft>
            </a:pPr>
            <a:r>
              <a:rPr sz="1900">
                <a:solidFill>
                  <a:srgbClr val="222222"/>
                </a:solidFill>
              </a:rPr>
              <a:t>•  Agents assemble multi-sensor incident timelines and classify: intrusion, fault, flood, or false alarm</a:t>
            </a:r>
          </a:p>
          <a:p>
            <a:pPr>
              <a:spcAft>
                <a:spcPts val="1000"/>
              </a:spcAft>
            </a:pPr>
            <a:r>
              <a:rPr sz="1900">
                <a:solidFill>
                  <a:srgbClr val="222222"/>
                </a:solidFill>
              </a:rPr>
              <a:t>•  Decision at the end: an escalation policy that says who gets called, for what evidence, at what hour</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2286000"/>
            <a:ext cx="10698480" cy="1463040"/>
          </a:xfrm>
          <a:prstGeom prst="rect">
            <a:avLst/>
          </a:prstGeom>
          <a:noFill/>
        </p:spPr>
        <p:txBody>
          <a:bodyPr wrap="square">
            <a:spAutoFit/>
          </a:bodyPr>
          <a:lstStyle/>
          <a:p>
            <a:r>
              <a:rPr sz="3600" b="1">
                <a:solidFill>
                  <a:srgbClr val="1B5E8A"/>
                </a:solidFill>
              </a:rPr>
              <a:t>Sensor 14: AT42QT1010 - Proximity / Touch (SIM3, GPIO)</a:t>
            </a:r>
          </a:p>
        </p:txBody>
      </p:sp>
      <p:sp>
        <p:nvSpPr>
          <p:cNvPr id="3" name="TextBox 2"/>
          <p:cNvSpPr txBox="1"/>
          <p:nvPr/>
        </p:nvSpPr>
        <p:spPr>
          <a:xfrm>
            <a:off x="731520" y="3840480"/>
            <a:ext cx="10698480" cy="914400"/>
          </a:xfrm>
          <a:prstGeom prst="rect">
            <a:avLst/>
          </a:prstGeom>
          <a:noFill/>
        </p:spPr>
        <p:txBody>
          <a:bodyPr wrap="square">
            <a:spAutoFit/>
          </a:bodyPr>
          <a:lstStyle/>
          <a:p>
            <a:r>
              <a:rPr sz="1800">
                <a:solidFill>
                  <a:srgbClr val="222222"/>
                </a:solidFill>
              </a:rPr>
              <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14.1: AI-First: The Old Way and the New Way</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This sensor answers one tiny question: is something sitting here?</a:t>
            </a:r>
          </a:p>
          <a:p>
            <a:pPr>
              <a:spcAft>
                <a:spcPts val="1000"/>
              </a:spcAft>
            </a:pPr>
            <a:r>
              <a:rPr sz="1900">
                <a:solidFill>
                  <a:srgbClr val="222222"/>
                </a:solidFill>
              </a:rPr>
              <a:t>•  The old way: a person glances at the counter and just knows</a:t>
            </a:r>
          </a:p>
          <a:p>
            <a:pPr>
              <a:spcAft>
                <a:spcPts val="1000"/>
              </a:spcAft>
            </a:pPr>
            <a:r>
              <a:rPr sz="1900">
                <a:solidFill>
                  <a:srgbClr val="222222"/>
                </a:solidFill>
              </a:rPr>
              <a:t>•  An AI has no eyes; even obvious facts need a sensor to say them</a:t>
            </a:r>
          </a:p>
          <a:p>
            <a:pPr>
              <a:spcAft>
                <a:spcPts val="1000"/>
              </a:spcAft>
            </a:pPr>
            <a:r>
              <a:rPr sz="1900">
                <a:solidFill>
                  <a:srgbClr val="222222"/>
                </a:solidFill>
              </a:rPr>
              <a:t>•  The new way: one yes/no bit becomes the AI's sense of presence</a:t>
            </a:r>
          </a:p>
          <a:p>
            <a:pPr>
              <a:spcAft>
                <a:spcPts val="1000"/>
              </a:spcAft>
            </a:pPr>
            <a:r>
              <a:rPr sz="1900">
                <a:solidFill>
                  <a:srgbClr val="222222"/>
                </a:solidFill>
              </a:rPr>
              <a:t>•  With it, the AI notices every arrival and removal, all day long</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14.2: AI-First: What the AI Must Know About This Sensor</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An AI is only as good as what it knows about its senses</a:t>
            </a:r>
          </a:p>
          <a:p>
            <a:pPr>
              <a:spcAft>
                <a:spcPts val="1000"/>
              </a:spcAft>
            </a:pPr>
            <a:r>
              <a:rPr sz="1900">
                <a:solidFill>
                  <a:srgbClr val="222222"/>
                </a:solidFill>
              </a:rPr>
              <a:t>•  The sensor's ID card is refreshingly honest about limits</a:t>
            </a:r>
          </a:p>
          <a:p>
            <a:pPr>
              <a:spcAft>
                <a:spcPts val="1000"/>
              </a:spcAft>
            </a:pPr>
            <a:r>
              <a:rPr sz="1900">
                <a:solidFill>
                  <a:srgbClr val="222222"/>
                </a:solidFill>
              </a:rPr>
              <a:t>•  It senses within a few centimetres of its pad, never the whole room</a:t>
            </a:r>
          </a:p>
          <a:p>
            <a:pPr>
              <a:spcAft>
                <a:spcPts val="1000"/>
              </a:spcAft>
            </a:pPr>
            <a:r>
              <a:rPr sz="1900">
                <a:solidFill>
                  <a:srgbClr val="222222"/>
                </a:solidFill>
              </a:rPr>
              <a:t>•  If something sits still for hours, the chip can slowly stop noticing it</a:t>
            </a:r>
          </a:p>
          <a:p>
            <a:pPr>
              <a:spcAft>
                <a:spcPts val="1000"/>
              </a:spcAft>
            </a:pPr>
            <a:r>
              <a:rPr sz="1900">
                <a:solidFill>
                  <a:srgbClr val="222222"/>
                </a:solidFill>
              </a:rPr>
              <a:t>•  So the AI treats a never-ending "present" with mild suspicion</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14.3: The Agentic Pattern: Context Gates Meaning</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The pattern: one sensor decides when another sensor's data means anything</a:t>
            </a:r>
          </a:p>
          <a:p>
            <a:pPr>
              <a:spcAft>
                <a:spcPts val="1000"/>
              </a:spcAft>
            </a:pPr>
            <a:r>
              <a:rPr sz="1900">
                <a:solidFill>
                  <a:srgbClr val="222222"/>
                </a:solidFill>
              </a:rPr>
              <a:t>•  A fuel gauge only matters when there is a car attached</a:t>
            </a:r>
          </a:p>
          <a:p>
            <a:pPr>
              <a:spcAft>
                <a:spcPts val="1000"/>
              </a:spcAft>
            </a:pPr>
            <a:r>
              <a:rPr sz="1900">
                <a:solidFill>
                  <a:srgbClr val="222222"/>
                </a:solidFill>
              </a:rPr>
              <a:t>•  The heat lamp's temperature only matters while food sits under it</a:t>
            </a:r>
          </a:p>
          <a:p>
            <a:pPr>
              <a:spcAft>
                <a:spcPts val="1000"/>
              </a:spcAft>
            </a:pPr>
            <a:r>
              <a:rPr sz="1900">
                <a:solidFill>
                  <a:srgbClr val="222222"/>
                </a:solidFill>
              </a:rPr>
              <a:t>•  This chip's yes/no bit switches that meaning on and off</a:t>
            </a:r>
          </a:p>
          <a:p>
            <a:pPr>
              <a:spcAft>
                <a:spcPts val="1000"/>
              </a:spcAft>
            </a:pPr>
            <a:r>
              <a:rPr sz="1900">
                <a:solidFill>
                  <a:srgbClr val="222222"/>
                </a:solidFill>
              </a:rPr>
              <a:t>•  You choose the gate; the AI applies it, and false alarms disappear</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14.4: What It Is</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A single-channel capacitive touch and proximity IC from Microchip, using charge-transfer sensing</a:t>
            </a:r>
          </a:p>
          <a:p>
            <a:pPr>
              <a:spcAft>
                <a:spcPts val="1000"/>
              </a:spcAft>
            </a:pPr>
            <a:r>
              <a:rPr sz="1900">
                <a:solidFill>
                  <a:srgbClr val="222222"/>
                </a:solidFill>
              </a:rPr>
              <a:t>•  The electrode is whatever you attach: a copper pad, a short wire, a foil patch; the designer chooses its size and shape</a:t>
            </a:r>
          </a:p>
          <a:p>
            <a:pPr>
              <a:spcAft>
                <a:spcPts val="1000"/>
              </a:spcAft>
            </a:pPr>
            <a:r>
              <a:rPr sz="1900">
                <a:solidFill>
                  <a:srgbClr val="222222"/>
                </a:solidFill>
              </a:rPr>
              <a:t>•  The IC repeatedly charges the electrode and measures how much charge it takes; a nearby hand or object adds capacitance and changes the count</a:t>
            </a:r>
          </a:p>
          <a:p>
            <a:pPr>
              <a:spcAft>
                <a:spcPts val="1000"/>
              </a:spcAft>
            </a:pPr>
            <a:r>
              <a:rPr sz="1900">
                <a:solidFill>
                  <a:srgbClr val="222222"/>
                </a:solidFill>
              </a:rPr>
              <a:t>•  Detects conductive or dielectric objects within approximately 2-3 cm of the electrode</a:t>
            </a:r>
          </a:p>
          <a:p>
            <a:pPr>
              <a:spcAft>
                <a:spcPts val="1000"/>
              </a:spcAft>
            </a:pPr>
            <a:r>
              <a:rPr sz="1900">
                <a:solidFill>
                  <a:srgbClr val="222222"/>
                </a:solidFill>
              </a:rPr>
              <a:t>•  Output is one GPIO line: HIGH when detected, LOW when not; the same firmware path as the PIR</a:t>
            </a:r>
          </a:p>
          <a:p>
            <a:pPr>
              <a:spcAft>
                <a:spcPts val="1000"/>
              </a:spcAft>
            </a:pPr>
            <a:r>
              <a:rPr sz="1900">
                <a:solidFill>
                  <a:srgbClr val="222222"/>
                </a:solidFill>
              </a:rPr>
              <a:t>•  Honest scope: this is short-range proximity and touch, not room-scale presence detection</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14.5: What It Does in Practice</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Touch controls without moving parts: buttons behind sealed plastic panels, no membrane to wear out</a:t>
            </a:r>
          </a:p>
          <a:p>
            <a:pPr>
              <a:spcAft>
                <a:spcPts val="1000"/>
              </a:spcAft>
            </a:pPr>
            <a:r>
              <a:rPr sz="1900">
                <a:solidFill>
                  <a:srgbClr val="222222"/>
                </a:solidFill>
              </a:rPr>
              <a:t>•  Object presence: is the tray on the counter, the cup on the coaster, the tool in its slot?</a:t>
            </a:r>
          </a:p>
          <a:p>
            <a:pPr>
              <a:spcAft>
                <a:spcPts val="1000"/>
              </a:spcAft>
            </a:pPr>
            <a:r>
              <a:rPr sz="1900">
                <a:solidFill>
                  <a:srgbClr val="222222"/>
                </a:solidFill>
              </a:rPr>
              <a:t>•  Fill or content detection through non-metallic walls: liquid behind plastic, grain behind a bin wall</a:t>
            </a:r>
          </a:p>
          <a:p>
            <a:pPr>
              <a:spcAft>
                <a:spcPts val="1000"/>
              </a:spcAft>
            </a:pPr>
            <a:r>
              <a:rPr sz="1900">
                <a:solidFill>
                  <a:srgbClr val="222222"/>
                </a:solidFill>
              </a:rPr>
              <a:t>•  Human touch detection on handles, rails, and interactive exhibits</a:t>
            </a:r>
          </a:p>
          <a:p>
            <a:pPr>
              <a:spcAft>
                <a:spcPts val="1000"/>
              </a:spcAft>
            </a:pPr>
            <a:r>
              <a:rPr sz="1900">
                <a:solidFill>
                  <a:srgbClr val="222222"/>
                </a:solidFill>
              </a:rPr>
              <a:t>•  Appliance interfaces: the majority of modern touch-sensitive white goods use this exact principle</a:t>
            </a:r>
          </a:p>
          <a:p>
            <a:pPr>
              <a:spcAft>
                <a:spcPts val="1000"/>
              </a:spcAft>
            </a:pPr>
            <a:r>
              <a:rPr sz="1900">
                <a:solidFill>
                  <a:srgbClr val="222222"/>
                </a:solidFill>
              </a:rPr>
              <a:t>•  Costs approximately ₹80-150; the electrode itself is nearly free</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14.6: Technical Card</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Measurand: proximity/contact event (binary), objects within approximately 2-3 cm of electrode</a:t>
            </a:r>
          </a:p>
          <a:p>
            <a:pPr>
              <a:spcAft>
                <a:spcPts val="1000"/>
              </a:spcAft>
            </a:pPr>
            <a:r>
              <a:rPr sz="1900">
                <a:solidFill>
                  <a:srgbClr val="222222"/>
                </a:solidFill>
              </a:rPr>
              <a:t>•  Sensing: self-capacitance, charge-transfer method; sensitivity set by electrode geometry and a sampling capacitor</a:t>
            </a:r>
          </a:p>
          <a:p>
            <a:pPr>
              <a:spcAft>
                <a:spcPts val="1000"/>
              </a:spcAft>
            </a:pPr>
            <a:r>
              <a:rPr sz="1900">
                <a:solidFill>
                  <a:srgbClr val="222222"/>
                </a:solidFill>
              </a:rPr>
              <a:t>•  Supply: 1.8-5.5 V; approximately 3 µA in low-power mode, sub-millisecond response in fast mode</a:t>
            </a:r>
          </a:p>
          <a:p>
            <a:pPr>
              <a:spcAft>
                <a:spcPts val="1000"/>
              </a:spcAft>
            </a:pPr>
            <a:r>
              <a:rPr sz="1900">
                <a:solidFill>
                  <a:srgbClr val="222222"/>
                </a:solidFill>
              </a:rPr>
              <a:t>•  Original package: SOT23-6, approximately 3 x 3 mm; electrode is external, designer-defined</a:t>
            </a:r>
          </a:p>
          <a:p>
            <a:pPr>
              <a:spcAft>
                <a:spcPts val="1000"/>
              </a:spcAft>
            </a:pPr>
            <a:r>
              <a:rPr sz="1900">
                <a:solidFill>
                  <a:srgbClr val="222222"/>
                </a:solidFill>
              </a:rPr>
              <a:t>•  Output: single GPIO, HIGH on detect; recalibrates itself continuously against slow environmental drift</a:t>
            </a:r>
          </a:p>
          <a:p>
            <a:pPr>
              <a:spcAft>
                <a:spcPts val="1000"/>
              </a:spcAft>
            </a:pPr>
            <a:r>
              <a:rPr sz="1900">
                <a:solidFill>
                  <a:srgbClr val="222222"/>
                </a:solidFill>
              </a:rPr>
              <a:t>•  Packaged sensor dimensions: [PLACEHOLDER]</a:t>
            </a:r>
          </a:p>
          <a:p>
            <a:pPr>
              <a:spcAft>
                <a:spcPts val="1000"/>
              </a:spcAft>
            </a:pPr>
            <a:r>
              <a:rPr sz="1900">
                <a:solidFill>
                  <a:srgbClr val="222222"/>
                </a:solidFill>
              </a:rPr>
              <a:t>•  Interface/connector details: [PLACEHOLDER: keyed harness part number]</a:t>
            </a:r>
          </a:p>
          <a:p>
            <a:pPr>
              <a:spcAft>
                <a:spcPts val="1000"/>
              </a:spcAft>
            </a:pPr>
            <a:r>
              <a:rPr sz="1900">
                <a:solidFill>
                  <a:srgbClr val="222222"/>
                </a:solidFill>
              </a:rPr>
              <a:t>•  SIM assignment: SIM3, GPIO event input (identical path to PIR and reed switch)</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14.7: Climate Change Applications</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Actuation gating: confirm the object is present before spending energy on it; a heat lamp warming an empty counter is pure waste</a:t>
            </a:r>
          </a:p>
          <a:p>
            <a:pPr>
              <a:spcAft>
                <a:spcPts val="1000"/>
              </a:spcAft>
            </a:pPr>
            <a:r>
              <a:rPr sz="1900">
                <a:solidFill>
                  <a:srgbClr val="222222"/>
                </a:solidFill>
              </a:rPr>
              <a:t>•  Every false alert an agent chases has an energy and attention cost; presence gating cuts false positives at the source</a:t>
            </a:r>
          </a:p>
          <a:p>
            <a:pPr>
              <a:spcAft>
                <a:spcPts val="1000"/>
              </a:spcAft>
            </a:pPr>
            <a:r>
              <a:rPr sz="1900">
                <a:solidFill>
                  <a:srgbClr val="222222"/>
                </a:solidFill>
              </a:rPr>
              <a:t>•  Sealed touch controls survive outdoor and field deployments: no perforated enclosures, longer equipment life, less e-waste</a:t>
            </a:r>
          </a:p>
          <a:p>
            <a:pPr>
              <a:spcAft>
                <a:spcPts val="1000"/>
              </a:spcAft>
            </a:pPr>
            <a:r>
              <a:rPr sz="1900">
                <a:solidFill>
                  <a:srgbClr val="222222"/>
                </a:solidFill>
              </a:rPr>
              <a:t>•  Through-wall liquid sensing supports water monitoring with zero contamination path</a:t>
            </a:r>
          </a:p>
          <a:p>
            <a:pPr>
              <a:spcAft>
                <a:spcPts val="1000"/>
              </a:spcAft>
            </a:pPr>
            <a:r>
              <a:rPr sz="1900">
                <a:solidFill>
                  <a:srgbClr val="222222"/>
                </a:solidFill>
              </a:rPr>
              <a:t>•  Measurement role: usage counting (touches, placements) quantifies how shared resources are actually used</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14.8: Fusion Partners</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DS18B20: tray-present AND temperature is the meaningful HACCP record; temperature of an empty counter is noise</a:t>
            </a:r>
          </a:p>
          <a:p>
            <a:pPr>
              <a:spcAft>
                <a:spcPts val="1000"/>
              </a:spcAft>
            </a:pPr>
            <a:r>
              <a:rPr sz="1900">
                <a:solidFill>
                  <a:srgbClr val="222222"/>
                </a:solidFill>
              </a:rPr>
              <a:t>•  JSN-SR04T: queue depth plus tray presence separates people waiting from food being served</a:t>
            </a:r>
          </a:p>
          <a:p>
            <a:pPr>
              <a:spcAft>
                <a:spcPts val="1000"/>
              </a:spcAft>
            </a:pPr>
            <a:r>
              <a:rPr sz="1900">
                <a:solidFill>
                  <a:srgbClr val="222222"/>
                </a:solidFill>
              </a:rPr>
              <a:t>•  PIR: person versus object disambiguation; PIR sees the human, the pad sees the tray</a:t>
            </a:r>
          </a:p>
          <a:p>
            <a:pPr>
              <a:spcAft>
                <a:spcPts val="1000"/>
              </a:spcAft>
            </a:pPr>
            <a:r>
              <a:rPr sz="1900">
                <a:solidFill>
                  <a:srgbClr val="222222"/>
                </a:solidFill>
              </a:rPr>
              <a:t>•  Reed switch: same GPIO family; together they give door, lid, and placement events on one SIM3</a:t>
            </a:r>
          </a:p>
          <a:p>
            <a:pPr>
              <a:spcAft>
                <a:spcPts val="1000"/>
              </a:spcAft>
            </a:pPr>
            <a:r>
              <a:rPr sz="1900">
                <a:solidFill>
                  <a:srgbClr val="222222"/>
                </a:solidFill>
              </a:rPr>
              <a:t>•  Agent inference via MCP: validate_reading gates temperature alerts on presence; capture_experiment aligns service events with queue dynamics</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14.9: Capstone C4: Is the Canteen Safe, and How Long Is the Queue?</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Question: is food held at safe temperatures whenever food is actually present, and does service keep up with the queue?</a:t>
            </a:r>
          </a:p>
          <a:p>
            <a:pPr>
              <a:spcAft>
                <a:spcPts val="1000"/>
              </a:spcAft>
            </a:pPr>
            <a:r>
              <a:rPr sz="1900">
                <a:solidFill>
                  <a:srgbClr val="222222"/>
                </a:solidFill>
              </a:rPr>
              <a:t>•  Sensors: DS18B20 (holding temperature), AT42QT1010 (tray presence), reed (cold-store door), JSN-SR04T (queue depth), SPL (crowd noise)</a:t>
            </a:r>
          </a:p>
          <a:p>
            <a:pPr>
              <a:spcAft>
                <a:spcPts val="1000"/>
              </a:spcAft>
            </a:pPr>
            <a:r>
              <a:rPr sz="1900">
                <a:solidFill>
                  <a:srgbClr val="222222"/>
                </a:solidFill>
              </a:rPr>
              <a:t>•  The AT42QT1010's role: gate every hot-side alert and every HACCP log entry on tray presence</a:t>
            </a:r>
          </a:p>
          <a:p>
            <a:pPr>
              <a:spcAft>
                <a:spcPts val="1000"/>
              </a:spcAft>
            </a:pPr>
            <a:r>
              <a:rPr sz="1900">
                <a:solidFill>
                  <a:srgbClr val="222222"/>
                </a:solidFill>
              </a:rPr>
              <a:t>•  Contradiction to resolve: temperature alarms with no food present, and quiet queues that are long versus noisy crowds that are short</a:t>
            </a:r>
          </a:p>
          <a:p>
            <a:pPr>
              <a:spcAft>
                <a:spcPts val="1000"/>
              </a:spcAft>
            </a:pPr>
            <a:r>
              <a:rPr sz="1900">
                <a:solidFill>
                  <a:srgbClr val="222222"/>
                </a:solidFill>
              </a:rPr>
              <a:t>•  Agents produce the daily food safety report and the service-timing analysis from one aligned dataset</a:t>
            </a:r>
          </a:p>
          <a:p>
            <a:pPr>
              <a:spcAft>
                <a:spcPts val="1000"/>
              </a:spcAft>
            </a:pPr>
            <a:r>
              <a:rPr sz="1900">
                <a:solidFill>
                  <a:srgbClr val="222222"/>
                </a:solidFill>
              </a:rPr>
              <a:t>•  Decision at the end: a staffing and holding-temperature policy backed by measured evidence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