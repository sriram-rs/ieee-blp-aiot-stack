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last time you looked at a thermometer. You read the number, you decided, maybe you switched the fan on. That is the old way: a person reads a number, a person decides. This course flips it. An AI watches this temperature for you, all day and all night, and it can act on what it sees: switch the fan, raise an alert, or simply make a note. This is not the AI as a helper you ask questions when you are stuck. The AI is the one on duty. It can look up what this sensor is, ask it questions, and double-check its answers, continuously, without getting bored at 3 am. And that changes your role. You are no longer the person who reads the display. You are the person who designs how the watcher thinks. Every deck in this course starts with this same flip, and then asks what this particular sensor contributes to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question that decides whether your AI is wise or foolish: what does it know about its own senses? Imagine wearing someone else's glasses without knowing their power. You would see something, and you would trust it far too much. An AI reading a sensor it knows nothing about is in exactly that position. So in this kit, every sensor carries a sensor card: the sensor's ID card, which the AI reads before believing anything. For this thermometer the card says two humble, powerful things. First, trust me between minus 10 and plus 85 degrees; outside that, doubt me. Second, I am honest to about half a degree, and no better. That second line matters daily. When the reading drifts from 25.0 to 25.3, an AI that knows the card shrugs: that could be nothing. An AI without the card would announce a warming trend. Same numbers, completely different wisdom. The difference is what it was told about its senses.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sensor in this course teaches one habit of agentic thinking, and this is the first: predict, then measure. It is the same fun as guessing a cricket score before you check your phone. You commit to a number first, then the truth arrives and grades you. Our AI works the same way. Before the next reading comes in, it says what it expects: this room should be about 26 degrees at 3 pm. Then the sensor answers. If the AI was right, its picture of the room is good. If it was wrong, that is not failure, that is the interesting part: something changed that it did not know about, a window, a crowd, a faulty sensor. And because the card says half a degree of error is normal, the AI never panics over a 0.3 degree wiggle. Notice the split of roles. You design the thinking: what to predict, and what being wrong should trigger. The AI does the watching, every minute, without getting bored. Now let us meet the little chip this all runs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the simplest useful question you can ask the physical world? "How warm is it here?" The DS18B20 answers that question in the most convenient form possible: as a finished digital number. Inside the chip, a silicon junction produces a voltage that changes with temperature in a highly predictable way. The chip measures that voltage with its own analog-to-digital converter, applies factory calibration, and hands you a temperature reading in degrees Celsius. You never see a raw voltage, and you never apply a conversion formula, which removes an entire class of student errors before they can happen. Communication happens over a single data line using the One-Wire protocol, so the whole sensor needs only three wires. Every DS18B20 also carries a unique 64-bit serial number, which means several sensors can share the same wire and still be told apart. That one feature, unique addressing on a shared bus, is what makes multi-point temperature mapping possible later in this deck. In the kit, the raw chip lives inside a packaged enclosure with a keyed connector, and it pairs with Sensor Interface Module SIM1, the One-Wire variant. The SIM powers the sensor, runs the bus as master, decodes the bit stream, and broadcasts the temperature as a BLE advertisement that any gateway in range can hear.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would you actually meet this sensor? Almost everywhere temperature matters but extreme precision does not. The DS18B20 is a workhorse of cold chain monitoring: refrigerators, freezers, cold rooms, and refrigerated trucks all use sensors of exactly this class to prove that food and medicine stayed within safe limits. It appears in homes, hospitals, server rooms, and stadiums, and a waterproof variant of the same chip lets you immerse it in non-corrosive liquids, so aquariums, water heaters, and fermentation tanks are on the list too. Just as important is knowing where it stops. The accuracy is half a degree, and the ceiling is 125 degrees Celsius. If you need a tenth of a degree in an industrial process, the standard answer is the Pt-100, a platinum resistance detector with roughly ±0.15 degree accuracy and a range up to about 600 degrees. If you need to look inside a furnace at over a thousand degrees, you need a thermocouple. Choosing among them is an engineering decision driven by range, accuracy, environment, mechanical constraints, long-term stability, and cost. This kit deliberately gives you the affordable, digital, good-enough sensor, because for climate and building work, half a degree resolved reliably at many points beats a tenth of a degree at one expensive 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machine-readable heart of this sensor, the same facts that live in its sensor card on the gateway. The measurand is temperature, over a full range of minus 55 to plus 125 degrees Celsius. Accuracy is plus or minus half a degree, but only between minus 10 and plus 85 degrees: outside that band the error widens, and the sensor card carries that accuracy-versus-range function so an agent reasoning about your data knows exactly how much to trust a reading near the edges. So a reported 25.0 means the true value lies between 24.5 and 25.5. Resolution is configurable from 9 to 12 bits; at 12 bits the step size is one sixteenth of a degree, which is finer than the accuracy, a distinction students should internalise: resolution is not accuracy. The raw chip ships in a TO-92 package about the size of a small transistor, and a waterproof stainless-steel probe variant exists for liquids. The output is fully digital over One-Wire, and the bus supports multiple sensors on the same line. The final packaged sensor dimensions and the keyed connector pinout are placeholders here and will be supplied with the production packaging documents. On the kit side, this sensor connects to SIM1, the One-Wire Sensor Interface Module, which acts as bus master and broadcasts each reading over BLE with a sequence counter and a monotonic tick.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a fifty-rupee-class thermometer matter for climate change? Because temperature is the anchor variable of the entire subject, and official weather stations average over kilometres while people live in streets, rooftops, and rooms. With several DS18B20 sensors a student can map an urban heat island directly: measure a shaded park, a paved courtyard, and a tin-roofed room at the same hour and see differences of several degrees that a city-level forecast hides. Because the SIM runs from a power bank, these campaigns can run for days in places with no mains power. On the mitigation side, temperature is how you catch energy waste: a classroom cooled to 19 degrees when 24 would do, or an air conditioner that burns power while barely lowering the room temperature, both show up as measured facts once you log inside and outside temperatures continuously. On the adaptation side, heat stress is already a public-health problem, and continuous measurement in classrooms, clinics, and homes tells you when a space becomes unsafe, not just uncomfortable. And in the cold chain, temperature logging prevents spoilage of food and vaccines, which is climate action twice over: wasted food is wasted embedded energy and methane in landfill. Every other sensor in this kit will, at some point, be interpreted alongside a temperature trace.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temperature number alone describes; paired with the right second sensor it explains. Pair the DS18B20 with the SCT-013 current clamp and you can ask the question every household wonders about: is my air conditioner actually efficient? The temperature pair, one sensor inside and one outside, tells you the cooling delivered; the current clamp tells you the energy spent; the ratio is a measured efficiency, not a nameplate claim. Pair it with the reed switch on a refrigerator door and a rising temperature stops being a mystery: temperature rising with the door open means someone left it open; rising with the door closed means the compressor or the power has failed, and those two situations demand completely different actions. Pair it with the SCD41 and you can separate "this room is hot" from "this room is hot because it is packed with people," which changes what the HVAC should do. And because One-Wire supports daisy-chaining, two or three DS18B20s on one SIM give you gradients across a single space. The agent is what makes fusion practical for a non-technical student: through the MCP server it discovers both sensors, pulls time-aligned series reconciled on the monotonic tick, and reasons across them. You ask the question in plain language; the model does the joining.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that anchors this sensor is capstone C1: is this room healthy, and is the HVAC earning its energy bill? You instrument one real room. A DS18B20 pair measures indoor and outdoor temperature; the SCD41 measures CO2; the PIR watches for motion; the SCT-013 clamps the HVAC supply; a reed switch watches the door or window. The experiment begins with capture_experiment, which records all streams under one dataset handle. The contradiction you must resolve is built in: the room can read a comfortable 24 degrees while CO2 climbs past 1400 ppm, meaning the air conditioner is recirculating stale air. Comfort and health are different claims, and the data will force you to separate them. There is a second contradiction waiting: the energy log will show the compressor running in an empty room, because schedules are not occupancy. The deliverable is a decision, not a chart: a deterministic rule, authored with the model at design time and deployed through deploy_rule with human approval, that sets back cooling when the room empties and flags ventilation when CO2 crosses threshold. The agent orchestrates the analysis: it discovers the sensors, aligns the series on tick_ms, quantifies the waste in measured kilowatt-hours, and drafts the rule. You judge it, correct it, and commit it. That final step, human judgment over model output, is the habit this course exists to build.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01: DS18B20 - Temperature (SIM1, One-Wire)</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AIoT and Climate Change (AI-first edition). Speaker notes carry the full narration.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01.1: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old way: you read the thermometer and decide</a:t>
            </a:r>
          </a:p>
          <a:p>
            <a:pPr>
              <a:spcAft>
                <a:spcPts val="1000"/>
              </a:spcAft>
            </a:pPr>
            <a:r>
              <a:rPr sz="1900">
                <a:solidFill>
                  <a:srgbClr val="222222"/>
                </a:solidFill>
              </a:rPr>
              <a:t>•  The new way: an AI watches the temperature for you, continuously</a:t>
            </a:r>
          </a:p>
          <a:p>
            <a:pPr>
              <a:spcAft>
                <a:spcPts val="1000"/>
              </a:spcAft>
            </a:pPr>
            <a:r>
              <a:rPr sz="1900">
                <a:solidFill>
                  <a:srgbClr val="222222"/>
                </a:solidFill>
              </a:rPr>
              <a:t>•  The AI can look up this sensor, question it, and double-check it</a:t>
            </a:r>
          </a:p>
          <a:p>
            <a:pPr>
              <a:spcAft>
                <a:spcPts val="1000"/>
              </a:spcAft>
            </a:pPr>
            <a:r>
              <a:rPr sz="1900">
                <a:solidFill>
                  <a:srgbClr val="222222"/>
                </a:solidFill>
              </a:rPr>
              <a:t>•  It never sleeps, never forgets, never gets bored</a:t>
            </a:r>
          </a:p>
          <a:p>
            <a:pPr>
              <a:spcAft>
                <a:spcPts val="1000"/>
              </a:spcAft>
            </a:pPr>
            <a:r>
              <a:rPr sz="1900">
                <a:solidFill>
                  <a:srgbClr val="222222"/>
                </a:solidFill>
              </a:rPr>
              <a:t>•  Your role changes: from reader of numbers to designer of thinking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01.2: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AI is only as good as what it knows about its senses</a:t>
            </a:r>
          </a:p>
          <a:p>
            <a:pPr>
              <a:spcAft>
                <a:spcPts val="1000"/>
              </a:spcAft>
            </a:pPr>
            <a:r>
              <a:rPr sz="1900">
                <a:solidFill>
                  <a:srgbClr val="222222"/>
                </a:solidFill>
              </a:rPr>
              <a:t>•  Every sensor carries a sensor card: its ID card, which the AI reads</a:t>
            </a:r>
          </a:p>
          <a:p>
            <a:pPr>
              <a:spcAft>
                <a:spcPts val="1000"/>
              </a:spcAft>
            </a:pPr>
            <a:r>
              <a:rPr sz="1900">
                <a:solidFill>
                  <a:srgbClr val="222222"/>
                </a:solidFill>
              </a:rPr>
              <a:t>•  This card says: trust me between -10 and +85 degrees</a:t>
            </a:r>
          </a:p>
          <a:p>
            <a:pPr>
              <a:spcAft>
                <a:spcPts val="1000"/>
              </a:spcAft>
            </a:pPr>
            <a:r>
              <a:rPr sz="1900">
                <a:solidFill>
                  <a:srgbClr val="222222"/>
                </a:solidFill>
              </a:rPr>
              <a:t>•  And: I am honest to about half a degree, no more</a:t>
            </a:r>
          </a:p>
          <a:p>
            <a:pPr>
              <a:spcAft>
                <a:spcPts val="1000"/>
              </a:spcAft>
            </a:pPr>
            <a:r>
              <a:rPr sz="1900">
                <a:solidFill>
                  <a:srgbClr val="222222"/>
                </a:solidFill>
              </a:rPr>
              <a:t>•  So a 0.3 degree change might mean nothing at 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01.3: The Agentic Pattern: Predict, Then Measure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Pattern one: guess first, then look</a:t>
            </a:r>
          </a:p>
          <a:p>
            <a:pPr>
              <a:spcAft>
                <a:spcPts val="1000"/>
              </a:spcAft>
            </a:pPr>
            <a:r>
              <a:rPr sz="1900">
                <a:solidFill>
                  <a:srgbClr val="222222"/>
                </a:solidFill>
              </a:rPr>
              <a:t>•  Like calling a cricket score before checking your phone</a:t>
            </a:r>
          </a:p>
          <a:p>
            <a:pPr>
              <a:spcAft>
                <a:spcPts val="1000"/>
              </a:spcAft>
            </a:pPr>
            <a:r>
              <a:rPr sz="1900">
                <a:solidFill>
                  <a:srgbClr val="222222"/>
                </a:solidFill>
              </a:rPr>
              <a:t>•  The AI predicts the next reading; the sensor grades it</a:t>
            </a:r>
          </a:p>
          <a:p>
            <a:pPr>
              <a:spcAft>
                <a:spcPts val="1000"/>
              </a:spcAft>
            </a:pPr>
            <a:r>
              <a:rPr sz="1900">
                <a:solidFill>
                  <a:srgbClr val="222222"/>
                </a:solidFill>
              </a:rPr>
              <a:t>•  Being wrong is the interesting part: something changed</a:t>
            </a:r>
          </a:p>
          <a:p>
            <a:pPr>
              <a:spcAft>
                <a:spcPts val="1000"/>
              </a:spcAft>
            </a:pPr>
            <a:r>
              <a:rPr sz="1900">
                <a:solidFill>
                  <a:srgbClr val="222222"/>
                </a:solidFill>
              </a:rPr>
              <a:t>•  You design the thinking; the AI does the watching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01.4: What Is the DS18B20?</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 digital thermometer on a chip: senses temperature, reports a number, not a voltage</a:t>
            </a:r>
          </a:p>
          <a:p>
            <a:pPr>
              <a:spcAft>
                <a:spcPts val="1000"/>
              </a:spcAft>
            </a:pPr>
            <a:r>
              <a:rPr sz="1900">
                <a:solidFill>
                  <a:srgbClr val="222222"/>
                </a:solidFill>
              </a:rPr>
              <a:t>•  Silicon bandgap principle: a transistor junction's voltage shifts predictably with temperature</a:t>
            </a:r>
          </a:p>
          <a:p>
            <a:pPr>
              <a:spcAft>
                <a:spcPts val="1000"/>
              </a:spcAft>
            </a:pPr>
            <a:r>
              <a:rPr sz="1900">
                <a:solidFill>
                  <a:srgbClr val="222222"/>
                </a:solidFill>
              </a:rPr>
              <a:t>•  On-chip ADC converts that shift to a digital value; no conversion left for the user</a:t>
            </a:r>
          </a:p>
          <a:p>
            <a:pPr>
              <a:spcAft>
                <a:spcPts val="1000"/>
              </a:spcAft>
            </a:pPr>
            <a:r>
              <a:rPr sz="1900">
                <a:solidFill>
                  <a:srgbClr val="222222"/>
                </a:solidFill>
              </a:rPr>
              <a:t>•  Talks over a single data wire (One-Wire protocol) plus power and ground</a:t>
            </a:r>
          </a:p>
          <a:p>
            <a:pPr>
              <a:spcAft>
                <a:spcPts val="1000"/>
              </a:spcAft>
            </a:pPr>
            <a:r>
              <a:rPr sz="1900">
                <a:solidFill>
                  <a:srgbClr val="222222"/>
                </a:solidFill>
              </a:rPr>
              <a:t>•  Each chip carries a unique 64-bit serial number burned in at the factory</a:t>
            </a:r>
          </a:p>
          <a:p>
            <a:pPr>
              <a:spcAft>
                <a:spcPts val="1000"/>
              </a:spcAft>
            </a:pPr>
            <a:r>
              <a:rPr sz="1900">
                <a:solidFill>
                  <a:srgbClr val="222222"/>
                </a:solidFill>
              </a:rPr>
              <a:t>•  In this kit: packaged sensor PSENS-001 on SIM1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01.5: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One of the most widely deployed temperature sensors in the world</a:t>
            </a:r>
          </a:p>
          <a:p>
            <a:pPr>
              <a:spcAft>
                <a:spcPts val="1000"/>
              </a:spcAft>
            </a:pPr>
            <a:r>
              <a:rPr sz="1900">
                <a:solidFill>
                  <a:srgbClr val="222222"/>
                </a:solidFill>
              </a:rPr>
              <a:t>•  Cold chain: refrigerators, freezers, cold rooms, refrigerated trucks</a:t>
            </a:r>
          </a:p>
          <a:p>
            <a:pPr>
              <a:spcAft>
                <a:spcPts val="1000"/>
              </a:spcAft>
            </a:pPr>
            <a:r>
              <a:rPr sz="1900">
                <a:solidFill>
                  <a:srgbClr val="222222"/>
                </a:solidFill>
              </a:rPr>
              <a:t>•  Buildings: homes, hospitals, server rooms, stadiums</a:t>
            </a:r>
          </a:p>
          <a:p>
            <a:pPr>
              <a:spcAft>
                <a:spcPts val="1000"/>
              </a:spcAft>
            </a:pPr>
            <a:r>
              <a:rPr sz="1900">
                <a:solidFill>
                  <a:srgbClr val="222222"/>
                </a:solidFill>
              </a:rPr>
              <a:t>•  Waterproof variant measures non-corrosive liquids directly</a:t>
            </a:r>
          </a:p>
          <a:p>
            <a:pPr>
              <a:spcAft>
                <a:spcPts val="1000"/>
              </a:spcAft>
            </a:pPr>
            <a:r>
              <a:rPr sz="1900">
                <a:solidFill>
                  <a:srgbClr val="222222"/>
                </a:solidFill>
              </a:rPr>
              <a:t>•  Where it stops: ±0.5 °C accuracy and +125 °C ceiling; Pt-100 for precision, thermocouple for furnaces</a:t>
            </a:r>
          </a:p>
          <a:p>
            <a:pPr>
              <a:spcAft>
                <a:spcPts val="1000"/>
              </a:spcAft>
            </a:pPr>
            <a:r>
              <a:rPr sz="1900">
                <a:solidFill>
                  <a:srgbClr val="222222"/>
                </a:solidFill>
              </a:rPr>
              <a:t>•  Selection criteria: range, accuracy, environment, stability, cost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01.6: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temperature; range -55 °C to +125 °C</a:t>
            </a:r>
          </a:p>
          <a:p>
            <a:pPr>
              <a:spcAft>
                <a:spcPts val="1000"/>
              </a:spcAft>
            </a:pPr>
            <a:r>
              <a:rPr sz="1900">
                <a:solidFill>
                  <a:srgbClr val="222222"/>
                </a:solidFill>
              </a:rPr>
              <a:t>•  Accuracy: ±0.5 °C from -10 °C to +85 °C (wider error outside this band)</a:t>
            </a:r>
          </a:p>
          <a:p>
            <a:pPr>
              <a:spcAft>
                <a:spcPts val="1000"/>
              </a:spcAft>
            </a:pPr>
            <a:r>
              <a:rPr sz="1900">
                <a:solidFill>
                  <a:srgbClr val="222222"/>
                </a:solidFill>
              </a:rPr>
              <a:t>•  Resolution: 9 to 12 bit, configurable; 0.0625 °C at 12 bit</a:t>
            </a:r>
          </a:p>
          <a:p>
            <a:pPr>
              <a:spcAft>
                <a:spcPts val="1000"/>
              </a:spcAft>
            </a:pPr>
            <a:r>
              <a:rPr sz="1900">
                <a:solidFill>
                  <a:srgbClr val="222222"/>
                </a:solidFill>
              </a:rPr>
              <a:t>•  Original package: TO-92 three-pin, or waterproof stainless probe variant</a:t>
            </a:r>
          </a:p>
          <a:p>
            <a:pPr>
              <a:spcAft>
                <a:spcPts val="1000"/>
              </a:spcAft>
            </a:pPr>
            <a:r>
              <a:rPr sz="1900">
                <a:solidFill>
                  <a:srgbClr val="222222"/>
                </a:solidFill>
              </a:rPr>
              <a:t>•  Output: digital, One-Wire protocol; supports parasite power and daisy-chaining</a:t>
            </a:r>
          </a:p>
          <a:p>
            <a:pPr>
              <a:spcAft>
                <a:spcPts val="1000"/>
              </a:spcAft>
            </a:pPr>
            <a:r>
              <a:rPr sz="1900">
                <a:solidFill>
                  <a:srgbClr val="222222"/>
                </a:solidFill>
              </a:rPr>
              <a:t>•  Packaged sensor dimensions: [PLACEHOLDER]</a:t>
            </a:r>
          </a:p>
          <a:p>
            <a:pPr>
              <a:spcAft>
                <a:spcPts val="1000"/>
              </a:spcAft>
            </a:pPr>
            <a:r>
              <a:rPr sz="1900">
                <a:solidFill>
                  <a:srgbClr val="222222"/>
                </a:solidFill>
              </a:rPr>
              <a:t>•  Interface/connector details: [PLACEHOLDER: keyed harness, WHAN part number]; SIM1, One-Wire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01.7: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Measurement: hyperlocal temperature mapping; urban heat islands street by street</a:t>
            </a:r>
          </a:p>
          <a:p>
            <a:pPr>
              <a:spcAft>
                <a:spcPts val="1000"/>
              </a:spcAft>
            </a:pPr>
            <a:r>
              <a:rPr sz="1900">
                <a:solidFill>
                  <a:srgbClr val="222222"/>
                </a:solidFill>
              </a:rPr>
              <a:t>•  Long-duration outdoor campaigns on power-bank operation</a:t>
            </a:r>
          </a:p>
          <a:p>
            <a:pPr>
              <a:spcAft>
                <a:spcPts val="1000"/>
              </a:spcAft>
            </a:pPr>
            <a:r>
              <a:rPr sz="1900">
                <a:solidFill>
                  <a:srgbClr val="222222"/>
                </a:solidFill>
              </a:rPr>
              <a:t>•  Mitigation: quantify HVAC waste; measure delivered cooling against energy burned</a:t>
            </a:r>
          </a:p>
          <a:p>
            <a:pPr>
              <a:spcAft>
                <a:spcPts val="1000"/>
              </a:spcAft>
            </a:pPr>
            <a:r>
              <a:rPr sz="1900">
                <a:solidFill>
                  <a:srgbClr val="222222"/>
                </a:solidFill>
              </a:rPr>
              <a:t>•  Adaptation: heat-stress monitoring in classrooms, clinics, and dwellings</a:t>
            </a:r>
          </a:p>
          <a:p>
            <a:pPr>
              <a:spcAft>
                <a:spcPts val="1000"/>
              </a:spcAft>
            </a:pPr>
            <a:r>
              <a:rPr sz="1900">
                <a:solidFill>
                  <a:srgbClr val="222222"/>
                </a:solidFill>
              </a:rPr>
              <a:t>•  Cold chain integrity for food and vaccines, cutting spoilage-driven waste</a:t>
            </a:r>
          </a:p>
          <a:p>
            <a:pPr>
              <a:spcAft>
                <a:spcPts val="1000"/>
              </a:spcAft>
            </a:pPr>
            <a:r>
              <a:rPr sz="1900">
                <a:solidFill>
                  <a:srgbClr val="222222"/>
                </a:solidFill>
              </a:rPr>
              <a:t>•  Anchor variable: nearly every climate dataset starts with temperature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01.8: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SCT-013 current sensor: temperature drop versus energy burned equals measured AC efficiency</a:t>
            </a:r>
          </a:p>
          <a:p>
            <a:pPr>
              <a:spcAft>
                <a:spcPts val="1000"/>
              </a:spcAft>
            </a:pPr>
            <a:r>
              <a:rPr sz="1900">
                <a:solidFill>
                  <a:srgbClr val="222222"/>
                </a:solidFill>
              </a:rPr>
              <a:t>•  Reed switch: explains why cold-chain temperature rose (door open versus compressor fault)</a:t>
            </a:r>
          </a:p>
          <a:p>
            <a:pPr>
              <a:spcAft>
                <a:spcPts val="1000"/>
              </a:spcAft>
            </a:pPr>
            <a:r>
              <a:rPr sz="1900">
                <a:solidFill>
                  <a:srgbClr val="222222"/>
                </a:solidFill>
              </a:rPr>
              <a:t>•  SCD41: separates thermal comfort from air quality; occupancy context for temperature swings</a:t>
            </a:r>
          </a:p>
          <a:p>
            <a:pPr>
              <a:spcAft>
                <a:spcPts val="1000"/>
              </a:spcAft>
            </a:pPr>
            <a:r>
              <a:rPr sz="1900">
                <a:solidFill>
                  <a:srgbClr val="222222"/>
                </a:solidFill>
              </a:rPr>
              <a:t>•  Two DS18B20s (daisy-chained): inside/outside pairs, gradients, delivered cooling</a:t>
            </a:r>
          </a:p>
          <a:p>
            <a:pPr>
              <a:spcAft>
                <a:spcPts val="1000"/>
              </a:spcAft>
            </a:pPr>
            <a:r>
              <a:rPr sz="1900">
                <a:solidFill>
                  <a:srgbClr val="222222"/>
                </a:solidFill>
              </a:rPr>
              <a:t>•  Agent role: MCP tools align the series on tick_ms and reason across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01.9: Capstone C1</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is this room healthy, and is the HVAC earning its energy bill?</a:t>
            </a:r>
          </a:p>
          <a:p>
            <a:pPr>
              <a:spcAft>
                <a:spcPts val="1000"/>
              </a:spcAft>
            </a:pPr>
            <a:r>
              <a:rPr sz="1900">
                <a:solidFill>
                  <a:srgbClr val="222222"/>
                </a:solidFill>
              </a:rPr>
              <a:t>•  Sensors: DS18B20 (in/out pair), SCD41, PIR, SCT-013, reed switch</a:t>
            </a:r>
          </a:p>
          <a:p>
            <a:pPr>
              <a:spcAft>
                <a:spcPts val="1000"/>
              </a:spcAft>
            </a:pPr>
            <a:r>
              <a:rPr sz="1900">
                <a:solidFill>
                  <a:srgbClr val="222222"/>
                </a:solidFill>
              </a:rPr>
              <a:t>•  Contradiction to resolve: cool room, high CO2: comfort is not health</a:t>
            </a:r>
          </a:p>
          <a:p>
            <a:pPr>
              <a:spcAft>
                <a:spcPts val="1000"/>
              </a:spcAft>
            </a:pPr>
            <a:r>
              <a:rPr sz="1900">
                <a:solidFill>
                  <a:srgbClr val="222222"/>
                </a:solidFill>
              </a:rPr>
              <a:t>•  Decision: a deployable ventilation and setback rule via deploy_rule</a:t>
            </a:r>
          </a:p>
          <a:p>
            <a:pPr>
              <a:spcAft>
                <a:spcPts val="1000"/>
              </a:spcAft>
            </a:pPr>
            <a:r>
              <a:rPr sz="1900">
                <a:solidFill>
                  <a:srgbClr val="222222"/>
                </a:solidFill>
              </a:rPr>
              <a:t>•  Agent orchestration: capture_experiment, aligned queries, human-approved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