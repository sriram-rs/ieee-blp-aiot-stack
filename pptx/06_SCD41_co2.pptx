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change of perspective this sensor brings. The old way: think of a classroom just after lunch. Everyone feels drowsy, someone finally says "it is stuffy in here", and a window gets opened an hour too late. A person glanced at the room, maybe even at a CO2 display, and judged it by feel. The new way: an AI senses the air itself, continuously, and understands what the air says about people. Every one of us breathes out carbon dioxide all the time, whether we move or not. So a room full of silent students, completely invisible to a motion sensor, is unmistakable in the air. The air is like a guest book that writes itself: everyone who enters leaves a trace in it, without lifting a pen. In this course, you stop being the person who notices stuffiness after it arrives. You become the designer of an AI that reads the air all day and acts before anyone feels drowsy. To design that well, you first need to know what the AI must understand about this particular sensor.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AI is only as good as what it knows about its own senses, so what must it know about this one? Three honest facts. First, this sensor answers slowly. When people walk in, the CO2 level takes two to five minutes to rise; when they leave, it takes even longer to fall. That is not a defect. Think of an oven thermometer: it lags behind the flame, but it never lies about the heat. Second, the numbers wobble a little. A reading of 650 and a reading of 680 can be the same air; the AI should not treat every small change as an event. Third, some readings are warnings in disguise. A value stuck at exactly 400 for hours usually means the sensor never started properly, not that the air is perfectly fresh. All three facts are written on the sensor's ID card, the small file the AI reads before it trusts a single number. Give an AI the number alone and it will overreact or misread. Give it the habits of the sensor, and it knows what to trust and when to simply wait.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deck's pattern is called Evidence With Latency. In one line: some witnesses answer slowly, but truthfully. A motion sensor shouts the moment someone walks in, then goes silent when everyone sits still. The air says nothing for a few minutes, then tells the truth: CO2 climbing means people are here, falling means they have left. An AI built badly reads one instant, sees a modest number, and declares the room empty while the level is still rising. An AI built well watches the trend, not the moment. So the design is simple, and worth remembering for life: let the fast signals suggest, and let the slow signal confirm. The AI proposes that people have arrived from motion, then waits for the air to agree before acting on anything expensive, like ventilation. It is the difference between judging dinner by a glance through the oven glass and waiting for the thermometer to speak. You design that patience into the system once; the AI then does the waiting and the watching forever. Now let us meet the instrument that makes patience worthwhile.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SCD41 measures carbon dioxide, and it measures it directly. That word "directly" is the whole story of this slide. Inside the sensor is a tiny optical cell. An infrared emitter pulses light at a wavelength of 4.26 micrometres, which happens to be a wavelength CO2 molecules absorb strongly. When a CO2 molecule absorbs that light, it heats slightly, and in a sealed cell that heating creates a minute pressure pulse. The SCD41 detects that pulse with a microphone. This is called the photoacoustic NDIR principle: non-dispersive infrared, read acoustically. More CO2 molecules in the cell, stronger pulse, higher reading, in parts per million. Compare this with the BME688 you have already met. The BME688 reports an "equivalent CO2," which it infers from volatile organic compounds on the assumption that people emit both together. That inference is often useful and sometimes wrong. The SCD41 does not infer; it counts the actual gas. For calibration, remember one number: outdoor air everywhere on Earth is currently around 420 parts per million, a number that was 280 before the industrial era and rises every year. Walk the sensor outside and it should read close to 420. That single check tells you it is working.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is this sensor's day job? Occupancy, done honestly. Every person at rest exhales roughly 200 millilitres of CO2 per minute, and cannot stop. A motion sensor loses a still person after thirty seconds; a camera raises privacy objections; but CO2 accumulates whenever lungs are present, whether the occupants are sleeping, reading, or sitting an exam. A 60 square metre classroom with 30 students climbs to between 1,100 and 1,400 parts per million within 20 to 30 minutes, and falls back toward 450 within 10 to 15 minutes of emptying. Those dynamics are also the sensor's second job: measuring ventilation itself. Clear a room and time how fast CO2 decays, and you have measured the air changes per hour, the number every ventilation standard is written around. The third job is health. During the COVID-19 pandemic, CO2 became the accepted proxy for the fraction of air in your lungs that someone else exhaled first, which is exactly the path aerosols travel. And beyond buildings the applications multiply: greenhouses enrich CO2 to 800-1,200 ppm because plants grow faster, breweries track fermentation by its CO2 output, cold stores watch produce respiration, and confined-space workers check the atmosphere before entry. One gas, many stories, all read from the same register.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numbers that matter. The SCD41 reads from 400 to 5,000 parts per million, which spans everything from fresh outdoor air to a badly ventilated cellar; it is not a safety instrument for industrial CO2 hazards above that range. Accuracy is plus or minus 40 ppm plus 5% of the reading, so at a classroom level of 1,000 ppm expect the true value within about 90 ppm; ample for every decision this course makes, since the thresholds we care about are hundreds of ppm apart. The raw device is a small surface-mount module about ten millimetres square, capped with a sintered filter that lets gas diffuse in while keeping dust out. That cap must stay unobstructed in our packaging: a sensor that cannot breathe measures its own enclosure. It speaks I2C at address 0x62, and conveniently measures temperature and humidity internally because the physics needs them for compensation. It reports a fresh reading roughly every five seconds. On SIM2 it shares the I2C bus with the BME688 and the VEML7700; each sensor advertises under its own type identifier, so the gateway resolves each card separately. Final packaged dimensions and the keyed connector are placeholders pending the production enclosure. Mount it at breathing height, away from windows, doors, and anyone closer than about half a metre.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climate case. Buildings take roughly a third of the world's energy, and the largest slice goes to heating, cooling, and ventilating air. The waste is structural: ventilation systems are sized for a full room and usually run as if the room were always full, while audits show typical rooms are occupied less than 40% of their scheduled hours. Demand-controlled ventilation, written into ASHRAE Standard 62.1, fixes this by ventilating in proportion to the people actually present, and CO2 is the signal that makes it possible, cutting 60 to 70% of the over-ventilation waste. It is widely regarded as the highest-return HVAC intervention available in commercial buildings. The physics is one differential equation: the rate of change of concentration equals the generation by N occupants divided by room volume, minus the ventilation rate carrying the excess away. Every term is measurable with this kit, so students can invert the equation and estimate how many people are in a room from gas alone. And there is a second, quieter lesson. Every indoor measurement rides on the outdoor baseline of about 420 ppm, up from 280 before industrialisation, climbing roughly 2 ppm per year. The same sensor that optimises your classroom also lets you touch, directly, the number that defines the climate era. High confidence on the standards and equation; the occupancy percentage is a typical audit figure, moderate confidence.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sensor in the kit gains more from friends than the SCD41, because its weakness is timing. CO2 takes 2 to 5 minutes to register arrivals and 5 to 15 to register departures. PIR reacts instantly but goes blind to stillness; the sound level sensor reacts instantly but a sleeping room and an empty room are both quiet. Stack them and the blind spots cancel: PIR says something moved, SPL says activity continues, CO2 says how many lungs, sustained. An agent given all three through the MCP tools can run a state machine no single sensor supports, distinguishing an empty room with the fan running from thirty silent students writing an exam. The reed switch adds the confound-killer: if a window opens, CO2 falls without anyone leaving, and every occupancy inference built on gas alone quietly breaks. A window-state bit lets the agent mark those intervals as invalid for headcount, which is precisely the validation habit this course teaches. The DS18B20 supplies the comfort axis, so "occupied and overheating" becomes a detectable state worth acting on. In practice a student asks the agent to capture_experiment across all five streams for a teaching day, then query the aligned series and defend, with evidence, what the room was doing at 2 pm.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capstone asks one compound question: is this room healthy to occupy, and is the air conditioning earning the energy it burns? You will instrument a real room five ways: the SCD41 for occupancy and air quality, PIR for motion, the DS18B20 for temperature, the SCT-013 clamp on the HVAC supply for measured power, and reed switches on the door and a window. Week one is the baseline: the HVAC runs its existing schedule while you log everything. Week two, you and your agent design a better policy, expressed as a deterministic edge rule and deployed through deploy_rule with instructor approval, so it keeps working when the cloud does not. The contradiction you must resolve is written into the sensors themselves: there will be hours when CO2 says people are present and PIR says nobody is, and hours when CO2 crashes though nobody left. Your agent, holding the reed-switch record, has to adjudicate: still occupants, or an open window flushing the room? Getting that call wrong flips your energy conclusion. The deliverable is a decision backed by two numbers: measured kilowatt-hours in each week, and the fraction of occupied time the room stayed under 1,000 ppm. Either recommend the new policy with its measured saving, or defend the existing one, with the evidence attached and the agent's reasoning trace as an appendix.</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286000"/>
            <a:ext cx="10698480" cy="1463040"/>
          </a:xfrm>
          <a:prstGeom prst="rect">
            <a:avLst/>
          </a:prstGeom>
          <a:noFill/>
        </p:spPr>
        <p:txBody>
          <a:bodyPr wrap="square">
            <a:spAutoFit/>
          </a:bodyPr>
          <a:lstStyle/>
          <a:p>
            <a:r>
              <a:rPr sz="3600" b="1">
                <a:solidFill>
                  <a:srgbClr val="1B5E8A"/>
                </a:solidFill>
              </a:rPr>
              <a:t>Sensor 06: SCD41 - Carbon Dioxide (SIM2, I2C)</a:t>
            </a:r>
          </a:p>
        </p:txBody>
      </p:sp>
      <p:sp>
        <p:nvSpPr>
          <p:cNvPr id="3" name="TextBox 2"/>
          <p:cNvSpPr txBox="1"/>
          <p:nvPr/>
        </p:nvSpPr>
        <p:spPr>
          <a:xfrm>
            <a:off x="731520" y="3840480"/>
            <a:ext cx="10698480" cy="914400"/>
          </a:xfrm>
          <a:prstGeom prst="rect">
            <a:avLst/>
          </a:prstGeom>
          <a:noFill/>
        </p:spPr>
        <p:txBody>
          <a:bodyPr wrap="square">
            <a:spAutoFit/>
          </a:bodyPr>
          <a:lstStyle/>
          <a:p>
            <a:r>
              <a:rPr sz="1800">
                <a:solidFill>
                  <a:srgbClr val="222222"/>
                </a:solidFill>
              </a:rPr>
              <a:t>AIoT and Climate Change (AI-first edition). Speaker notes carry the full narration.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06.1: AI-First: The Old Way and the New Way</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 old way: a person checks a number and judges the room</a:t>
            </a:r>
          </a:p>
          <a:p>
            <a:pPr>
              <a:spcAft>
                <a:spcPts val="1000"/>
              </a:spcAft>
            </a:pPr>
            <a:r>
              <a:rPr sz="1900">
                <a:solidFill>
                  <a:srgbClr val="222222"/>
                </a:solidFill>
              </a:rPr>
              <a:t>•  By the time anyone checks, the stuffy afternoon has already happened</a:t>
            </a:r>
          </a:p>
          <a:p>
            <a:pPr>
              <a:spcAft>
                <a:spcPts val="1000"/>
              </a:spcAft>
            </a:pPr>
            <a:r>
              <a:rPr sz="1900">
                <a:solidFill>
                  <a:srgbClr val="222222"/>
                </a:solidFill>
              </a:rPr>
              <a:t>•  The new way: an AI senses the air for you, continuously</a:t>
            </a:r>
          </a:p>
          <a:p>
            <a:pPr>
              <a:spcAft>
                <a:spcPts val="1000"/>
              </a:spcAft>
            </a:pPr>
            <a:r>
              <a:rPr sz="1900">
                <a:solidFill>
                  <a:srgbClr val="222222"/>
                </a:solidFill>
              </a:rPr>
              <a:t>•  Everyone breathes out CO2, even sitting perfectly still</a:t>
            </a:r>
          </a:p>
          <a:p>
            <a:pPr>
              <a:spcAft>
                <a:spcPts val="1000"/>
              </a:spcAft>
            </a:pPr>
            <a:r>
              <a:rPr sz="1900">
                <a:solidFill>
                  <a:srgbClr val="222222"/>
                </a:solidFill>
              </a:rPr>
              <a:t>•  So the air quietly reveals people that motion sensors miss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06.2: AI-First: What the AI Must Know About This Sensor</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An AI is only as good as what it knows about its senses</a:t>
            </a:r>
          </a:p>
          <a:p>
            <a:pPr>
              <a:spcAft>
                <a:spcPts val="1000"/>
              </a:spcAft>
            </a:pPr>
            <a:r>
              <a:rPr sz="1900">
                <a:solidFill>
                  <a:srgbClr val="222222"/>
                </a:solidFill>
              </a:rPr>
              <a:t>•  This sensor answers slowly: the air takes minutes to change</a:t>
            </a:r>
          </a:p>
          <a:p>
            <a:pPr>
              <a:spcAft>
                <a:spcPts val="1000"/>
              </a:spcAft>
            </a:pPr>
            <a:r>
              <a:rPr sz="1900">
                <a:solidFill>
                  <a:srgbClr val="222222"/>
                </a:solidFill>
              </a:rPr>
              <a:t>•  Its numbers wobble a little; 650 and 680 can mean the same</a:t>
            </a:r>
          </a:p>
          <a:p>
            <a:pPr>
              <a:spcAft>
                <a:spcPts val="1000"/>
              </a:spcAft>
            </a:pPr>
            <a:r>
              <a:rPr sz="1900">
                <a:solidFill>
                  <a:srgbClr val="222222"/>
                </a:solidFill>
              </a:rPr>
              <a:t>•  A reading stuck at exactly 400 means a sensor problem, not fresh air</a:t>
            </a:r>
          </a:p>
          <a:p>
            <a:pPr>
              <a:spcAft>
                <a:spcPts val="1000"/>
              </a:spcAft>
            </a:pPr>
            <a:r>
              <a:rPr sz="1900">
                <a:solidFill>
                  <a:srgbClr val="222222"/>
                </a:solidFill>
              </a:rPr>
              <a:t>•  All of this is written on the sensor's ID card the AI reads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06.3: The Agentic Pattern: Evidence With Latency</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 pattern in one line: some witnesses answer slowly but truthfully</a:t>
            </a:r>
          </a:p>
          <a:p>
            <a:pPr>
              <a:spcAft>
                <a:spcPts val="1000"/>
              </a:spcAft>
            </a:pPr>
            <a:r>
              <a:rPr sz="1900">
                <a:solidFill>
                  <a:srgbClr val="222222"/>
                </a:solidFill>
              </a:rPr>
              <a:t>•  Motion sensors answer instantly; the air answers in minutes</a:t>
            </a:r>
          </a:p>
          <a:p>
            <a:pPr>
              <a:spcAft>
                <a:spcPts val="1000"/>
              </a:spcAft>
            </a:pPr>
            <a:r>
              <a:rPr sz="1900">
                <a:solidFill>
                  <a:srgbClr val="222222"/>
                </a:solidFill>
              </a:rPr>
              <a:t>•  A wise AI lets fast signals suggest and slow signals confirm</a:t>
            </a:r>
          </a:p>
          <a:p>
            <a:pPr>
              <a:spcAft>
                <a:spcPts val="1000"/>
              </a:spcAft>
            </a:pPr>
            <a:r>
              <a:rPr sz="1900">
                <a:solidFill>
                  <a:srgbClr val="222222"/>
                </a:solidFill>
              </a:rPr>
              <a:t>•  Wrong: judging from one instant; right: watching the trend</a:t>
            </a:r>
          </a:p>
          <a:p>
            <a:pPr>
              <a:spcAft>
                <a:spcPts val="1000"/>
              </a:spcAft>
            </a:pPr>
            <a:r>
              <a:rPr sz="1900">
                <a:solidFill>
                  <a:srgbClr val="222222"/>
                </a:solidFill>
              </a:rPr>
              <a:t>•  You design the patience; the AI does the waiting and watching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06.4: What It Is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Sensirion SCD41: a true CO2 sensor, measuring the gas itself in parts per million</a:t>
            </a:r>
          </a:p>
          <a:p>
            <a:pPr>
              <a:spcAft>
                <a:spcPts val="1000"/>
              </a:spcAft>
            </a:pPr>
            <a:r>
              <a:rPr sz="1900">
                <a:solidFill>
                  <a:srgbClr val="222222"/>
                </a:solidFill>
              </a:rPr>
              <a:t>•  Principle: photoacoustic NDIR, CO2 molecules absorb infrared light at 4.26 µm</a:t>
            </a:r>
          </a:p>
          <a:p>
            <a:pPr>
              <a:spcAft>
                <a:spcPts val="1000"/>
              </a:spcAft>
            </a:pPr>
            <a:r>
              <a:rPr sz="1900">
                <a:solidFill>
                  <a:srgbClr val="222222"/>
                </a:solidFill>
              </a:rPr>
              <a:t>•  Absorbed energy becomes a tiny pressure pulse, detected by a microphone inside the cell</a:t>
            </a:r>
          </a:p>
          <a:p>
            <a:pPr>
              <a:spcAft>
                <a:spcPts val="1000"/>
              </a:spcAft>
            </a:pPr>
            <a:r>
              <a:rPr sz="1900">
                <a:solidFill>
                  <a:srgbClr val="222222"/>
                </a:solidFill>
              </a:rPr>
              <a:t>•  More CO2 in the cell means a stronger pulse: a direct physical measurement</a:t>
            </a:r>
          </a:p>
          <a:p>
            <a:pPr>
              <a:spcAft>
                <a:spcPts val="1000"/>
              </a:spcAft>
            </a:pPr>
            <a:r>
              <a:rPr sz="1900">
                <a:solidFill>
                  <a:srgbClr val="222222"/>
                </a:solidFill>
              </a:rPr>
              <a:t>•  Different from the BME688, which estimates an equivalent CO2 from unrelated gases</a:t>
            </a:r>
          </a:p>
          <a:p>
            <a:pPr>
              <a:spcAft>
                <a:spcPts val="1000"/>
              </a:spcAft>
            </a:pPr>
            <a:r>
              <a:rPr sz="1900">
                <a:solidFill>
                  <a:srgbClr val="222222"/>
                </a:solidFill>
              </a:rPr>
              <a:t>•  Outdoor air today is approximately 420 ppm; a full classroom exceeds 1,000 ppm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06.5: What It Does in Practice</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 most reliable non-contact signal for human presence: everyone exhales CO2 continuously</a:t>
            </a:r>
          </a:p>
          <a:p>
            <a:pPr>
              <a:spcAft>
                <a:spcPts val="1000"/>
              </a:spcAft>
            </a:pPr>
            <a:r>
              <a:rPr sz="1900">
                <a:solidFill>
                  <a:srgbClr val="222222"/>
                </a:solidFill>
              </a:rPr>
              <a:t>•  A stationary, silent person is invisible to PIR but never invisible to CO2</a:t>
            </a:r>
          </a:p>
          <a:p>
            <a:pPr>
              <a:spcAft>
                <a:spcPts val="1000"/>
              </a:spcAft>
            </a:pPr>
            <a:r>
              <a:rPr sz="1900">
                <a:solidFill>
                  <a:srgbClr val="222222"/>
                </a:solidFill>
              </a:rPr>
              <a:t>•  Ventilation assessment: CO2 decay rate after a room empties measures air changes per hour</a:t>
            </a:r>
          </a:p>
          <a:p>
            <a:pPr>
              <a:spcAft>
                <a:spcPts val="1000"/>
              </a:spcAft>
            </a:pPr>
            <a:r>
              <a:rPr sz="1900">
                <a:solidFill>
                  <a:srgbClr val="222222"/>
                </a:solidFill>
              </a:rPr>
              <a:t>•  Health proxy: high CO2 means high rebreathed-air fraction, the aerosol transmission link</a:t>
            </a:r>
          </a:p>
          <a:p>
            <a:pPr>
              <a:spcAft>
                <a:spcPts val="1000"/>
              </a:spcAft>
            </a:pPr>
            <a:r>
              <a:rPr sz="1900">
                <a:solidFill>
                  <a:srgbClr val="222222"/>
                </a:solidFill>
              </a:rPr>
              <a:t>•  Beyond buildings: greenhouses, fermentation, produce storage, confined-space safety</a:t>
            </a:r>
          </a:p>
          <a:p>
            <a:pPr>
              <a:spcAft>
                <a:spcPts val="1000"/>
              </a:spcAft>
            </a:pPr>
            <a:r>
              <a:rPr sz="1900">
                <a:solidFill>
                  <a:srgbClr val="222222"/>
                </a:solidFill>
              </a:rPr>
              <a:t>•  Typical dynamics: rise detectable in 2-5 minutes, decay over 5-15 minutes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06.6: Technical Card</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Measurand: CO2 concentration; also reports temperature and relative humidity for compensation</a:t>
            </a:r>
          </a:p>
          <a:p>
            <a:pPr>
              <a:spcAft>
                <a:spcPts val="1000"/>
              </a:spcAft>
            </a:pPr>
            <a:r>
              <a:rPr sz="1900">
                <a:solidFill>
                  <a:srgbClr val="222222"/>
                </a:solidFill>
              </a:rPr>
              <a:t>•  Range: 400-5,000 ppm; accuracy ±(40 ppm + 5% of reading)</a:t>
            </a:r>
          </a:p>
          <a:p>
            <a:pPr>
              <a:spcAft>
                <a:spcPts val="1000"/>
              </a:spcAft>
            </a:pPr>
            <a:r>
              <a:rPr sz="1900">
                <a:solidFill>
                  <a:srgbClr val="222222"/>
                </a:solidFill>
              </a:rPr>
              <a:t>•  Original package: 10.1 × 10.1 × 6.5 mm SMD module, reflow-soldered, with sintered filter cap</a:t>
            </a:r>
          </a:p>
          <a:p>
            <a:pPr>
              <a:spcAft>
                <a:spcPts val="1000"/>
              </a:spcAft>
            </a:pPr>
            <a:r>
              <a:rPr sz="1900">
                <a:solidFill>
                  <a:srgbClr val="222222"/>
                </a:solidFill>
              </a:rPr>
              <a:t>•  Output: digital, I2C bus, address 0x62; measurement interval approximately 5 s (low-power modes available)</a:t>
            </a:r>
          </a:p>
          <a:p>
            <a:pPr>
              <a:spcAft>
                <a:spcPts val="1000"/>
              </a:spcAft>
            </a:pPr>
            <a:r>
              <a:rPr sz="1900">
                <a:solidFill>
                  <a:srgbClr val="222222"/>
                </a:solidFill>
              </a:rPr>
              <a:t>•  Supply: 3.3 V from the SIM; note peak current draw during the emitter pulse</a:t>
            </a:r>
          </a:p>
          <a:p>
            <a:pPr>
              <a:spcAft>
                <a:spcPts val="1000"/>
              </a:spcAft>
            </a:pPr>
            <a:r>
              <a:rPr sz="1900">
                <a:solidFill>
                  <a:srgbClr val="222222"/>
                </a:solidFill>
              </a:rPr>
              <a:t>•  Packaged sensor dimensions: [PLACEHOLDER]; connector: [PLACEHOLDER: keyed harness part number]</a:t>
            </a:r>
          </a:p>
          <a:p>
            <a:pPr>
              <a:spcAft>
                <a:spcPts val="1000"/>
              </a:spcAft>
            </a:pPr>
            <a:r>
              <a:rPr sz="1900">
                <a:solidFill>
                  <a:srgbClr val="222222"/>
                </a:solidFill>
              </a:rPr>
              <a:t>•  SIM assignment: SIM2 (I2C), sharing the bus with BME688 and VEML7700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06.7: Climate Change Applications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Buildings consume roughly a third of global energy; ventilation and conditioning are the core of it</a:t>
            </a:r>
          </a:p>
          <a:p>
            <a:pPr>
              <a:spcAft>
                <a:spcPts val="1000"/>
              </a:spcAft>
            </a:pPr>
            <a:r>
              <a:rPr sz="1900">
                <a:solidFill>
                  <a:srgbClr val="222222"/>
                </a:solidFill>
              </a:rPr>
              <a:t>•  Demand-controlled ventilation (ASHRAE 62.1): ventilate for measured occupancy, not the schedule</a:t>
            </a:r>
          </a:p>
          <a:p>
            <a:pPr>
              <a:spcAft>
                <a:spcPts val="1000"/>
              </a:spcAft>
            </a:pPr>
            <a:r>
              <a:rPr sz="1900">
                <a:solidFill>
                  <a:srgbClr val="222222"/>
                </a:solidFill>
              </a:rPr>
              <a:t>•  Rooms are occupied under 40% of scheduled hours; fixed ventilation wastes 60-70% of that energy</a:t>
            </a:r>
          </a:p>
          <a:p>
            <a:pPr>
              <a:spcAft>
                <a:spcPts val="1000"/>
              </a:spcAft>
            </a:pPr>
            <a:r>
              <a:rPr sz="1900">
                <a:solidFill>
                  <a:srgbClr val="222222"/>
                </a:solidFill>
              </a:rPr>
              <a:t>•  The mass-balance equation dC/dt = NG/V − (Q/V)(C − C_out) turns ppm into occupant count</a:t>
            </a:r>
          </a:p>
          <a:p>
            <a:pPr>
              <a:spcAft>
                <a:spcPts val="1000"/>
              </a:spcAft>
            </a:pPr>
            <a:r>
              <a:rPr sz="1900">
                <a:solidFill>
                  <a:srgbClr val="222222"/>
                </a:solidFill>
              </a:rPr>
              <a:t>•  The 420 ppm teaching moment: indoor readings sit on top of a rising planetary baseline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06.8: Fusion Partners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PIR: instant motion detection; CO2 confirms sustained presence and adds headcount</a:t>
            </a:r>
          </a:p>
          <a:p>
            <a:pPr>
              <a:spcAft>
                <a:spcPts val="1000"/>
              </a:spcAft>
            </a:pPr>
            <a:r>
              <a:rPr sz="1900">
                <a:solidFill>
                  <a:srgbClr val="222222"/>
                </a:solidFill>
              </a:rPr>
              <a:t>•  SPL: catches the silent exam hall, present but quiet, that motion misses instantly</a:t>
            </a:r>
          </a:p>
          <a:p>
            <a:pPr>
              <a:spcAft>
                <a:spcPts val="1000"/>
              </a:spcAft>
            </a:pPr>
            <a:r>
              <a:rPr sz="1900">
                <a:solidFill>
                  <a:srgbClr val="222222"/>
                </a:solidFill>
              </a:rPr>
              <a:t>•  Reed switch: an open window explains a falling CO2 that occupancy logic would misread</a:t>
            </a:r>
          </a:p>
          <a:p>
            <a:pPr>
              <a:spcAft>
                <a:spcPts val="1000"/>
              </a:spcAft>
            </a:pPr>
            <a:r>
              <a:rPr sz="1900">
                <a:solidFill>
                  <a:srgbClr val="222222"/>
                </a:solidFill>
              </a:rPr>
              <a:t>•  DS18B20: thermal comfort context; together they define "occupied and uncomfortable"</a:t>
            </a:r>
          </a:p>
          <a:p>
            <a:pPr>
              <a:spcAft>
                <a:spcPts val="1000"/>
              </a:spcAft>
            </a:pPr>
            <a:r>
              <a:rPr sz="1900">
                <a:solidFill>
                  <a:srgbClr val="222222"/>
                </a:solidFill>
              </a:rPr>
              <a:t>•  Agent inference: fuse fast signals with slow gas via `capture_experiment` and `query_timeseries`</a:t>
            </a:r>
          </a:p>
          <a:p>
            <a:pPr>
              <a:spcAft>
                <a:spcPts val="1000"/>
              </a:spcAft>
            </a:pPr>
            <a:r>
              <a:rPr sz="1900">
                <a:solidFill>
                  <a:srgbClr val="222222"/>
                </a:solidFill>
              </a:rPr>
              <a:t>•  Layered timing: PIR and SPL in milliseconds, CO2 in minutes, each covering the others' blind spots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06.9: Capstone C1: Is the Room Healthy, and Is the HVAC Earning Its Bill?</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Question: is this room healthy to occupy, and is the HVAC earning its energy bill?</a:t>
            </a:r>
          </a:p>
          <a:p>
            <a:pPr>
              <a:spcAft>
                <a:spcPts val="1000"/>
              </a:spcAft>
            </a:pPr>
            <a:r>
              <a:rPr sz="1900">
                <a:solidFill>
                  <a:srgbClr val="222222"/>
                </a:solidFill>
              </a:rPr>
              <a:t>•  Sensors: SCD41, PIR, DS18B20, SCT-013 on the HVAC circuit, reed switch on door and window</a:t>
            </a:r>
          </a:p>
          <a:p>
            <a:pPr>
              <a:spcAft>
                <a:spcPts val="1000"/>
              </a:spcAft>
            </a:pPr>
            <a:r>
              <a:rPr sz="1900">
                <a:solidFill>
                  <a:srgbClr val="222222"/>
                </a:solidFill>
              </a:rPr>
              <a:t>•  Baseline week on the fixed schedule, then a sensor-informed control week; compare measured kWh</a:t>
            </a:r>
          </a:p>
          <a:p>
            <a:pPr>
              <a:spcAft>
                <a:spcPts val="1000"/>
              </a:spcAft>
            </a:pPr>
            <a:r>
              <a:rPr sz="1900">
                <a:solidFill>
                  <a:srgbClr val="222222"/>
                </a:solidFill>
              </a:rPr>
              <a:t>•  The contradiction: CO2 says occupied while PIR says empty, or CO2 falls with nobody leaving</a:t>
            </a:r>
          </a:p>
          <a:p>
            <a:pPr>
              <a:spcAft>
                <a:spcPts val="1000"/>
              </a:spcAft>
            </a:pPr>
            <a:r>
              <a:rPr sz="1900">
                <a:solidFill>
                  <a:srgbClr val="222222"/>
                </a:solidFill>
              </a:rPr>
              <a:t>•  Decision: a ventilation policy with measured savings, or a justified defence of the status quo</a:t>
            </a:r>
          </a:p>
          <a:p>
            <a:pPr>
              <a:spcAft>
                <a:spcPts val="1000"/>
              </a:spcAft>
            </a:pPr>
            <a:r>
              <a:rPr sz="1900">
                <a:solidFill>
                  <a:srgbClr val="222222"/>
                </a:solidFill>
              </a:rPr>
              <a:t>•  Edge rule deployed via `deploy_rule`; agents analyse and report, humans approve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